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2" r:id="rId29"/>
    <p:sldId id="293" r:id="rId30"/>
    <p:sldId id="294" r:id="rId31"/>
    <p:sldId id="285" r:id="rId32"/>
    <p:sldId id="286" r:id="rId33"/>
    <p:sldId id="287" r:id="rId34"/>
    <p:sldId id="288" r:id="rId35"/>
    <p:sldId id="289" r:id="rId36"/>
    <p:sldId id="290" r:id="rId37"/>
    <p:sldId id="291"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7797" autoAdjust="0"/>
  </p:normalViewPr>
  <p:slideViewPr>
    <p:cSldViewPr snapToGrid="0" snapToObjects="1">
      <p:cViewPr varScale="1">
        <p:scale>
          <a:sx n="98" d="100"/>
          <a:sy n="98" d="100"/>
        </p:scale>
        <p:origin x="253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k Löfgren" userId="c557eeb14c76b82f" providerId="LiveId" clId="{25221996-E55D-4B43-B536-017725F8700B}"/>
    <pc:docChg chg="undo custSel modSld">
      <pc:chgData name="Patrik Löfgren" userId="c557eeb14c76b82f" providerId="LiveId" clId="{25221996-E55D-4B43-B536-017725F8700B}" dt="2026-09-21T06:16:08.522" v="150" actId="20577"/>
      <pc:docMkLst>
        <pc:docMk/>
      </pc:docMkLst>
      <pc:sldChg chg="delSp modSp mod">
        <pc:chgData name="Patrik Löfgren" userId="c557eeb14c76b82f" providerId="LiveId" clId="{25221996-E55D-4B43-B536-017725F8700B}" dt="2026-09-21T06:16:08.522" v="150" actId="20577"/>
        <pc:sldMkLst>
          <pc:docMk/>
          <pc:sldMk cId="0" sldId="258"/>
        </pc:sldMkLst>
        <pc:spChg chg="del">
          <ac:chgData name="Patrik Löfgren" userId="c557eeb14c76b82f" providerId="LiveId" clId="{25221996-E55D-4B43-B536-017725F8700B}" dt="2026-09-21T06:15:48.740" v="149" actId="478"/>
          <ac:spMkLst>
            <pc:docMk/>
            <pc:sldMk cId="0" sldId="258"/>
            <ac:spMk id="27" creationId="{00000000-0000-0000-0000-000000000000}"/>
          </ac:spMkLst>
        </pc:spChg>
        <pc:spChg chg="del">
          <ac:chgData name="Patrik Löfgren" userId="c557eeb14c76b82f" providerId="LiveId" clId="{25221996-E55D-4B43-B536-017725F8700B}" dt="2026-09-21T06:15:42.621" v="144" actId="478"/>
          <ac:spMkLst>
            <pc:docMk/>
            <pc:sldMk cId="0" sldId="258"/>
            <ac:spMk id="30" creationId="{00000000-0000-0000-0000-000000000000}"/>
          </ac:spMkLst>
        </pc:spChg>
        <pc:spChg chg="del">
          <ac:chgData name="Patrik Löfgren" userId="c557eeb14c76b82f" providerId="LiveId" clId="{25221996-E55D-4B43-B536-017725F8700B}" dt="2026-09-21T06:15:43.747" v="145" actId="478"/>
          <ac:spMkLst>
            <pc:docMk/>
            <pc:sldMk cId="0" sldId="258"/>
            <ac:spMk id="33" creationId="{00000000-0000-0000-0000-000000000000}"/>
          </ac:spMkLst>
        </pc:spChg>
        <pc:spChg chg="del">
          <ac:chgData name="Patrik Löfgren" userId="c557eeb14c76b82f" providerId="LiveId" clId="{25221996-E55D-4B43-B536-017725F8700B}" dt="2026-09-21T06:15:44.586" v="146" actId="478"/>
          <ac:spMkLst>
            <pc:docMk/>
            <pc:sldMk cId="0" sldId="258"/>
            <ac:spMk id="39" creationId="{00000000-0000-0000-0000-000000000000}"/>
          </ac:spMkLst>
        </pc:spChg>
        <pc:spChg chg="del">
          <ac:chgData name="Patrik Löfgren" userId="c557eeb14c76b82f" providerId="LiveId" clId="{25221996-E55D-4B43-B536-017725F8700B}" dt="2026-09-21T06:15:45.555" v="147" actId="478"/>
          <ac:spMkLst>
            <pc:docMk/>
            <pc:sldMk cId="0" sldId="258"/>
            <ac:spMk id="42" creationId="{00000000-0000-0000-0000-000000000000}"/>
          </ac:spMkLst>
        </pc:spChg>
        <pc:spChg chg="del">
          <ac:chgData name="Patrik Löfgren" userId="c557eeb14c76b82f" providerId="LiveId" clId="{25221996-E55D-4B43-B536-017725F8700B}" dt="2026-09-21T06:15:47.027" v="148" actId="478"/>
          <ac:spMkLst>
            <pc:docMk/>
            <pc:sldMk cId="0" sldId="258"/>
            <ac:spMk id="45" creationId="{00000000-0000-0000-0000-000000000000}"/>
          </ac:spMkLst>
        </pc:spChg>
        <pc:spChg chg="mod">
          <ac:chgData name="Patrik Löfgren" userId="c557eeb14c76b82f" providerId="LiveId" clId="{25221996-E55D-4B43-B536-017725F8700B}" dt="2026-09-21T06:16:08.522" v="150" actId="20577"/>
          <ac:spMkLst>
            <pc:docMk/>
            <pc:sldMk cId="0" sldId="258"/>
            <ac:spMk id="46" creationId="{00000000-0000-0000-0000-000000000000}"/>
          </ac:spMkLst>
        </pc:spChg>
      </pc:sldChg>
      <pc:sldChg chg="modAnim">
        <pc:chgData name="Patrik Löfgren" userId="c557eeb14c76b82f" providerId="LiveId" clId="{25221996-E55D-4B43-B536-017725F8700B}" dt="2026-09-18T09:12:22.516" v="7"/>
        <pc:sldMkLst>
          <pc:docMk/>
          <pc:sldMk cId="0" sldId="263"/>
        </pc:sldMkLst>
      </pc:sldChg>
      <pc:sldChg chg="addSp delSp modSp mod">
        <pc:chgData name="Patrik Löfgren" userId="c557eeb14c76b82f" providerId="LiveId" clId="{25221996-E55D-4B43-B536-017725F8700B}" dt="2026-09-18T08:53:02.854" v="4" actId="478"/>
        <pc:sldMkLst>
          <pc:docMk/>
          <pc:sldMk cId="0" sldId="266"/>
        </pc:sldMkLst>
      </pc:sldChg>
      <pc:sldChg chg="modSp mod">
        <pc:chgData name="Patrik Löfgren" userId="c557eeb14c76b82f" providerId="LiveId" clId="{25221996-E55D-4B43-B536-017725F8700B}" dt="2026-09-21T05:44:59.557" v="28" actId="20577"/>
        <pc:sldMkLst>
          <pc:docMk/>
          <pc:sldMk cId="0" sldId="274"/>
        </pc:sldMkLst>
        <pc:spChg chg="mod">
          <ac:chgData name="Patrik Löfgren" userId="c557eeb14c76b82f" providerId="LiveId" clId="{25221996-E55D-4B43-B536-017725F8700B}" dt="2026-09-21T05:44:59.557" v="28" actId="20577"/>
          <ac:spMkLst>
            <pc:docMk/>
            <pc:sldMk cId="0" sldId="274"/>
            <ac:spMk id="3" creationId="{00000000-0000-0000-0000-000000000000}"/>
          </ac:spMkLst>
        </pc:spChg>
      </pc:sldChg>
      <pc:sldChg chg="modSp mod">
        <pc:chgData name="Patrik Löfgren" userId="c557eeb14c76b82f" providerId="LiveId" clId="{25221996-E55D-4B43-B536-017725F8700B}" dt="2026-09-21T05:50:02.321" v="143" actId="20577"/>
        <pc:sldMkLst>
          <pc:docMk/>
          <pc:sldMk cId="0" sldId="281"/>
        </pc:sldMkLst>
        <pc:spChg chg="mod">
          <ac:chgData name="Patrik Löfgren" userId="c557eeb14c76b82f" providerId="LiveId" clId="{25221996-E55D-4B43-B536-017725F8700B}" dt="2026-09-21T05:50:02.321" v="143" actId="20577"/>
          <ac:spMkLst>
            <pc:docMk/>
            <pc:sldMk cId="0" sldId="281"/>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9743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i.org/10.1186/s12889-021-10894-7"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doi.org/10.1539/joh.L8134" TargetMode="External"/><Relationship Id="rId4" Type="http://schemas.openxmlformats.org/officeDocument/2006/relationships/hyperlink" Target="https://doi.org/10.1016/j.socscimed.2006.05.002"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i.org/10.1016/S0191-3085(03)25005-X"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gu.se/sites/default/files/2020-09/Konfliktkunskapens%20ABC.pdf"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doi.org/10.1177/0146167208315158" TargetMode="Externa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doi.org/10.1037/apl0001315" TargetMode="External"/><Relationship Id="rId3" Type="http://schemas.openxmlformats.org/officeDocument/2006/relationships/hyperlink" Target="https://doi.org/10.1037/a0024200" TargetMode="External"/><Relationship Id="rId7" Type="http://schemas.openxmlformats.org/officeDocument/2006/relationships/hyperlink" Target="https://doi.org/10.1108/IJCMA-09-2024-0238"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doi.org/10.5465/amr.2013.0124" TargetMode="External"/><Relationship Id="rId5" Type="http://schemas.openxmlformats.org/officeDocument/2006/relationships/hyperlink" Target="https://www.gu.se/sites/default/files/2020-09/Konfliktkunskapens%20ABC.pdf" TargetMode="External"/><Relationship Id="rId4" Type="http://schemas.openxmlformats.org/officeDocument/2006/relationships/hyperlink" Target="https://doi.org/10.1037/a0024844"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gu.se/sites/default/files/2020-09/Konflikters%20eskalation.pdf"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u.se/sites/default/files/2020-09/Konflikters%20eskalation.pdf"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doi.org/10.1080/13594320143000834" TargetMode="External"/><Relationship Id="rId4" Type="http://schemas.openxmlformats.org/officeDocument/2006/relationships/hyperlink" Target="https://doi.org/10.3389/fpsyg.2023.1164990"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i.org/10.1111/jan.12903"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doi.org/10.1108/IJCMA-09-2024-0238" TargetMode="External"/><Relationship Id="rId4" Type="http://schemas.openxmlformats.org/officeDocument/2006/relationships/hyperlink" Target="https://www.gu.se/sites/default/files/2020-09/Konflikters%20eskalation.pdf"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i.org/10.1037/0021-9010.93.1.170"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doi.org/10.1016/j.hrmr.2017.06.002" TargetMode="External"/><Relationship Id="rId5" Type="http://schemas.openxmlformats.org/officeDocument/2006/relationships/hyperlink" Target="https://www.gu.se/sites/default/files/2020-09/Konfliktkunskapens%20ABC.pdf" TargetMode="External"/><Relationship Id="rId4" Type="http://schemas.openxmlformats.org/officeDocument/2006/relationships/hyperlink" Target="https://doi.org/10.1016/S0191-3085(03)25005-X" TargetMode="Externa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doi.org/10.1111/1748-8583.12200" TargetMode="External"/><Relationship Id="rId3" Type="http://schemas.openxmlformats.org/officeDocument/2006/relationships/hyperlink" Target="https://www.av.se/globalassets/filer/publikationer/foreskrifter/planering-och-organisering-av-arbetsmiljoarbete-grundlaggande-skyldigheter-for-dig-med-arbetsgivaransvar-afs2023-2.pdf" TargetMode="External"/><Relationship Id="rId7" Type="http://schemas.openxmlformats.org/officeDocument/2006/relationships/hyperlink" Target="https://doi.org/10.3389/fpsyg.2019.02017"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doi.org/10.1037/1076-8998.12.1.80" TargetMode="External"/><Relationship Id="rId5" Type="http://schemas.openxmlformats.org/officeDocument/2006/relationships/hyperlink" Target="https://doi.org/10.1007/s10869-021-09788-7" TargetMode="External"/><Relationship Id="rId4" Type="http://schemas.openxmlformats.org/officeDocument/2006/relationships/hyperlink" Target="https://doi.org/10.1080/13594320802510880"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gu.se/sites/default/files/2020-09/Sja%CC%88lvinsikt%20.pdf"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gu.se/sites/default/files/2020-09/Sja%CC%88lvinsikt%20.pdf"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i.org/10.1177/0956797612474938" TargetMode="External"/><Relationship Id="rId7" Type="http://schemas.openxmlformats.org/officeDocument/2006/relationships/hyperlink" Target="https://www.gu.se/sites/default/files/2020-09/Sja%CC%88lvinsikt%20.pdf"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doi.org/10.1177/0956797614535400" TargetMode="External"/><Relationship Id="rId5" Type="http://schemas.openxmlformats.org/officeDocument/2006/relationships/hyperlink" Target="https://doi.org/10.1037/cap0000032" TargetMode="External"/><Relationship Id="rId4" Type="http://schemas.openxmlformats.org/officeDocument/2006/relationships/hyperlink" Target="https://doi.org/10.1111/j.1467-9280.2008.02096.x" TargetMode="External"/></Relationships>
</file>

<file path=ppt/notesSlides/_rels/notesSlide21.xml.rels><?xml version="1.0" encoding="UTF-8" standalone="yes"?>
<Relationships xmlns="http://schemas.openxmlformats.org/package/2006/relationships"><Relationship Id="rId8" Type="http://schemas.openxmlformats.org/officeDocument/2006/relationships/hyperlink" Target="https://doi.org/10.7717/peerj.4831" TargetMode="External"/><Relationship Id="rId3" Type="http://schemas.openxmlformats.org/officeDocument/2006/relationships/hyperlink" Target="https://doi.org/10.1016/j.jesp.2012.02.017" TargetMode="External"/><Relationship Id="rId7" Type="http://schemas.openxmlformats.org/officeDocument/2006/relationships/hyperlink" Target="https://doi.org/10.1111/ncmr.12073"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doi.org/10.1007/s10869-023-09897-5" TargetMode="External"/><Relationship Id="rId5" Type="http://schemas.openxmlformats.org/officeDocument/2006/relationships/hyperlink" Target="https://nvc-global.net/wp-content/uploads/2019/02/Carme_Mampel_Juncadella.pdf" TargetMode="External"/><Relationship Id="rId4" Type="http://schemas.openxmlformats.org/officeDocument/2006/relationships/hyperlink" Target="https://doi.org/10.1177/0146167216675339" TargetMode="External"/><Relationship Id="rId9" Type="http://schemas.openxmlformats.org/officeDocument/2006/relationships/hyperlink" Target="https://doi.org/10.1016/j.obhdp.2020.03.011"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gu.se/sites/default/files/2026-08/Arbetsbladinstruktioner%20organisationsdiagnos.pdf"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i.org/10.1111/jan.12903"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s://doi.org/10.1037/1076-8998.12.1.80" TargetMode="External"/><Relationship Id="rId5" Type="http://schemas.openxmlformats.org/officeDocument/2006/relationships/hyperlink" Target="https://doi.org/10.3389/fpsyg.2020.00556" TargetMode="External"/><Relationship Id="rId4" Type="http://schemas.openxmlformats.org/officeDocument/2006/relationships/hyperlink" Target="https://www.gu.se/sites/default/files/2026-08/Arbetsbladinstruktioner%20organisationsdiagnos.pdf"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av.se/globalassets/filer/publikationer/foreskrifter/planering-och-organisering-av-arbetsmiljoarbete-grundlaggande-skyldigheter-for-dig-med-arbetsgivaransvar-afs2023-2.pdf" TargetMode="External"/><Relationship Id="rId7" Type="http://schemas.openxmlformats.org/officeDocument/2006/relationships/hyperlink" Target="https://doi.org/10.1016/j.hrmr.2017.06.002"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doi.org/10.1287/orsc.1050.0122" TargetMode="External"/><Relationship Id="rId5" Type="http://schemas.openxmlformats.org/officeDocument/2006/relationships/hyperlink" Target="https://doi.org/10.1037/cap0000032" TargetMode="External"/><Relationship Id="rId4" Type="http://schemas.openxmlformats.org/officeDocument/2006/relationships/hyperlink" Target="https://doi.org/10.1037/0021-9010.93.1.170" TargetMode="Externa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i.org/10.1080/13594320802510880"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8" Type="http://schemas.openxmlformats.org/officeDocument/2006/relationships/hyperlink" Target="https://doi.org/10.4324/9781003285861" TargetMode="External"/><Relationship Id="rId3" Type="http://schemas.openxmlformats.org/officeDocument/2006/relationships/hyperlink" Target="https://www.gu.se/sites/default/files/2020-09/Sja%CC%88lvinsikt%20.pdf" TargetMode="External"/><Relationship Id="rId7" Type="http://schemas.openxmlformats.org/officeDocument/2006/relationships/hyperlink" Target="https://open.spotify.com/episode/2hwn1u8bCgDShCaXjn2CfS" TargetMode="External"/><Relationship Id="rId2" Type="http://schemas.openxmlformats.org/officeDocument/2006/relationships/slide" Target="../slides/slide28.xml"/><Relationship Id="rId1" Type="http://schemas.openxmlformats.org/officeDocument/2006/relationships/notesMaster" Target="../notesMasters/notesMaster1.xml"/><Relationship Id="rId6" Type="http://schemas.openxmlformats.org/officeDocument/2006/relationships/hyperlink" Target="https://www.gu.se/sites/default/files/2020-09/Konflikters%20eskalation.pdf" TargetMode="External"/><Relationship Id="rId11" Type="http://schemas.openxmlformats.org/officeDocument/2006/relationships/hyperlink" Target="https://shows.acast.com/dummamanniskor/episodes/306-fem-satt-att-bota-din-konfliktradsla" TargetMode="External"/><Relationship Id="rId5" Type="http://schemas.openxmlformats.org/officeDocument/2006/relationships/hyperlink" Target="https://www.gu.se/sites/default/files/2026-08/Arbetsbladinstruktioner%20organisationsdiagnos.pdf" TargetMode="External"/><Relationship Id="rId10" Type="http://schemas.openxmlformats.org/officeDocument/2006/relationships/hyperlink" Target="https://shows.acast.com/dummamanniskor/episodes/287-tre-trick-som-desarmerar-relationsbrak" TargetMode="External"/><Relationship Id="rId4" Type="http://schemas.openxmlformats.org/officeDocument/2006/relationships/hyperlink" Target="https://www.gu.se/sites/default/files/2020-09/Konfliktkunskapens%20ABC.pdf" TargetMode="External"/><Relationship Id="rId9" Type="http://schemas.openxmlformats.org/officeDocument/2006/relationships/hyperlink" Target="https://play.acast.com/s/dummamanniskor/45.brakabra-graletspsykologi-" TargetMode="External"/></Relationships>
</file>

<file path=ppt/notesSlides/_rels/notesSlide29.xml.rels><?xml version="1.0" encoding="UTF-8" standalone="yes"?>
<Relationships xmlns="http://schemas.openxmlformats.org/package/2006/relationships"><Relationship Id="rId8" Type="http://schemas.openxmlformats.org/officeDocument/2006/relationships/hyperlink" Target="https://doi.org/10.1016/j.socscimed.2006.05.002" TargetMode="External"/><Relationship Id="rId3" Type="http://schemas.openxmlformats.org/officeDocument/2006/relationships/hyperlink" Target="https://www.av.se/globalassets/filer/publikationer/foreskrifter/planering-och-organisering-av-arbetsmiljoarbete-grundlaggande-skyldigheter-for-dig-med-arbetsgivaransvar-afs2023-2.pdf" TargetMode="External"/><Relationship Id="rId7" Type="http://schemas.openxmlformats.org/officeDocument/2006/relationships/hyperlink" Target="https://doi.org/10.1186/s12889-021-10894-7" TargetMode="External"/><Relationship Id="rId12" Type="http://schemas.openxmlformats.org/officeDocument/2006/relationships/hyperlink" Target="https://doi.org/10.1037/apl0001315"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doi.org/10.1080/13594320802510880" TargetMode="External"/><Relationship Id="rId11" Type="http://schemas.openxmlformats.org/officeDocument/2006/relationships/hyperlink" Target="https://doi.org/10.5465/amr.2013.0124" TargetMode="External"/><Relationship Id="rId5" Type="http://schemas.openxmlformats.org/officeDocument/2006/relationships/hyperlink" Target="https://doi.org/10.1037/a0024844" TargetMode="External"/><Relationship Id="rId10" Type="http://schemas.openxmlformats.org/officeDocument/2006/relationships/hyperlink" Target="https://doi.org/10.1539/joh.L8134" TargetMode="External"/><Relationship Id="rId4" Type="http://schemas.openxmlformats.org/officeDocument/2006/relationships/hyperlink" Target="https://doi.org/10.1037/a0024200" TargetMode="External"/><Relationship Id="rId9" Type="http://schemas.openxmlformats.org/officeDocument/2006/relationships/hyperlink" Target="https://doi.org/10.1016/S0191-3085(03)25005-X" TargetMode="External"/></Relationships>
</file>

<file path=ppt/notesSlides/_rels/notesSlide30.xml.rels><?xml version="1.0" encoding="UTF-8" standalone="yes"?>
<Relationships xmlns="http://schemas.openxmlformats.org/package/2006/relationships"><Relationship Id="rId8" Type="http://schemas.openxmlformats.org/officeDocument/2006/relationships/hyperlink" Target="https://doi.org/10.1177/0956797614535400" TargetMode="External"/><Relationship Id="rId13" Type="http://schemas.openxmlformats.org/officeDocument/2006/relationships/hyperlink" Target="https://doi.org/10.1016/j.obhdp.2020.03.011" TargetMode="External"/><Relationship Id="rId3" Type="http://schemas.openxmlformats.org/officeDocument/2006/relationships/hyperlink" Target="https://doi.org/10.1111/jan.12903" TargetMode="External"/><Relationship Id="rId7" Type="http://schemas.openxmlformats.org/officeDocument/2006/relationships/hyperlink" Target="https://doi.org/10.1037/cap0000032" TargetMode="External"/><Relationship Id="rId12" Type="http://schemas.openxmlformats.org/officeDocument/2006/relationships/hyperlink" Target="https://doi.org/10.1037/1076-8998.12.1.80" TargetMode="External"/><Relationship Id="rId2" Type="http://schemas.openxmlformats.org/officeDocument/2006/relationships/slide" Target="../slides/slide30.xml"/><Relationship Id="rId1" Type="http://schemas.openxmlformats.org/officeDocument/2006/relationships/notesMaster" Target="../notesMasters/notesMaster1.xml"/><Relationship Id="rId6" Type="http://schemas.openxmlformats.org/officeDocument/2006/relationships/hyperlink" Target="https://doi.org/10.1111/j.1467-9280.2008.02096.x" TargetMode="External"/><Relationship Id="rId11" Type="http://schemas.openxmlformats.org/officeDocument/2006/relationships/hyperlink" Target="https://doi.org/10.1016/j.hrmr.2017.06.002" TargetMode="External"/><Relationship Id="rId5" Type="http://schemas.openxmlformats.org/officeDocument/2006/relationships/hyperlink" Target="https://doi.org/10.1177/0956797612474938" TargetMode="External"/><Relationship Id="rId10" Type="http://schemas.openxmlformats.org/officeDocument/2006/relationships/hyperlink" Target="https://doi.org/10.1007/s10869-023-09897-5" TargetMode="External"/><Relationship Id="rId4" Type="http://schemas.openxmlformats.org/officeDocument/2006/relationships/hyperlink" Target="https://doi.org/10.1037/0021-9010.93.1.170" TargetMode="External"/><Relationship Id="rId9" Type="http://schemas.openxmlformats.org/officeDocument/2006/relationships/hyperlink" Target="https://doi.org/10.1177/0146167208315158"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i.org/10.1111/jan.12903" TargetMode="External"/><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https://doi.org/10.1108/IJCMA-09-2024-0238" TargetMode="External"/><Relationship Id="rId4" Type="http://schemas.openxmlformats.org/officeDocument/2006/relationships/hyperlink" Target="https://www.gu.se/sites/default/files/2020-09/Konflikters%20eskalation.pdf" TargetMode="Externa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gu.se/sites/default/files/2020-09/Konflikters%20eskalation.pdf"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www.gu.se/sites/default/files/2020-09/Konflikters%20eskalation.pdf"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gu.se/sites/default/files/2020-09/Konfliktkunskapens%20ABC.pdf"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gu.se/sites/default/files/2020-09/Sja%CC%88lvinsikt%20.pdf"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gu.se/sites/default/files/2026-08/Arbetsbladinstruktioner%20organisationsdiagnos.pdf"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Välkomna. Den här timmen bygger på två ben. Det ena är fyra texter från forskningsprogrammet Arbetsplatskonflikter vid Göteborgs universitet, främst Thomas Jordan och Friedrich Glasl: de ger oss ett gemensamt språk. Det andra är aktuell forskning om konflikter i arbetsgrupper, om hälsa och om vad som faktiskt hjälper. Där forskningen lägger till eller säger emot något står källan på bilden. Inga förkunskaper krävs. Målet är att ni går härifrån med ett språk för konflikter och några konkreta saker att göra.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Vi börjar med varför. Konflikter på jobbet är inte bara obehagliga, de är en hälsofråga. I en svensk studie som följde drygt fyra tusen personer i tre år hade de som haft en allvarlig konflikt på jobbet omkring 40 procent högre odds för depression vid uppföljningen. En sammanställning av 557 studier pekar åt samma håll. Den tredje rutan är den hoppfulla: där oenighet löstes genom samtal mådde folk bättre, och där chefen bara avgjorde saken sågs ingen sådan skillnad. Hur vi hanterar konflikter verkar alltså spela roll, och det är vad resten av timmen handlar om.</a:t>
            </a:r>
          </a:p>
          <a:p>
            <a:endParaRPr/>
          </a:p>
          <a:p>
            <a:r>
              <a:t>BAKGRUND:</a:t>
            </a:r>
          </a:p>
          <a:p>
            <a:r>
              <a:t>Stoetzer m.fl. (2009): oddskvot 1,4 (95 % konfidensintervall 1,1 till 1,9), justerat för depression vid start. Att bli utfryst av kollegor gav 1,7 och av chefer 1,6 enligt artikelns sammanfattning. Gerhardt m.fl. (2021): sambandet −0,29 gäller just konflikter mellan personer. Det mesta är tvärsnittsdata, och dålig hälsa kan också göra oss mer konfliktbenägna. Hyde m.fl. (2006): tvärsnitt, självrapporterat, en enda bransch i Sverige och Finland. Alla tre bilderna visar samband, inte orsak.</a:t>
            </a:r>
          </a:p>
          <a:p>
            <a:endParaRPr/>
          </a:p>
          <a:p>
            <a:r>
              <a:t>REFERENSER:</a:t>
            </a:r>
          </a:p>
          <a:p>
            <a:r>
              <a:t>Gerhardt, C., Semmer, N. K., Sauter, S., Walker, A., de Wijn, N., Kälin, W., Kottwitz, M. U., Kersten, B., Ulrich, B., &amp; Elfering, A. (2021). How are social stressors at work related to well-being and health? A systematic review and meta-analysis. </a:t>
            </a:r>
            <a:r>
              <a:rPr i="1"/>
              <a:t>BMC Public Health, 21</a:t>
            </a:r>
            <a:r>
              <a:t>, Artikel 890. </a:t>
            </a:r>
            <a:r>
              <a:rPr>
                <a:hlinkClick r:id="rId3"/>
              </a:rPr>
              <a:t>https://doi.org/10.1186/s12889-021-10894-7</a:t>
            </a:r>
          </a:p>
          <a:p>
            <a:r>
              <a:t>Hyde, M., Jäppinen, P., Theorell, T., &amp; Oxenstierna, G. (2006). Workplace conflict resolution and the health of employees in the Swedish and Finnish units of an industrial company. </a:t>
            </a:r>
            <a:r>
              <a:rPr i="1"/>
              <a:t>Social Science &amp; Medicine, 63</a:t>
            </a:r>
            <a:r>
              <a:t>(8), 2218–2227. </a:t>
            </a:r>
            <a:r>
              <a:rPr>
                <a:hlinkClick r:id="rId4"/>
              </a:rPr>
              <a:t>https://doi.org/10.1016/j.socscimed.2006.05.002</a:t>
            </a:r>
          </a:p>
          <a:p>
            <a:r>
              <a:t>Stoetzer, U., Ahlberg, G., Johansson, G., Bergman, P., Hallsten, L., Forsell, Y., &amp; Lundberg, I. (2009). Problematic interpersonal relationships at work and depression: A Swedish prospective cohort study. </a:t>
            </a:r>
            <a:r>
              <a:rPr i="1"/>
              <a:t>Journal of Occupational Health, 51</a:t>
            </a:r>
            <a:r>
              <a:t>(2), 144–151. </a:t>
            </a:r>
            <a:r>
              <a:rPr>
                <a:hlinkClick r:id="rId5"/>
              </a:rPr>
              <a:t>https://doi.org/10.1539/joh.L8134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Kort om upplägget: fyra delar och en paus, 60 minuter totalt. Del 1 ger begreppen. Del 2 handlar om hur konflikter trappas upp, vilken åtgärd som passar var och vart man vänder sig när man inte kan lösa det själv. Del 3 vänder blicken inåt och slutar i konkreta sätt att tänka och säga saker. Del 4 lyfter blicken till organisationen och gruppen. Två reflektioner i chatten, tre minuter vardera, ryms inom delarna. Frågor i slutet, men skriv gärna i chatten under tiden.</a:t>
            </a:r>
          </a:p>
          <a:p>
            <a:endParaRPr/>
          </a:p>
          <a:p>
            <a:r>
              <a:t>BAKGRUND:</a:t>
            </a:r>
          </a:p>
          <a:p>
            <a:r>
              <a:t>Tidsbudget: intro 2 min (den smala grå rutan först, inklusive förra bilden), del 1 15, del 2 11, paus 5, del 3 12, del 4 8, frågor 7. Sju extrabilder ligger dolda sist i filen, för den som vill fördjupa: Synligt och osynligt, Fas 1, Fas 2, Fas 3, Vad förändras under eskalationen, Sex inre processer och Så används arbetsbladet. A- och C-hörnet har slagits ihop med ABC-bilden.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 1 bygger på Thomas Jordans text Konfliktkunskapens ABC (Jordan, 2006). Målet är ett gemensamt språk: vad en konflikt är, på vilka nivåer den uppstår och vilka aspekter man kan titta på när man vill förstå den.</a:t>
            </a:r>
          </a:p>
          <a:p>
            <a:endParaRPr/>
          </a:p>
          <a:p>
            <a:r>
              <a:t>REFERENSER:</a:t>
            </a:r>
          </a:p>
          <a:p>
            <a:r>
              <a:t>Jordan, T. (2006). </a:t>
            </a:r>
            <a:r>
              <a:rPr i="1"/>
              <a:t>Konfliktkunskapens ABC</a:t>
            </a:r>
            <a:r>
              <a:t> (version 2). Göteborgs universitet. </a:t>
            </a:r>
            <a:r>
              <a:rPr>
                <a:hlinkClick r:id="rId3"/>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Jordan (2006) använder en bred definition som rymmer allt från vardagsgnissel till dramatiska konflikter. Alla fyra led behövs. Notera att det krävs minst en part som agerar, men det räcker att en part upplever blockering. Motparten kan förneka att det finns ett problem. Poängen med de två första leden: det är inte bara den andres halsstarrighet, utan också vår egen bindning till vissa önskemål som skapar konflikten. Att inventera vilka önskemål som faktiskt är blockerade är ofta det första konstruktiva steget. Frustrationen är motorn: så länge önskemålen blockeras drivs vi att göra något, och när samtal inte fungerar tar vi till andra medel. Det är så eskalation börjar.</a:t>
            </a:r>
          </a:p>
          <a:p>
            <a:endParaRPr/>
          </a:p>
          <a:p>
            <a:r>
              <a:t>REFERENSER:</a:t>
            </a:r>
          </a:p>
          <a:p>
            <a:r>
              <a:t>Jordan, T. (2006). </a:t>
            </a:r>
            <a:r>
              <a:rPr i="1"/>
              <a:t>Konfliktkunskapens ABC</a:t>
            </a:r>
            <a:r>
              <a:t> (version 2). Göteborgs universitet. </a:t>
            </a:r>
            <a:r>
              <a:rPr>
                <a:hlinkClick r:id="rId3"/>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Arbetslivets konflikter uppstår genom samverkan av omständigheter på tre nivåer. Den nivå vi väljer att titta på styr vilka åtgärder som känns naturliga. Ser vi bara individnivån pekar vi ut en person och åtgärderna blir samtal, gränser, omplacering. Relationsnivån säger att det inte är ens fel när två träter: vi letar efter blockerade önskemål, kommunikationsproblem och en historia som gått snett. Systemnivån ser konflikter som symptom på otydliga mål, oklara roller, svag ledning eller brist på forum för problemlösning. En bra diagnos ställer frågor på alla tre nivåerna: hur bidrar respektive nivå, och vad behöver göras på respektive nivå? Vi återkommer till systemnivån i del 4.</a:t>
            </a:r>
          </a:p>
          <a:p>
            <a:endParaRPr/>
          </a:p>
          <a:p>
            <a:r>
              <a:t>Källa: Jordan (2006).</a:t>
            </a:r>
          </a:p>
          <a:p>
            <a:endParaRPr/>
          </a:p>
          <a:p>
            <a:r>
              <a:t>REFERENSER:</a:t>
            </a:r>
          </a:p>
          <a:p>
            <a:r>
              <a:t>Jordan, T. (2006). </a:t>
            </a:r>
            <a:r>
              <a:rPr i="1"/>
              <a:t>Konfliktkunskapens ABC</a:t>
            </a:r>
            <a:r>
              <a:t> (version 2). Göteborgs universitet. </a:t>
            </a:r>
            <a:r>
              <a:rPr>
                <a:hlinkClick r:id="rId3"/>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ABC-</a:t>
            </a:r>
            <a:r>
              <a:rPr dirty="0" err="1"/>
              <a:t>modellen</a:t>
            </a:r>
            <a:r>
              <a:rPr dirty="0"/>
              <a:t>, </a:t>
            </a:r>
            <a:r>
              <a:rPr dirty="0" err="1"/>
              <a:t>konflikttriangeln</a:t>
            </a:r>
            <a:r>
              <a:rPr dirty="0"/>
              <a:t>, </a:t>
            </a:r>
            <a:r>
              <a:rPr dirty="0" err="1"/>
              <a:t>formulerades</a:t>
            </a:r>
            <a:r>
              <a:rPr dirty="0"/>
              <a:t> av </a:t>
            </a:r>
            <a:r>
              <a:rPr dirty="0" err="1"/>
              <a:t>fredsforskaren</a:t>
            </a:r>
            <a:r>
              <a:rPr dirty="0"/>
              <a:t> Johan Galtung </a:t>
            </a:r>
            <a:r>
              <a:rPr dirty="0" err="1"/>
              <a:t>i</a:t>
            </a:r>
            <a:r>
              <a:rPr dirty="0"/>
              <a:t> </a:t>
            </a:r>
            <a:r>
              <a:rPr dirty="0" err="1"/>
              <a:t>slutet</a:t>
            </a:r>
            <a:r>
              <a:rPr dirty="0"/>
              <a:t> av 1960-talet (Galtung, </a:t>
            </a:r>
            <a:r>
              <a:rPr dirty="0" err="1"/>
              <a:t>refererad</a:t>
            </a:r>
            <a:r>
              <a:rPr dirty="0"/>
              <a:t> </a:t>
            </a:r>
            <a:r>
              <a:rPr dirty="0" err="1"/>
              <a:t>i</a:t>
            </a:r>
            <a:r>
              <a:rPr dirty="0"/>
              <a:t> Jordan, 2006). Tre </a:t>
            </a:r>
            <a:r>
              <a:rPr dirty="0" err="1"/>
              <a:t>hörn</a:t>
            </a:r>
            <a:r>
              <a:rPr dirty="0"/>
              <a:t>: A för </a:t>
            </a:r>
            <a:r>
              <a:rPr dirty="0" err="1"/>
              <a:t>attityder</a:t>
            </a:r>
            <a:r>
              <a:rPr dirty="0"/>
              <a:t>, </a:t>
            </a:r>
            <a:r>
              <a:rPr dirty="0" err="1"/>
              <a:t>allt</a:t>
            </a:r>
            <a:r>
              <a:rPr dirty="0"/>
              <a:t> </a:t>
            </a:r>
            <a:r>
              <a:rPr dirty="0" err="1"/>
              <a:t>som</a:t>
            </a:r>
            <a:r>
              <a:rPr dirty="0"/>
              <a:t> </a:t>
            </a:r>
            <a:r>
              <a:rPr dirty="0" err="1"/>
              <a:t>pågår</a:t>
            </a:r>
            <a:r>
              <a:rPr dirty="0"/>
              <a:t> </a:t>
            </a:r>
            <a:r>
              <a:rPr dirty="0" err="1"/>
              <a:t>inom</a:t>
            </a:r>
            <a:r>
              <a:rPr dirty="0"/>
              <a:t> </a:t>
            </a:r>
            <a:r>
              <a:rPr dirty="0" err="1"/>
              <a:t>parterna</a:t>
            </a:r>
            <a:r>
              <a:rPr dirty="0"/>
              <a:t>. B för </a:t>
            </a:r>
            <a:r>
              <a:rPr dirty="0" err="1"/>
              <a:t>beteende</a:t>
            </a:r>
            <a:r>
              <a:rPr dirty="0"/>
              <a:t>, </a:t>
            </a:r>
            <a:r>
              <a:rPr dirty="0" err="1"/>
              <a:t>hur</a:t>
            </a:r>
            <a:r>
              <a:rPr dirty="0"/>
              <a:t> </a:t>
            </a:r>
            <a:r>
              <a:rPr dirty="0" err="1"/>
              <a:t>parterna</a:t>
            </a:r>
            <a:r>
              <a:rPr dirty="0"/>
              <a:t> </a:t>
            </a:r>
            <a:r>
              <a:rPr dirty="0" err="1"/>
              <a:t>agerar</a:t>
            </a:r>
            <a:r>
              <a:rPr dirty="0"/>
              <a:t>. C för </a:t>
            </a:r>
            <a:r>
              <a:rPr dirty="0" err="1"/>
              <a:t>motsättning</a:t>
            </a:r>
            <a:r>
              <a:rPr dirty="0"/>
              <a:t>, </a:t>
            </a:r>
            <a:r>
              <a:rPr dirty="0" err="1"/>
              <a:t>engelska</a:t>
            </a:r>
            <a:r>
              <a:rPr dirty="0"/>
              <a:t> contradiction, </a:t>
            </a:r>
            <a:r>
              <a:rPr dirty="0" err="1"/>
              <a:t>alltså</a:t>
            </a:r>
            <a:r>
              <a:rPr dirty="0"/>
              <a:t> </a:t>
            </a:r>
            <a:r>
              <a:rPr dirty="0" err="1"/>
              <a:t>sakfrågorna</a:t>
            </a:r>
            <a:r>
              <a:rPr dirty="0"/>
              <a:t>. </a:t>
            </a:r>
            <a:r>
              <a:rPr dirty="0" err="1"/>
              <a:t>Inför</a:t>
            </a:r>
            <a:r>
              <a:rPr dirty="0"/>
              <a:t> </a:t>
            </a:r>
            <a:r>
              <a:rPr dirty="0" err="1"/>
              <a:t>varje</a:t>
            </a:r>
            <a:r>
              <a:rPr dirty="0"/>
              <a:t> </a:t>
            </a:r>
            <a:r>
              <a:rPr dirty="0" err="1"/>
              <a:t>konflikt</a:t>
            </a:r>
            <a:r>
              <a:rPr dirty="0"/>
              <a:t> </a:t>
            </a:r>
            <a:r>
              <a:rPr dirty="0" err="1"/>
              <a:t>kan</a:t>
            </a:r>
            <a:r>
              <a:rPr dirty="0"/>
              <a:t> vi </a:t>
            </a:r>
            <a:r>
              <a:rPr dirty="0" err="1"/>
              <a:t>fråga</a:t>
            </a:r>
            <a:r>
              <a:rPr dirty="0"/>
              <a:t>: </a:t>
            </a:r>
            <a:r>
              <a:rPr dirty="0" err="1"/>
              <a:t>hur</a:t>
            </a:r>
            <a:r>
              <a:rPr dirty="0"/>
              <a:t> ser A, B och C </a:t>
            </a:r>
            <a:r>
              <a:rPr dirty="0" err="1"/>
              <a:t>ut</a:t>
            </a:r>
            <a:r>
              <a:rPr dirty="0"/>
              <a:t> just </a:t>
            </a:r>
            <a:r>
              <a:rPr dirty="0" err="1"/>
              <a:t>här</a:t>
            </a:r>
            <a:r>
              <a:rPr dirty="0"/>
              <a:t>? Var ligger </a:t>
            </a:r>
            <a:r>
              <a:rPr dirty="0" err="1"/>
              <a:t>tyngdpunkten</a:t>
            </a:r>
            <a:r>
              <a:rPr dirty="0"/>
              <a:t>? </a:t>
            </a:r>
            <a:r>
              <a:rPr dirty="0" err="1"/>
              <a:t>Ofta</a:t>
            </a:r>
            <a:r>
              <a:rPr dirty="0"/>
              <a:t> </a:t>
            </a:r>
            <a:r>
              <a:rPr dirty="0" err="1"/>
              <a:t>börjar</a:t>
            </a:r>
            <a:r>
              <a:rPr dirty="0"/>
              <a:t> </a:t>
            </a:r>
            <a:r>
              <a:rPr dirty="0" err="1"/>
              <a:t>konflikten</a:t>
            </a:r>
            <a:r>
              <a:rPr dirty="0"/>
              <a:t> </a:t>
            </a:r>
            <a:r>
              <a:rPr dirty="0" err="1"/>
              <a:t>i</a:t>
            </a:r>
            <a:r>
              <a:rPr dirty="0"/>
              <a:t> C men </a:t>
            </a:r>
            <a:r>
              <a:rPr dirty="0" err="1"/>
              <a:t>flyttar</a:t>
            </a:r>
            <a:r>
              <a:rPr dirty="0"/>
              <a:t> mot A </a:t>
            </a:r>
            <a:r>
              <a:rPr dirty="0" err="1"/>
              <a:t>när</a:t>
            </a:r>
            <a:r>
              <a:rPr dirty="0"/>
              <a:t> </a:t>
            </a:r>
            <a:r>
              <a:rPr dirty="0" err="1"/>
              <a:t>relationen</a:t>
            </a:r>
            <a:r>
              <a:rPr dirty="0"/>
              <a:t> </a:t>
            </a:r>
            <a:r>
              <a:rPr dirty="0" err="1"/>
              <a:t>försämras</a:t>
            </a:r>
            <a:r>
              <a:rPr dirty="0"/>
              <a:t>, och till B </a:t>
            </a:r>
            <a:r>
              <a:rPr dirty="0" err="1"/>
              <a:t>när</a:t>
            </a:r>
            <a:r>
              <a:rPr dirty="0"/>
              <a:t> </a:t>
            </a:r>
            <a:r>
              <a:rPr dirty="0" err="1"/>
              <a:t>parterna</a:t>
            </a:r>
            <a:r>
              <a:rPr dirty="0"/>
              <a:t> </a:t>
            </a:r>
            <a:r>
              <a:rPr dirty="0" err="1"/>
              <a:t>övergår</a:t>
            </a:r>
            <a:r>
              <a:rPr dirty="0"/>
              <a:t> till handling. I </a:t>
            </a:r>
            <a:r>
              <a:rPr dirty="0" err="1"/>
              <a:t>kraftigt</a:t>
            </a:r>
            <a:r>
              <a:rPr dirty="0"/>
              <a:t> </a:t>
            </a:r>
            <a:r>
              <a:rPr dirty="0" err="1"/>
              <a:t>eskalerade</a:t>
            </a:r>
            <a:r>
              <a:rPr dirty="0"/>
              <a:t> </a:t>
            </a:r>
            <a:r>
              <a:rPr dirty="0" err="1"/>
              <a:t>konflikter</a:t>
            </a:r>
            <a:r>
              <a:rPr dirty="0"/>
              <a:t> </a:t>
            </a:r>
            <a:r>
              <a:rPr dirty="0" err="1"/>
              <a:t>måste</a:t>
            </a:r>
            <a:r>
              <a:rPr dirty="0"/>
              <a:t> man </a:t>
            </a:r>
            <a:r>
              <a:rPr dirty="0" err="1"/>
              <a:t>ibland</a:t>
            </a:r>
            <a:r>
              <a:rPr dirty="0"/>
              <a:t> </a:t>
            </a:r>
            <a:r>
              <a:rPr dirty="0" err="1"/>
              <a:t>börja</a:t>
            </a:r>
            <a:r>
              <a:rPr dirty="0"/>
              <a:t> </a:t>
            </a:r>
            <a:r>
              <a:rPr dirty="0" err="1"/>
              <a:t>i</a:t>
            </a:r>
            <a:r>
              <a:rPr dirty="0"/>
              <a:t> B: </a:t>
            </a:r>
            <a:r>
              <a:rPr dirty="0" err="1"/>
              <a:t>sätta</a:t>
            </a:r>
            <a:r>
              <a:rPr dirty="0"/>
              <a:t> </a:t>
            </a:r>
            <a:r>
              <a:rPr dirty="0" err="1"/>
              <a:t>stopp</a:t>
            </a:r>
            <a:r>
              <a:rPr dirty="0"/>
              <a:t> för </a:t>
            </a:r>
            <a:r>
              <a:rPr dirty="0" err="1"/>
              <a:t>destruktivt</a:t>
            </a:r>
            <a:r>
              <a:rPr dirty="0"/>
              <a:t> </a:t>
            </a:r>
            <a:r>
              <a:rPr dirty="0" err="1"/>
              <a:t>agerande</a:t>
            </a:r>
            <a:r>
              <a:rPr dirty="0"/>
              <a:t> och </a:t>
            </a:r>
            <a:r>
              <a:rPr dirty="0" err="1"/>
              <a:t>införa</a:t>
            </a:r>
            <a:r>
              <a:rPr dirty="0"/>
              <a:t> </a:t>
            </a:r>
            <a:r>
              <a:rPr dirty="0" err="1"/>
              <a:t>spelregler</a:t>
            </a:r>
            <a:r>
              <a:rPr dirty="0"/>
              <a:t> </a:t>
            </a:r>
            <a:r>
              <a:rPr dirty="0" err="1"/>
              <a:t>innan</a:t>
            </a:r>
            <a:r>
              <a:rPr dirty="0"/>
              <a:t> </a:t>
            </a:r>
            <a:r>
              <a:rPr dirty="0" err="1"/>
              <a:t>sakfrågor</a:t>
            </a:r>
            <a:r>
              <a:rPr dirty="0"/>
              <a:t> och </a:t>
            </a:r>
            <a:r>
              <a:rPr dirty="0" err="1"/>
              <a:t>attityder</a:t>
            </a:r>
            <a:r>
              <a:rPr dirty="0"/>
              <a:t> </a:t>
            </a:r>
            <a:r>
              <a:rPr dirty="0" err="1"/>
              <a:t>kan</a:t>
            </a:r>
            <a:r>
              <a:rPr dirty="0"/>
              <a:t> </a:t>
            </a:r>
            <a:r>
              <a:rPr dirty="0" err="1"/>
              <a:t>bearbetas</a:t>
            </a:r>
            <a:r>
              <a:rPr dirty="0"/>
              <a:t>. </a:t>
            </a:r>
            <a:r>
              <a:rPr dirty="0" err="1"/>
              <a:t>Modellen</a:t>
            </a:r>
            <a:r>
              <a:rPr dirty="0"/>
              <a:t> </a:t>
            </a:r>
            <a:r>
              <a:rPr dirty="0" err="1"/>
              <a:t>är</a:t>
            </a:r>
            <a:r>
              <a:rPr dirty="0"/>
              <a:t> </a:t>
            </a:r>
            <a:r>
              <a:rPr dirty="0" err="1"/>
              <a:t>begriplig</a:t>
            </a:r>
            <a:r>
              <a:rPr dirty="0"/>
              <a:t> </a:t>
            </a:r>
            <a:r>
              <a:rPr dirty="0" err="1"/>
              <a:t>också</a:t>
            </a:r>
            <a:r>
              <a:rPr dirty="0"/>
              <a:t> för den </a:t>
            </a:r>
            <a:r>
              <a:rPr dirty="0" err="1"/>
              <a:t>som</a:t>
            </a:r>
            <a:r>
              <a:rPr dirty="0"/>
              <a:t> </a:t>
            </a:r>
            <a:r>
              <a:rPr dirty="0" err="1"/>
              <a:t>inte</a:t>
            </a:r>
            <a:r>
              <a:rPr dirty="0"/>
              <a:t> </a:t>
            </a:r>
            <a:r>
              <a:rPr dirty="0" err="1"/>
              <a:t>kan</a:t>
            </a:r>
            <a:r>
              <a:rPr dirty="0"/>
              <a:t> </a:t>
            </a:r>
            <a:r>
              <a:rPr dirty="0" err="1"/>
              <a:t>konfliktteori</a:t>
            </a:r>
            <a:r>
              <a:rPr dirty="0"/>
              <a:t>, </a:t>
            </a:r>
            <a:r>
              <a:rPr dirty="0" err="1"/>
              <a:t>vilket</a:t>
            </a:r>
            <a:r>
              <a:rPr dirty="0"/>
              <a:t> </a:t>
            </a:r>
            <a:r>
              <a:rPr dirty="0" err="1"/>
              <a:t>gör</a:t>
            </a:r>
            <a:r>
              <a:rPr dirty="0"/>
              <a:t> den </a:t>
            </a:r>
            <a:r>
              <a:rPr dirty="0" err="1"/>
              <a:t>användbar</a:t>
            </a:r>
            <a:r>
              <a:rPr dirty="0"/>
              <a:t> </a:t>
            </a:r>
            <a:r>
              <a:rPr dirty="0" err="1"/>
              <a:t>i</a:t>
            </a:r>
            <a:r>
              <a:rPr dirty="0"/>
              <a:t> </a:t>
            </a:r>
            <a:r>
              <a:rPr dirty="0" err="1"/>
              <a:t>en</a:t>
            </a:r>
            <a:r>
              <a:rPr dirty="0"/>
              <a:t> </a:t>
            </a:r>
            <a:r>
              <a:rPr dirty="0" err="1"/>
              <a:t>arbetsgrupp</a:t>
            </a:r>
            <a:r>
              <a:rPr dirty="0"/>
              <a:t>.</a:t>
            </a:r>
          </a:p>
          <a:p>
            <a:endParaRPr dirty="0"/>
          </a:p>
          <a:p>
            <a:r>
              <a:rPr dirty="0" err="1"/>
              <a:t>Nytt</a:t>
            </a:r>
            <a:r>
              <a:rPr dirty="0"/>
              <a:t> </a:t>
            </a:r>
            <a:r>
              <a:rPr dirty="0" err="1"/>
              <a:t>i</a:t>
            </a:r>
            <a:r>
              <a:rPr dirty="0"/>
              <a:t> version 3: A- och C-</a:t>
            </a:r>
            <a:r>
              <a:rPr dirty="0" err="1"/>
              <a:t>hörnet</a:t>
            </a:r>
            <a:r>
              <a:rPr dirty="0"/>
              <a:t> </a:t>
            </a:r>
            <a:r>
              <a:rPr dirty="0" err="1"/>
              <a:t>har</a:t>
            </a:r>
            <a:r>
              <a:rPr dirty="0"/>
              <a:t> inga </a:t>
            </a:r>
            <a:r>
              <a:rPr dirty="0" err="1"/>
              <a:t>egna</a:t>
            </a:r>
            <a:r>
              <a:rPr dirty="0"/>
              <a:t> </a:t>
            </a:r>
            <a:r>
              <a:rPr dirty="0" err="1"/>
              <a:t>bilder</a:t>
            </a:r>
            <a:r>
              <a:rPr dirty="0"/>
              <a:t> </a:t>
            </a:r>
            <a:r>
              <a:rPr dirty="0" err="1"/>
              <a:t>längre</a:t>
            </a:r>
            <a:r>
              <a:rPr dirty="0"/>
              <a:t>, det </a:t>
            </a:r>
            <a:r>
              <a:rPr dirty="0" err="1"/>
              <a:t>viktigaste</a:t>
            </a:r>
            <a:r>
              <a:rPr dirty="0"/>
              <a:t> </a:t>
            </a:r>
            <a:r>
              <a:rPr dirty="0" err="1"/>
              <a:t>står</a:t>
            </a:r>
            <a:r>
              <a:rPr dirty="0"/>
              <a:t> </a:t>
            </a:r>
            <a:r>
              <a:rPr dirty="0" err="1"/>
              <a:t>i</a:t>
            </a:r>
            <a:r>
              <a:rPr dirty="0"/>
              <a:t> </a:t>
            </a:r>
            <a:r>
              <a:rPr dirty="0" err="1"/>
              <a:t>högerspalten</a:t>
            </a:r>
            <a:r>
              <a:rPr dirty="0"/>
              <a:t> </a:t>
            </a:r>
            <a:r>
              <a:rPr dirty="0" err="1"/>
              <a:t>här</a:t>
            </a:r>
            <a:r>
              <a:rPr dirty="0"/>
              <a:t>. Ur Jordans (2006) text om C-</a:t>
            </a:r>
            <a:r>
              <a:rPr dirty="0" err="1"/>
              <a:t>hörnet</a:t>
            </a:r>
            <a:r>
              <a:rPr dirty="0"/>
              <a:t>: </a:t>
            </a:r>
            <a:r>
              <a:rPr dirty="0" err="1"/>
              <a:t>fördelningskonflikter</a:t>
            </a:r>
            <a:r>
              <a:rPr dirty="0"/>
              <a:t> </a:t>
            </a:r>
            <a:r>
              <a:rPr dirty="0" err="1"/>
              <a:t>handlar</a:t>
            </a:r>
            <a:r>
              <a:rPr dirty="0"/>
              <a:t> om </a:t>
            </a:r>
            <a:r>
              <a:rPr dirty="0" err="1"/>
              <a:t>något</a:t>
            </a:r>
            <a:r>
              <a:rPr dirty="0"/>
              <a:t> </a:t>
            </a:r>
            <a:r>
              <a:rPr dirty="0" err="1"/>
              <a:t>som</a:t>
            </a:r>
            <a:r>
              <a:rPr dirty="0"/>
              <a:t> </a:t>
            </a:r>
            <a:r>
              <a:rPr dirty="0" err="1"/>
              <a:t>går</a:t>
            </a:r>
            <a:r>
              <a:rPr dirty="0"/>
              <a:t> </a:t>
            </a:r>
            <a:r>
              <a:rPr dirty="0" err="1"/>
              <a:t>att</a:t>
            </a:r>
            <a:r>
              <a:rPr dirty="0"/>
              <a:t> dela (</a:t>
            </a:r>
            <a:r>
              <a:rPr dirty="0" err="1"/>
              <a:t>pengar</a:t>
            </a:r>
            <a:r>
              <a:rPr dirty="0"/>
              <a:t>, </a:t>
            </a:r>
            <a:r>
              <a:rPr dirty="0" err="1"/>
              <a:t>tid</a:t>
            </a:r>
            <a:r>
              <a:rPr dirty="0"/>
              <a:t>, </a:t>
            </a:r>
            <a:r>
              <a:rPr dirty="0" err="1"/>
              <a:t>arbetsbörda</a:t>
            </a:r>
            <a:r>
              <a:rPr dirty="0"/>
              <a:t>), </a:t>
            </a:r>
            <a:r>
              <a:rPr dirty="0" err="1"/>
              <a:t>positionskonflikter</a:t>
            </a:r>
            <a:r>
              <a:rPr dirty="0"/>
              <a:t> om </a:t>
            </a:r>
            <a:r>
              <a:rPr dirty="0" err="1"/>
              <a:t>något</a:t>
            </a:r>
            <a:r>
              <a:rPr dirty="0"/>
              <a:t> </a:t>
            </a:r>
            <a:r>
              <a:rPr dirty="0" err="1"/>
              <a:t>odelbart</a:t>
            </a:r>
            <a:r>
              <a:rPr dirty="0"/>
              <a:t> (</a:t>
            </a:r>
            <a:r>
              <a:rPr dirty="0" err="1"/>
              <a:t>en</a:t>
            </a:r>
            <a:r>
              <a:rPr dirty="0"/>
              <a:t> </a:t>
            </a:r>
            <a:r>
              <a:rPr dirty="0" err="1"/>
              <a:t>tjänst</a:t>
            </a:r>
            <a:r>
              <a:rPr dirty="0"/>
              <a:t>, </a:t>
            </a:r>
            <a:r>
              <a:rPr dirty="0" err="1"/>
              <a:t>ett</a:t>
            </a:r>
            <a:r>
              <a:rPr dirty="0"/>
              <a:t> </a:t>
            </a:r>
            <a:r>
              <a:rPr dirty="0" err="1"/>
              <a:t>projektansvar</a:t>
            </a:r>
            <a:r>
              <a:rPr dirty="0"/>
              <a:t>, </a:t>
            </a:r>
            <a:r>
              <a:rPr dirty="0" err="1"/>
              <a:t>vem</a:t>
            </a:r>
            <a:r>
              <a:rPr dirty="0"/>
              <a:t> </a:t>
            </a:r>
            <a:r>
              <a:rPr dirty="0" err="1"/>
              <a:t>som</a:t>
            </a:r>
            <a:r>
              <a:rPr dirty="0"/>
              <a:t> </a:t>
            </a:r>
            <a:r>
              <a:rPr dirty="0" err="1"/>
              <a:t>har</a:t>
            </a:r>
            <a:r>
              <a:rPr dirty="0"/>
              <a:t> </a:t>
            </a:r>
            <a:r>
              <a:rPr dirty="0" err="1"/>
              <a:t>sista</a:t>
            </a:r>
            <a:r>
              <a:rPr dirty="0"/>
              <a:t> </a:t>
            </a:r>
            <a:r>
              <a:rPr dirty="0" err="1"/>
              <a:t>ordet</a:t>
            </a:r>
            <a:r>
              <a:rPr dirty="0"/>
              <a:t>), </a:t>
            </a:r>
            <a:r>
              <a:rPr dirty="0" err="1"/>
              <a:t>ordningskonflikter</a:t>
            </a:r>
            <a:r>
              <a:rPr dirty="0"/>
              <a:t> om </a:t>
            </a:r>
            <a:r>
              <a:rPr dirty="0" err="1"/>
              <a:t>vilka</a:t>
            </a:r>
            <a:r>
              <a:rPr dirty="0"/>
              <a:t> </a:t>
            </a:r>
            <a:r>
              <a:rPr dirty="0" err="1"/>
              <a:t>regler</a:t>
            </a:r>
            <a:r>
              <a:rPr dirty="0"/>
              <a:t> och </a:t>
            </a:r>
            <a:r>
              <a:rPr dirty="0" err="1"/>
              <a:t>normer</a:t>
            </a:r>
            <a:r>
              <a:rPr dirty="0"/>
              <a:t> </a:t>
            </a:r>
            <a:r>
              <a:rPr dirty="0" err="1"/>
              <a:t>som</a:t>
            </a:r>
            <a:r>
              <a:rPr dirty="0"/>
              <a:t> ska </a:t>
            </a:r>
            <a:r>
              <a:rPr dirty="0" err="1"/>
              <a:t>gälla</a:t>
            </a:r>
            <a:r>
              <a:rPr dirty="0"/>
              <a:t>. Ur A-</a:t>
            </a:r>
            <a:r>
              <a:rPr dirty="0" err="1"/>
              <a:t>hörnet</a:t>
            </a:r>
            <a:r>
              <a:rPr dirty="0"/>
              <a:t>: </a:t>
            </a:r>
            <a:r>
              <a:rPr dirty="0" err="1"/>
              <a:t>tänker</a:t>
            </a:r>
            <a:r>
              <a:rPr dirty="0"/>
              <a:t>, </a:t>
            </a:r>
            <a:r>
              <a:rPr dirty="0" err="1"/>
              <a:t>känner</a:t>
            </a:r>
            <a:r>
              <a:rPr dirty="0"/>
              <a:t>, </a:t>
            </a:r>
            <a:r>
              <a:rPr dirty="0" err="1"/>
              <a:t>vill</a:t>
            </a:r>
            <a:r>
              <a:rPr dirty="0"/>
              <a:t>. </a:t>
            </a:r>
            <a:r>
              <a:rPr dirty="0" err="1"/>
              <a:t>Rädsla</a:t>
            </a:r>
            <a:r>
              <a:rPr dirty="0"/>
              <a:t> </a:t>
            </a:r>
            <a:r>
              <a:rPr dirty="0" err="1"/>
              <a:t>att</a:t>
            </a:r>
            <a:r>
              <a:rPr dirty="0"/>
              <a:t> </a:t>
            </a:r>
            <a:r>
              <a:rPr dirty="0" err="1"/>
              <a:t>gå</a:t>
            </a:r>
            <a:r>
              <a:rPr dirty="0"/>
              <a:t> </a:t>
            </a:r>
            <a:r>
              <a:rPr dirty="0" err="1"/>
              <a:t>miste</a:t>
            </a:r>
            <a:r>
              <a:rPr dirty="0"/>
              <a:t> om </a:t>
            </a:r>
            <a:r>
              <a:rPr dirty="0" err="1"/>
              <a:t>något</a:t>
            </a:r>
            <a:r>
              <a:rPr dirty="0"/>
              <a:t> ligger </a:t>
            </a:r>
            <a:r>
              <a:rPr dirty="0" err="1"/>
              <a:t>ofta</a:t>
            </a:r>
            <a:r>
              <a:rPr dirty="0"/>
              <a:t> under </a:t>
            </a:r>
            <a:r>
              <a:rPr dirty="0" err="1"/>
              <a:t>ilskan</a:t>
            </a:r>
            <a:r>
              <a:rPr dirty="0"/>
              <a:t>, och under </a:t>
            </a:r>
            <a:r>
              <a:rPr dirty="0" err="1"/>
              <a:t>eskalation</a:t>
            </a:r>
            <a:r>
              <a:rPr dirty="0"/>
              <a:t> </a:t>
            </a:r>
            <a:r>
              <a:rPr dirty="0" err="1"/>
              <a:t>förskjuts</a:t>
            </a:r>
            <a:r>
              <a:rPr dirty="0"/>
              <a:t> </a:t>
            </a:r>
            <a:r>
              <a:rPr dirty="0" err="1"/>
              <a:t>viljan</a:t>
            </a:r>
            <a:r>
              <a:rPr dirty="0"/>
              <a:t> </a:t>
            </a:r>
            <a:r>
              <a:rPr dirty="0" err="1"/>
              <a:t>från</a:t>
            </a:r>
            <a:r>
              <a:rPr dirty="0"/>
              <a:t> </a:t>
            </a:r>
            <a:r>
              <a:rPr dirty="0" err="1"/>
              <a:t>egna</a:t>
            </a:r>
            <a:r>
              <a:rPr dirty="0"/>
              <a:t> </a:t>
            </a:r>
            <a:r>
              <a:rPr dirty="0" err="1"/>
              <a:t>intressen</a:t>
            </a:r>
            <a:r>
              <a:rPr dirty="0"/>
              <a:t> till </a:t>
            </a:r>
            <a:r>
              <a:rPr dirty="0" err="1"/>
              <a:t>att</a:t>
            </a:r>
            <a:r>
              <a:rPr dirty="0"/>
              <a:t> </a:t>
            </a:r>
            <a:r>
              <a:rPr dirty="0" err="1"/>
              <a:t>röja</a:t>
            </a:r>
            <a:r>
              <a:rPr dirty="0"/>
              <a:t> </a:t>
            </a:r>
            <a:r>
              <a:rPr dirty="0" err="1"/>
              <a:t>undan</a:t>
            </a:r>
            <a:r>
              <a:rPr dirty="0"/>
              <a:t> </a:t>
            </a:r>
            <a:r>
              <a:rPr dirty="0" err="1"/>
              <a:t>motparten</a:t>
            </a:r>
            <a:r>
              <a:rPr dirty="0"/>
              <a:t>.</a:t>
            </a:r>
          </a:p>
          <a:p>
            <a:endParaRPr dirty="0"/>
          </a:p>
          <a:p>
            <a:r>
              <a:rPr dirty="0" err="1"/>
              <a:t>Stöd</a:t>
            </a:r>
            <a:r>
              <a:rPr dirty="0"/>
              <a:t> </a:t>
            </a:r>
            <a:r>
              <a:rPr dirty="0" err="1"/>
              <a:t>ur</a:t>
            </a:r>
            <a:r>
              <a:rPr dirty="0"/>
              <a:t> </a:t>
            </a:r>
            <a:r>
              <a:rPr dirty="0" err="1"/>
              <a:t>forskningen</a:t>
            </a:r>
            <a:r>
              <a:rPr dirty="0"/>
              <a:t> för </a:t>
            </a:r>
            <a:r>
              <a:rPr dirty="0" err="1"/>
              <a:t>rådet</a:t>
            </a:r>
            <a:r>
              <a:rPr dirty="0"/>
              <a:t> </a:t>
            </a:r>
            <a:r>
              <a:rPr dirty="0" err="1"/>
              <a:t>att</a:t>
            </a:r>
            <a:r>
              <a:rPr dirty="0"/>
              <a:t> </a:t>
            </a:r>
            <a:r>
              <a:rPr dirty="0" err="1"/>
              <a:t>börja</a:t>
            </a:r>
            <a:r>
              <a:rPr dirty="0"/>
              <a:t> </a:t>
            </a:r>
            <a:r>
              <a:rPr dirty="0" err="1"/>
              <a:t>i</a:t>
            </a:r>
            <a:r>
              <a:rPr dirty="0"/>
              <a:t> B-</a:t>
            </a:r>
            <a:r>
              <a:rPr dirty="0" err="1"/>
              <a:t>hörnet</a:t>
            </a:r>
            <a:r>
              <a:rPr dirty="0"/>
              <a:t> </a:t>
            </a:r>
            <a:r>
              <a:rPr dirty="0" err="1"/>
              <a:t>i</a:t>
            </a:r>
            <a:r>
              <a:rPr dirty="0"/>
              <a:t> </a:t>
            </a:r>
            <a:r>
              <a:rPr dirty="0" err="1"/>
              <a:t>svåra</a:t>
            </a:r>
            <a:r>
              <a:rPr dirty="0"/>
              <a:t> </a:t>
            </a:r>
            <a:r>
              <a:rPr dirty="0" err="1"/>
              <a:t>relationskonflikter</a:t>
            </a:r>
            <a:r>
              <a:rPr dirty="0"/>
              <a:t>: Jehn och Bendersky (2003) </a:t>
            </a:r>
            <a:r>
              <a:rPr dirty="0" err="1"/>
              <a:t>fann</a:t>
            </a:r>
            <a:r>
              <a:rPr dirty="0"/>
              <a:t> </a:t>
            </a:r>
            <a:r>
              <a:rPr dirty="0" err="1"/>
              <a:t>att</a:t>
            </a:r>
            <a:r>
              <a:rPr dirty="0"/>
              <a:t> </a:t>
            </a:r>
            <a:r>
              <a:rPr dirty="0" err="1"/>
              <a:t>öppet</a:t>
            </a:r>
            <a:r>
              <a:rPr dirty="0"/>
              <a:t> </a:t>
            </a:r>
            <a:r>
              <a:rPr dirty="0" err="1"/>
              <a:t>ventilerande</a:t>
            </a:r>
            <a:r>
              <a:rPr dirty="0"/>
              <a:t> av </a:t>
            </a:r>
            <a:r>
              <a:rPr dirty="0" err="1"/>
              <a:t>relationskonflikter</a:t>
            </a:r>
            <a:r>
              <a:rPr dirty="0"/>
              <a:t> </a:t>
            </a:r>
            <a:r>
              <a:rPr dirty="0" err="1"/>
              <a:t>i</a:t>
            </a:r>
            <a:r>
              <a:rPr dirty="0"/>
              <a:t> </a:t>
            </a:r>
            <a:r>
              <a:rPr dirty="0" err="1"/>
              <a:t>gruppen</a:t>
            </a:r>
            <a:r>
              <a:rPr dirty="0"/>
              <a:t> </a:t>
            </a:r>
            <a:r>
              <a:rPr dirty="0" err="1"/>
              <a:t>förstärker</a:t>
            </a:r>
            <a:r>
              <a:rPr dirty="0"/>
              <a:t> </a:t>
            </a:r>
            <a:r>
              <a:rPr dirty="0" err="1"/>
              <a:t>skadan</a:t>
            </a:r>
            <a:r>
              <a:rPr dirty="0"/>
              <a:t>. Vi </a:t>
            </a:r>
            <a:r>
              <a:rPr dirty="0" err="1"/>
              <a:t>återkommer</a:t>
            </a:r>
            <a:r>
              <a:rPr dirty="0"/>
              <a:t> till det </a:t>
            </a:r>
            <a:r>
              <a:rPr dirty="0" err="1"/>
              <a:t>i</a:t>
            </a:r>
            <a:r>
              <a:rPr dirty="0"/>
              <a:t> del 2.</a:t>
            </a:r>
          </a:p>
          <a:p>
            <a:endParaRPr dirty="0"/>
          </a:p>
          <a:p>
            <a:r>
              <a:rPr dirty="0"/>
              <a:t>REFERENSER:</a:t>
            </a:r>
          </a:p>
          <a:p>
            <a:r>
              <a:rPr dirty="0"/>
              <a:t>Jehn, K. A., &amp; Bendersky, C. (2003). Intragroup conflict in organizations: A contingency perspective on the conflict-outcome relationship. </a:t>
            </a:r>
            <a:r>
              <a:rPr i="1" dirty="0"/>
              <a:t>Research in Organizational Behavior, 25</a:t>
            </a:r>
            <a:r>
              <a:rPr dirty="0"/>
              <a:t>, 187–242. </a:t>
            </a:r>
            <a:r>
              <a:rPr dirty="0">
                <a:hlinkClick r:id="rId3"/>
              </a:rPr>
              <a:t>https://doi.org/10.1016/S0191-3085(03)25005-X</a:t>
            </a:r>
          </a:p>
          <a:p>
            <a:r>
              <a:rPr dirty="0"/>
              <a:t>Jordan, T. (2006). </a:t>
            </a:r>
            <a:r>
              <a:rPr i="1" dirty="0" err="1"/>
              <a:t>Konfliktkunskapens</a:t>
            </a:r>
            <a:r>
              <a:rPr i="1" dirty="0"/>
              <a:t> ABC</a:t>
            </a:r>
            <a:r>
              <a:rPr dirty="0"/>
              <a:t> (version 2). </a:t>
            </a:r>
            <a:r>
              <a:rPr dirty="0" err="1"/>
              <a:t>Göteborgs</a:t>
            </a:r>
            <a:r>
              <a:rPr dirty="0"/>
              <a:t> </a:t>
            </a:r>
            <a:r>
              <a:rPr dirty="0" err="1"/>
              <a:t>universitet</a:t>
            </a:r>
            <a:r>
              <a:rPr dirty="0"/>
              <a:t>. </a:t>
            </a:r>
            <a:r>
              <a:rPr dirty="0">
                <a:hlinkClick r:id="rId4"/>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Jordans (2006) exempel. Lasse är enhetschef i socialförvaltningen, 45 år, engagerad i ett utvecklingsarbete med en ny arbetsmodell. Ulrika, 38, är medarbetare och trebarnsmamma mitt i en jobbig skilsmässa med ekonomiska problem. Hon kommer ofta 10–20 minuter sent, ringer privata samtal, är passiv på planeringsdagar. Poängen: Lasse och Ulrika kan vara helt överens om fakta. Men i Lasses berättelse betyder fakta bristande engagemang och ett hot mot visionen. I Ulrikas berättelse är Lasse en okänslig chef som hackar på petitesser. Så länge båda dömer inifrån sin egen berättelse går det inte att kommunicera. Konfliktlösarens uppgift är ofta att vända den processen och hjälpa parterna till en gemensam verklighetsbeskrivning. En halv minuts egen fundering över frågan längst ner ryms innan nästa bild.</a:t>
            </a:r>
          </a:p>
          <a:p>
            <a:endParaRPr/>
          </a:p>
          <a:p>
            <a:r>
              <a:t>Koppling till socialpsykologin: fenomenet kallas naiv realism. Vi upplever vår egen bild som verkligheten, och den som ser det annorlunda framstår då som partisk eller illvillig. Kennedy och Pronin (2008) visade i experiment att just den uppfattningen, att den andre är partisk, driver fram hårdare svar, som i sin tur får oss själva att se partiska ut. Det blir en spiral. Praktiskt: behandla »hen är ute efter mig« som en hypotes, inte som ett faktum.</a:t>
            </a:r>
          </a:p>
          <a:p>
            <a:endParaRPr/>
          </a:p>
          <a:p>
            <a:r>
              <a:t>REFERENSER:</a:t>
            </a:r>
          </a:p>
          <a:p>
            <a:r>
              <a:t>Jordan, T. (2006). </a:t>
            </a:r>
            <a:r>
              <a:rPr i="1"/>
              <a:t>Konfliktkunskapens ABC</a:t>
            </a:r>
            <a:r>
              <a:t> (version 2). Göteborgs universitet. </a:t>
            </a:r>
            <a:r>
              <a:rPr>
                <a:hlinkClick r:id="rId3"/>
              </a:rPr>
              <a:t>https://www.gu.se/sites/default/files/2020-09/Konfliktkunskapens%20ABC.pdf</a:t>
            </a:r>
          </a:p>
          <a:p>
            <a:r>
              <a:t>Kennedy, K. A., &amp; Pronin, E. (2008). When disagreement gets ugly: Perceptions of bias and the escalation of conflict. </a:t>
            </a:r>
            <a:r>
              <a:rPr i="1"/>
              <a:t>Personality and Social Psychology Bulletin, 34</a:t>
            </a:r>
            <a:r>
              <a:t>(6), 833–848. </a:t>
            </a:r>
            <a:r>
              <a:rPr>
                <a:hlinkClick r:id="rId4"/>
              </a:rPr>
              <a:t>https://doi.org/10.1177/0146167208315158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Här lämnar vi Jordan en stund. Forskningen om arbetsgrupper skiljer i dag på fyra slags konflikt. Sakkonflikt: oenighet om själva uppgiften. Relationskonflikt: personlig friktion. Processkonflikt: vem gör vad, vem ansvarar, när ska det vara klart. Det är vardag på små kontor. Statuskonflikt: dragkamp om inflytande och respekt. Siffrorna visar hur starkt varje typ hänger ihop med hur gruppen presterar. Noll betyder inget samband, minus ett ett fullständigt negativt. Alla fyra pekar nedåt, sakkonflikt minst. Det går alltså inte att säga att konflikt är nyttigt. Det som går att säga är att saklig oenighet är den minst skadliga formen, och att den kan fungera när tryggheten i gruppen är hög och tonen saklig. Den stora risken är glidningen: det som börjar i sak blir personligt.</a:t>
            </a:r>
          </a:p>
          <a:p>
            <a:endParaRPr/>
          </a:p>
          <a:p>
            <a:r>
              <a:t>BAKGRUND:</a:t>
            </a:r>
          </a:p>
          <a:p>
            <a:r>
              <a:t>Yuan m.fl. (2026), 268 urval, uppdaterar de Wit m.fl. (2012), som med 116 studier fann −0,01 för sak, −0,16 för relation och −0,15 för process. Status bygger på 15 urval och process på 40, och osäkerhetsintervallen för relation, process och status överlappar: därför går det inte att säga att någon av dem är värst. De Wit m.fl. (2012): sambandet för sakkonflikt var mer positivt när prestationen mättes som beslutskvalitet än som allmän prestation, och mer negativt ju starkare sak- och relationskonflikt följdes åt i grupperna (−0,35 mot −0,10). Sakkonflikt hängde ihop med lägre tillit (−0,45) och trivsel (−0,24). Bradley m.fl. (2012): 117 projektgrupper, sakkonflikt hjälpte bara vid hög psykologisk trygghet, men det är en enda studie. Weingart m.fl. (2015) är en teoretisk artikel om uttryckssätt: rakt men med låg intensitet. Yu och Wei (2025), 32 longitudinella studier: tidig sakkonflikt förutsäger senare relationskonflikt, inte tvärtom. Jordans (2006) distinktion håller: tvister är ofta formbundna, relationskonflikter formlösa, och formlösheten påskyndar eskalationen. Statuskonflikt liknar Jordans positionskonflikt i dess informella form: vem har sista ordet.</a:t>
            </a:r>
          </a:p>
          <a:p>
            <a:endParaRPr/>
          </a:p>
          <a:p>
            <a:r>
              <a:t>REFERENSER:</a:t>
            </a:r>
          </a:p>
          <a:p>
            <a:r>
              <a:t>Bradley, B. H., Postlethwaite, B. E., Klotz, A. C., Hamdani, M. R., &amp; Brown, K. G. (2012). Reaping the benefits of task conflict in teams: The critical role of team psychological safety climate. </a:t>
            </a:r>
            <a:r>
              <a:rPr i="1"/>
              <a:t>Journal of Applied Psychology, 97</a:t>
            </a:r>
            <a:r>
              <a:t>(1), 151–158. </a:t>
            </a:r>
            <a:r>
              <a:rPr>
                <a:hlinkClick r:id="rId3"/>
              </a:rPr>
              <a:t>https://doi.org/10.1037/a0024200</a:t>
            </a:r>
          </a:p>
          <a:p>
            <a:r>
              <a:t>de Wit, F. R. C., Greer, L. L., &amp; Jehn, K. A. (2012). The paradox of intragroup conflict: A meta-analysis. </a:t>
            </a:r>
            <a:r>
              <a:rPr i="1"/>
              <a:t>Journal of Applied Psychology, 97</a:t>
            </a:r>
            <a:r>
              <a:t>(2), 360–390. </a:t>
            </a:r>
            <a:r>
              <a:rPr>
                <a:hlinkClick r:id="rId4"/>
              </a:rPr>
              <a:t>https://doi.org/10.1037/a0024844</a:t>
            </a:r>
          </a:p>
          <a:p>
            <a:r>
              <a:t>Jordan, T. (2006). </a:t>
            </a:r>
            <a:r>
              <a:rPr i="1"/>
              <a:t>Konfliktkunskapens ABC</a:t>
            </a:r>
            <a:r>
              <a:t> (version 2). Göteborgs universitet. </a:t>
            </a:r>
            <a:r>
              <a:rPr>
                <a:hlinkClick r:id="rId5"/>
              </a:rPr>
              <a:t>https://www.gu.se/sites/default/files/2020-09/Konfliktkunskapens%20ABC.pdf</a:t>
            </a:r>
          </a:p>
          <a:p>
            <a:r>
              <a:t>Weingart, L. R., Behfar, K. J., Bendersky, C., Todorova, G., &amp; Jehn, K. A. (2015). The directness and oppositional intensity of conflict expression. </a:t>
            </a:r>
            <a:r>
              <a:rPr i="1"/>
              <a:t>Academy of Management Review, 40</a:t>
            </a:r>
            <a:r>
              <a:t>(2), 235–262. </a:t>
            </a:r>
            <a:r>
              <a:rPr>
                <a:hlinkClick r:id="rId6"/>
              </a:rPr>
              <a:t>https://doi.org/10.5465/amr.2013.0124</a:t>
            </a:r>
          </a:p>
          <a:p>
            <a:r>
              <a:t>Yu, J., &amp; Wei, X. (2025). Whether and when team task conflict and relationship conflict transform over time: A meta-analysis based on cross-lagged panel model. </a:t>
            </a:r>
            <a:r>
              <a:rPr i="1"/>
              <a:t>International Journal of Conflict Management, 36</a:t>
            </a:r>
            <a:r>
              <a:t>(2), 452–479. </a:t>
            </a:r>
            <a:r>
              <a:rPr>
                <a:hlinkClick r:id="rId7"/>
              </a:rPr>
              <a:t>https://doi.org/10.1108/IJCMA-09-2024-0238</a:t>
            </a:r>
          </a:p>
          <a:p>
            <a:r>
              <a:t>Yuan, Z., Yin, J., &amp; Sun, J. (2026). The paradox of team conflict revisited: An updated meta-analysis of the team conflict–team performance relationships. </a:t>
            </a:r>
            <a:r>
              <a:rPr i="1"/>
              <a:t>Journal of Applied Psychology, 111</a:t>
            </a:r>
            <a:r>
              <a:t>(2), 195–224. </a:t>
            </a:r>
            <a:r>
              <a:rPr>
                <a:hlinkClick r:id="rId8"/>
              </a:rPr>
              <a:t>https://doi.org/10.1037/apl0001315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Konflikter handlar i grund och botten oftast om behov som inte tillgodosetts, men parterna är inte alltid medvetna om vilka. Det är lättare att respektera motparten och hitta kreativa lösningar om vi riktar blicken mot behoven bakom kraven snarare än mot kraven själva. Kan vi se att motparten försöker värna ett grundbehov blir agerandet begripligt, även om vi tycker att hen har fel i sak. Listan är Jordans (2006) lista över behov som ofta förekommer i arbetsplatskonflikter. Vi har alla dessa gemensamt, men olika starkt. Vi bör inte utan goda skäl blankt avfärda krav som är uttryck för grundbehov.</a:t>
            </a:r>
          </a:p>
          <a:p>
            <a:endParaRPr/>
          </a:p>
          <a:p>
            <a:r>
              <a:t>REFERENSER:</a:t>
            </a:r>
          </a:p>
          <a:p>
            <a:r>
              <a:t>Jordan, T. (2006). </a:t>
            </a:r>
            <a:r>
              <a:rPr i="1"/>
              <a:t>Konfliktkunskapens ABC</a:t>
            </a:r>
            <a:r>
              <a:t> (version 2). Göteborgs universitet. </a:t>
            </a:r>
            <a:r>
              <a:rPr>
                <a:hlinkClick r:id="rId3"/>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Tänk på en konflikt ni sett eller varit del av på en arbetsplats, utan att nämna namn. Skriv i chatten: vilket hörn i triangeln låg tyngdpunkten i, och vilket behov tror ni var blockerat för den andra parten?</a:t>
            </a:r>
          </a:p>
          <a:p>
            <a:endParaRPr/>
          </a:p>
          <a:p>
            <a:r>
              <a:t>BAKGRUND:</a:t>
            </a:r>
          </a:p>
          <a:p>
            <a:r>
              <a:t>Cirka tre minuter, därefter några upplästa svar. Det vanliga är att många hamnar i A-hörnet och att behovet bakom ofta är respekt eller att bli sedd.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 2 bygger på Friedrich Glasls eskalationsmodell, sammanfattad av Thomas Jordan (u.å.). Glasl intervjuade parter i konflikter om vilka händelser de upplevde som vändpunkter, och fann nio steg som verkar gälla generellt. Stegen definieras av vilka normer som styr hur parterna beter sig mot varandra. Trappan är både ett diagnosinstrument och ett pedagogiskt verktyg för att bli medveten om hur vi själva kan undvika eskalation.</a:t>
            </a:r>
          </a:p>
          <a:p>
            <a:endParaRPr/>
          </a:p>
          <a:p>
            <a:r>
              <a:t>REFERENSER:</a:t>
            </a:r>
          </a:p>
          <a:p>
            <a:r>
              <a:t>Jordan, T. (u.å.). </a:t>
            </a:r>
            <a:r>
              <a:rPr i="1"/>
              <a:t>Konflikters eskalation</a:t>
            </a:r>
            <a:r>
              <a:t>. Göteborgs universitet. </a:t>
            </a:r>
            <a:r>
              <a:rPr>
                <a:hlinkClick r:id="rId3"/>
              </a:rPr>
              <a:t>https://www.gu.se/sites/default/files/2020-09/Konflikters%20eskalation.pdf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Här är hela trappan (Jordan, u.å.). Nio steg som grupperas i tre faser. Fas 1, steg 1–3: parterna kan fortfarande båda vinna, samarbete och konkurrens blandas. Fas 2, steg 4–6: konflikten handlar om vinst eller förlust, sakfrågorna sjunker undan och relationen står i centrum. Fas 3, steg 7–9: båda förlorar, det handlar om att skada motparten, till sist även till priset av egen undergång. Poängen med trappan är att varje steg har en tröskel. Vet vi var tröskeln går kan vi känna igen när vi själva är på väg att ta klivet. Vi tar en fas i taget.</a:t>
            </a:r>
          </a:p>
          <a:p>
            <a:endParaRPr/>
          </a:p>
          <a:p>
            <a:r>
              <a:t>Nytt i version 3, och värt att säga högt: trappan är en karta byggd på Glasls erfarenhet och intervjuer, inte en empiriskt prövad lag. Forskare som försökte bygga ett mätinstrument för stegen (Scheppa-Lahyani &amp; Zapf, 2023) skriver själva att det finns lite empirisk forskning, eftersom eskalation är svår att mäta. Den är ett språk och ett varningssystem, inte en diagnos. Mobbningsforskningen (Zapf &amp; Gross, 2001) placerar typiska mobbningsfall kring gränsen mellan fas 2 och 3. Alla tre faserna i detalj finns som dolda extrabilder sist i filen. I bildspelet går vi direkt till de fyra tidiga trösklarna.</a:t>
            </a:r>
          </a:p>
          <a:p>
            <a:endParaRPr/>
          </a:p>
          <a:p>
            <a:r>
              <a:t>REFERENSER:</a:t>
            </a:r>
          </a:p>
          <a:p>
            <a:r>
              <a:t>Jordan, T. (u.å.). </a:t>
            </a:r>
            <a:r>
              <a:rPr i="1"/>
              <a:t>Konflikters eskalation</a:t>
            </a:r>
            <a:r>
              <a:t>. Göteborgs universitet. </a:t>
            </a:r>
            <a:r>
              <a:rPr>
                <a:hlinkClick r:id="rId3"/>
              </a:rPr>
              <a:t>https://www.gu.se/sites/default/files/2020-09/Konflikters%20eskalation.pdf</a:t>
            </a:r>
          </a:p>
          <a:p>
            <a:r>
              <a:t>Scheppa-Lahyani, M. N., &amp; Zapf, D. (2023). Are you threatening me? Development and validation of the Conflict Escalation Questionnaire. </a:t>
            </a:r>
            <a:r>
              <a:rPr i="1"/>
              <a:t>Frontiers in Psychology, 14</a:t>
            </a:r>
            <a:r>
              <a:t>, Artikel 1164990. </a:t>
            </a:r>
            <a:r>
              <a:rPr>
                <a:hlinkClick r:id="rId4"/>
              </a:rPr>
              <a:t>https://doi.org/10.3389/fpsyg.2023.1164990</a:t>
            </a:r>
          </a:p>
          <a:p>
            <a:r>
              <a:t>Zapf, D., &amp; Gross, C. (2001). Conflict escalation and coping with workplace bullying: A replication and extension. </a:t>
            </a:r>
            <a:r>
              <a:rPr i="1"/>
              <a:t>European Journal of Work and Organizational Psychology, 10</a:t>
            </a:r>
            <a:r>
              <a:t>(4), 497–522. </a:t>
            </a:r>
            <a:r>
              <a:rPr>
                <a:hlinkClick r:id="rId5"/>
              </a:rPr>
              <a:t>https://doi.org/10.1080/13594320143000834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Poängen med trappan är trösklarna. Vet vi var de går kan vi känna igen när vi själva är på väg att ta klivet. Den första: någon tappar tron på ärlig argumentation och tar till knep. Den andra: någon agerar utan att fråga och ställer den andre inför fullbordat faktum. Den tredje är den viktigaste för oss: kritiken slutar gälla saken och börjar gälla personen, ofta förtäckt, som ironi och antydningar. Det är samma glidning som forskningen beskriver när sakkonflikt blir relationskonflikt. Den fjärde: någon kränker avsiktligt den andres anseende inför andra. Dit vill vi aldrig komma. Och remsan längst ner är bron till del 3: under tiden händer saker inom oss som vi inte märker.</a:t>
            </a:r>
          </a:p>
          <a:p>
            <a:endParaRPr/>
          </a:p>
          <a:p>
            <a:r>
              <a:t>BAKGRUND:</a:t>
            </a:r>
          </a:p>
          <a:p>
            <a:r>
              <a:t>Trösklarna kommer ur Jordans (u.å.) sammanfattning av Glasl. Jordans egna termer är kvasi-rationella argument (steg 2) och dementerbart straffbeteende (steg 4), jag har bytt dem mot vardagsord. De fullständiga beskrivningarna av steg 1 till 9 finns som dolda extrabilder sist i filen. Forskningsstöd för den tredje tröskeln: oförskämdhet, skuldbeläggning och hårt språk driver glidningen från sak till person (Almost m.fl., 2016), och tidig sakkonflikt förutsäger senare relationskonflikt (Yu &amp; Wei, 2025). Remsan sammanfattar Jordans tre förändringar i A-hörnet: selektiv varseblivning, minskad empati och en motivation som förskjuts mot att skada motparten.</a:t>
            </a:r>
          </a:p>
          <a:p>
            <a:endParaRPr/>
          </a:p>
          <a:p>
            <a:r>
              <a:t>REFERENSER:</a:t>
            </a:r>
          </a:p>
          <a:p>
            <a:r>
              <a:t>Almost, J., Wolff, A. C., Stewart-Pyne, A., McCormick, L. G., Strachan, D., &amp; D'Souza, C. (2016). Managing and mitigating conflict in healthcare teams: An integrative review. </a:t>
            </a:r>
            <a:r>
              <a:rPr i="1"/>
              <a:t>Journal of Advanced Nursing, 72</a:t>
            </a:r>
            <a:r>
              <a:t>(7), 1490–1505. </a:t>
            </a:r>
            <a:r>
              <a:rPr>
                <a:hlinkClick r:id="rId3"/>
              </a:rPr>
              <a:t>https://doi.org/10.1111/jan.12903</a:t>
            </a:r>
          </a:p>
          <a:p>
            <a:r>
              <a:t>Jordan, T. (u.å.). </a:t>
            </a:r>
            <a:r>
              <a:rPr i="1"/>
              <a:t>Konflikters eskalation</a:t>
            </a:r>
            <a:r>
              <a:t>. Göteborgs universitet. </a:t>
            </a:r>
            <a:r>
              <a:rPr>
                <a:hlinkClick r:id="rId4"/>
              </a:rPr>
              <a:t>https://www.gu.se/sites/default/files/2020-09/Konflikters%20eskalation.pdf</a:t>
            </a:r>
          </a:p>
          <a:p>
            <a:r>
              <a:t>Yu, J., &amp; Wei, X. (2025). Whether and when team task conflict and relationship conflict transform over time: A meta-analysis based on cross-lagged panel model. </a:t>
            </a:r>
            <a:r>
              <a:rPr i="1"/>
              <a:t>International Journal of Conflict Management, 36</a:t>
            </a:r>
            <a:r>
              <a:t>(2), 452–479. </a:t>
            </a:r>
            <a:r>
              <a:rPr>
                <a:hlinkClick r:id="rId5"/>
              </a:rPr>
              <a:t>https://doi.org/10.1108/IJCMA-09-2024-0238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Trappan visar hur illa det kan gå. Den här bilden handlar om vad man gör, och poängen är att medicinen beror på konflikttypen.</a:t>
            </a:r>
          </a:p>
          <a:p>
            <a:endParaRPr/>
          </a:p>
          <a:p>
            <a:r>
              <a:t>Sak- och processkonflikt tål öppenhet. Team som höll över tid i studien av Behfar m.fl. (2008), med 57 team, tog diskussionen med fakta, förklarade varför ett beslut eller en arbetsfördelning blev som den blev, och redde ut roller och tidsfrister tidigt. Tidig klarhet om vem som gör vad förebygger senare processkonflikt.</a:t>
            </a:r>
          </a:p>
          <a:p>
            <a:endParaRPr/>
          </a:p>
          <a:p>
            <a:r>
              <a:t>Relationskonflikt är annorlunda. Jehn och Bendersky (2003) fann att öppenhetsnormer och öppet ventilerande i gruppen förstärker skadan av relationskonflikt. I Behfars studie försökte fem lågpresterande team prata ut om sina relationskonflikter, och inget av dem tyckte att det hjälpte. Det stämmer med Jordans (2006) råd från ABC-modellen: i en eskalerad konflikt börjar man i B-hörnet, stoppar destruktivt beteende och inför spelregler, innan attityder och sakfrågor kan bearbetas. Ta hellre hjälp av en tredje part än att försöka prata ut inför hela gruppen.</a:t>
            </a:r>
          </a:p>
          <a:p>
            <a:endParaRPr/>
          </a:p>
          <a:p>
            <a:r>
              <a:t>Siffran längst ner: i en metaanalys av DeChurch m.fl. (2013, refererad i O'Neill &amp; McLarnon, 2018) förklarade konflikthanteringen 13 procentenheter av skillnaderna i prestation utöver konflikttyperna, medan konflikttyperna bara tillförde 2 utöver hanteringen. Jämförelsen gäller sak- och relationskonflikt, processkonflikt undersöktes inte där.</a:t>
            </a:r>
          </a:p>
          <a:p>
            <a:endParaRPr/>
          </a:p>
          <a:p>
            <a:r>
              <a:t>BAKGRUND:</a:t>
            </a:r>
          </a:p>
          <a:p>
            <a:r>
              <a:t>Förbehåll: Behfars team var MBA-studenter utan chef, alltså en illustration snarare än ett bevis.</a:t>
            </a:r>
          </a:p>
          <a:p>
            <a:endParaRPr/>
          </a:p>
          <a:p>
            <a:r>
              <a:t>REFERENSER:</a:t>
            </a:r>
          </a:p>
          <a:p>
            <a:r>
              <a:t>Behfar, K. J., Peterson, R. S., Mannix, E. A., &amp; Trochim, W. M. K. (2008). The critical role of conflict resolution in teams: A close look at the links between conflict type, conflict management strategies, and team outcomes. </a:t>
            </a:r>
            <a:r>
              <a:rPr i="1"/>
              <a:t>Journal of Applied Psychology, 93</a:t>
            </a:r>
            <a:r>
              <a:t>(1), 170–188. </a:t>
            </a:r>
            <a:r>
              <a:rPr>
                <a:hlinkClick r:id="rId3"/>
              </a:rPr>
              <a:t>https://doi.org/10.1037/0021-9010.93.1.170</a:t>
            </a:r>
          </a:p>
          <a:p>
            <a:r>
              <a:t>Jehn, K. A., &amp; Bendersky, C. (2003). Intragroup conflict in organizations: A contingency perspective on the conflict-outcome relationship. </a:t>
            </a:r>
            <a:r>
              <a:rPr i="1"/>
              <a:t>Research in Organizational Behavior, 25</a:t>
            </a:r>
            <a:r>
              <a:t>, 187–242. </a:t>
            </a:r>
            <a:r>
              <a:rPr>
                <a:hlinkClick r:id="rId4"/>
              </a:rPr>
              <a:t>https://doi.org/10.1016/S0191-3085(03)25005-X</a:t>
            </a:r>
          </a:p>
          <a:p>
            <a:r>
              <a:t>Jordan, T. (2006). </a:t>
            </a:r>
            <a:r>
              <a:rPr i="1"/>
              <a:t>Konfliktkunskapens ABC</a:t>
            </a:r>
            <a:r>
              <a:t> (version 2). Göteborgs universitet. </a:t>
            </a:r>
            <a:r>
              <a:rPr>
                <a:hlinkClick r:id="rId5"/>
              </a:rPr>
              <a:t>https://www.gu.se/sites/default/files/2020-09/Konfliktkunskapens%20ABC.pdf</a:t>
            </a:r>
          </a:p>
          <a:p>
            <a:r>
              <a:t>O'Neill, T. A., &amp; McLarnon, M. J. W. (2018). Optimizing team conflict dynamics for high performance teamwork. </a:t>
            </a:r>
            <a:r>
              <a:rPr i="1"/>
              <a:t>Human Resource Management Review, 28</a:t>
            </a:r>
            <a:r>
              <a:t>(4), 378–394. </a:t>
            </a:r>
            <a:r>
              <a:rPr>
                <a:hlinkClick r:id="rId6"/>
              </a:rPr>
              <a:t>https://doi.org/10.1016/j.hrmr.2017.06.002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Vart vänder man sig när man inte kan lösa det själv? Först: ta upp det tidigt med den det gäller. Går det inte, gå till närmaste chef. Kan du inte gå till din närmaste chef, gå till chefen över. Och skyddsombudet är alltid en möjlig väg, vid sidan av cheferna. Det här är den väg Arbetsmiljöverket beskriver för kränkande särbehandling, och den fungerar lika bra för en konflikt som har låst sig. Till höger står vad arbetsgivaren är skyldig att göra. Fråga er själva: vet jag vilka rutiner som gäller hos oss, och vem som är skyddsombud? Och vänta inte. Det är framför allt när vi undviker eller ger efter som konflikter hänger ihop med utmattning.</a:t>
            </a:r>
          </a:p>
          <a:p>
            <a:endParaRPr/>
          </a:p>
          <a:p>
            <a:r>
              <a:t>BAKGRUND:</a:t>
            </a:r>
          </a:p>
          <a:p>
            <a:r>
              <a:t>AFS 2015:4 är upphävd. Reglerna finns sedan 1 januari 2025 i AFS 2023:2, kapitel 2 (Arbetsmiljöverket, 2023). Paragraf 10 och 11 är bindande och gäller kränkande särbehandling: handlingar som riktas mot någon på ett kränkande sätt och som kan leda till ohälsa eller att man ställs utanför gemenskapen. En vanlig konflikt är inte kränkande särbehandling, men de allmänna råden till paragraf 10 nämner uttryckligen konflikter som ett förhållande arbetsgivaren ska vara uppmärksam på. Vägen chef, högre chef, skyddsombud står i de allmänna råden till paragraf 11, och allmänna råd är vägledning, inte tvingande regler. De tre punkterna i den röda rutan är däremot paragraftext. Dijkstra m.fl. (2009), tre nederländska urval: konflikt hängde ihop med stress och utmattning framför allt vid passiv hantering. Hao m.fl. (2022), metaanalys om tystnad på jobbet, pekar åt samma håll. Allt är tvärsnitt, och inget experiment har prövat rådet att ta det tidigt. Chefens roll: norsk forskning (Skogstad m.fl., 2007; Ågotnes m.fl., 2018) visar att konflikter mellan kollegor oftare utvecklas till mobbning under en chef som låter det bero, och kopplingen är svagare i grupper med gott klimat för konflikthantering (Zahlquist m.fl., 2019).</a:t>
            </a:r>
          </a:p>
          <a:p>
            <a:endParaRPr/>
          </a:p>
          <a:p>
            <a:r>
              <a:t>REFERENSER:</a:t>
            </a:r>
          </a:p>
          <a:p>
            <a:r>
              <a:t>Arbetsmiljöverket. (2023). </a:t>
            </a:r>
            <a:r>
              <a:rPr i="1"/>
              <a:t>Planering och organisering av arbetsmiljöarbete: Grundläggande skyldigheter för dig med arbetsgivaransvar</a:t>
            </a:r>
            <a:r>
              <a:t> (AFS 2023:2). </a:t>
            </a:r>
            <a:r>
              <a:rPr>
                <a:hlinkClick r:id="rId3"/>
              </a:rPr>
              <a:t>https://www.av.se/globalassets/filer/publikationer/foreskrifter/planering-och-organisering-av-arbetsmiljoarbete-grundlaggande-skyldigheter-for-dig-med-arbetsgivaransvar-afs2023-2.pdf</a:t>
            </a:r>
          </a:p>
          <a:p>
            <a:r>
              <a:t>Dijkstra, M. T. M., De Dreu, C. K. W., Evers, A., &amp; van Dierendonck, D. (2009). Passive responses to interpersonal conflict at work amplify employee strain. </a:t>
            </a:r>
            <a:r>
              <a:rPr i="1"/>
              <a:t>European Journal of Work and Organizational Psychology, 18</a:t>
            </a:r>
            <a:r>
              <a:t>(4), 405–423. </a:t>
            </a:r>
            <a:r>
              <a:rPr>
                <a:hlinkClick r:id="rId4"/>
              </a:rPr>
              <a:t>https://doi.org/10.1080/13594320802510880</a:t>
            </a:r>
          </a:p>
          <a:p>
            <a:r>
              <a:t>Hao, L., Zhu, H., He, Y., Duan, J., Zhao, T., &amp; Meng, H. (2022). When is silence golden? A meta-analysis on antecedents and outcomes of employee silence. </a:t>
            </a:r>
            <a:r>
              <a:rPr i="1"/>
              <a:t>Journal of Business and Psychology, 37</a:t>
            </a:r>
            <a:r>
              <a:t>(5), 1039–1063. </a:t>
            </a:r>
            <a:r>
              <a:rPr>
                <a:hlinkClick r:id="rId5"/>
              </a:rPr>
              <a:t>https://doi.org/10.1007/s10869-021-09788-7</a:t>
            </a:r>
          </a:p>
          <a:p>
            <a:r>
              <a:t>Skogstad, A., Einarsen, S., Torsheim, T., Aasland, M. S., &amp; Hetland, H. (2007). The destructiveness of laissez-faire leadership behavior. </a:t>
            </a:r>
            <a:r>
              <a:rPr i="1"/>
              <a:t>Journal of Occupational Health Psychology, 12</a:t>
            </a:r>
            <a:r>
              <a:t>(1), 80–92. </a:t>
            </a:r>
            <a:r>
              <a:rPr>
                <a:hlinkClick r:id="rId6"/>
              </a:rPr>
              <a:t>https://doi.org/10.1037/1076-8998.12.1.80</a:t>
            </a:r>
          </a:p>
          <a:p>
            <a:r>
              <a:t>Zahlquist, L., Hetland, J., Skogstad, A., Bakker, A. B., &amp; Einarsen, S. V. (2019). Job demands as risk factors of exposure to bullying at work: The moderating role of team-level conflict management climate. </a:t>
            </a:r>
            <a:r>
              <a:rPr i="1"/>
              <a:t>Frontiers in Psychology, 10</a:t>
            </a:r>
            <a:r>
              <a:t>, Artikel 2017. </a:t>
            </a:r>
            <a:r>
              <a:rPr>
                <a:hlinkClick r:id="rId7"/>
              </a:rPr>
              <a:t>https://doi.org/10.3389/fpsyg.2019.02017</a:t>
            </a:r>
          </a:p>
          <a:p>
            <a:r>
              <a:t>Ågotnes, K. W., Einarsen, S. V., Hetland, J., &amp; Skogstad, A. (2018). The moderating effect of laissez-faire leadership on the relationship between co-worker conflicts and new cases of workplace bullying: A true prospective design. </a:t>
            </a:r>
            <a:r>
              <a:rPr i="1"/>
              <a:t>Human Resource Management Journal, 28</a:t>
            </a:r>
            <a:r>
              <a:t>(4), 555–568. </a:t>
            </a:r>
            <a:r>
              <a:rPr>
                <a:hlinkClick r:id="rId8"/>
              </a:rPr>
              <a:t>https://doi.org/10.1111/1748-8583.12200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Fem minuters paus. Vi börjar igen klockan ___. Del 3 vänder sedan blicken inåt.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 3 bygger på Thomas Jordans artikel Brist på självinsikt: en viktig orsak till elakartade konflikter (Jordan, 2002). Här menar självinsikt inte insikt om vilken sorts person man är, utan medvetenhet om de processer som ständigt pågår i det egna inre: sinnesintryck, tankar, känslor, tyckanden, önskningar och handlingsimpulser.</a:t>
            </a:r>
          </a:p>
          <a:p>
            <a:endParaRPr/>
          </a:p>
          <a:p>
            <a:r>
              <a:t>REFERENSER:</a:t>
            </a:r>
          </a:p>
          <a:p>
            <a:r>
              <a:t>Jordan, T. (2002). </a:t>
            </a:r>
            <a:r>
              <a:rPr i="1"/>
              <a:t>Brist på självinsikt: En viktig orsak till elakartade konflikter</a:t>
            </a:r>
            <a:r>
              <a:t>. Göteborgs universitet. </a:t>
            </a:r>
            <a:r>
              <a:rPr>
                <a:hlinkClick r:id="rId3"/>
              </a:rPr>
              <a:t>https://www.gu.se/sites/default/files/2020-09/Sja%CC%88lvinsikt%20.pdf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Kärnidén bygger på psykologen Robert Kegans skillnad mellan subjekt och objekt (Kegan, refererad i Jordan, 2002). När en inre process är subjekt styr den direkt vad vi säger och gör, utan reflektion. När vi kan ta den som objekt kan vi betrakta den, värdera den och välja vad vi gör med den. Den del av jaget som kan betrakta kallar Jordan vittnessjälvet. Självinsikt utvecklas i tre faser. Först varsebli: lägga märke till att jag har en känsla, en tolkning, en impuls. Sedan tolka och utvärdera: är den rimlig, önskvärd, förenlig med mina värden? Sist transformera: aktivt arbeta med att förändra den. Varför är detta viktigt i konflikter? Den som har känslorna som subjekt upplever varje förslag om att påverka känslorna som ett angrepp på sin kärna. Den som har tyckandet som subjekt upplever att motparten är obehaglig, inte att jag känner obehag, och kan då utan hämningar behandla motparten som en dålig människa.</a:t>
            </a:r>
          </a:p>
          <a:p>
            <a:endParaRPr/>
          </a:p>
          <a:p>
            <a:r>
              <a:t>REFERENSER:</a:t>
            </a:r>
          </a:p>
          <a:p>
            <a:r>
              <a:t>Jordan, T. (2002). </a:t>
            </a:r>
            <a:r>
              <a:rPr i="1"/>
              <a:t>Brist på självinsikt: En viktig orsak till elakartade konflikter</a:t>
            </a:r>
            <a:r>
              <a:t>. Göteborgs universitet. </a:t>
            </a:r>
            <a:r>
              <a:rPr>
                <a:hlinkClick r:id="rId3"/>
              </a:rPr>
              <a:t>https://www.gu.se/sites/default/files/2020-09/Sja%CC%88lvinsikt%20.pdf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SÄG:</a:t>
            </a:r>
          </a:p>
          <a:p>
            <a:r>
              <a:rPr dirty="0" err="1"/>
              <a:t>Förra bilden slutade i ordet förändra. Men hur gör man? Här är fyra tankegrepp med stöd i experiment. Ett: byt perspektiv. Fråga vad den andre tänker och vill, inte bara vad hen känner. I ett förhandlingsexperiment nådde tre av fyra en uppgörelse med det greppet, mot fyra av tio utan. Två: zooma ut. Vi är klokare om andras problem än om våra egna, så fråga vad du skulle råda en vän. Tre: väg in bådas intressen. Att alltid ge med sig fungerar inte i längden, och att alltid köra över fräter på tilliten. Fyra: tolka om. Beskriv det som hände så som en neutral tredje part som vill er båda väl skulle göra. Och den gula remsan längst ner säger det ärligt: det här är lovande, inte bevisat på arbetsplatser.</a:t>
            </a:r>
          </a:p>
          <a:p>
            <a:endParaRPr dirty="0"/>
          </a:p>
          <a:p>
            <a:r>
              <a:rPr dirty="0"/>
              <a:t>BAKGRUND:</a:t>
            </a:r>
          </a:p>
          <a:p>
            <a:r>
              <a:rPr dirty="0"/>
              <a:t>Galinsky </a:t>
            </a:r>
            <a:r>
              <a:rPr dirty="0" err="1"/>
              <a:t>m.fl</a:t>
            </a:r>
            <a:r>
              <a:rPr dirty="0"/>
              <a:t>. (2008): </a:t>
            </a:r>
            <a:r>
              <a:rPr dirty="0" err="1"/>
              <a:t>studenter</a:t>
            </a:r>
            <a:r>
              <a:rPr dirty="0"/>
              <a:t> </a:t>
            </a:r>
            <a:r>
              <a:rPr dirty="0" err="1"/>
              <a:t>på</a:t>
            </a:r>
            <a:r>
              <a:rPr dirty="0"/>
              <a:t> </a:t>
            </a:r>
            <a:r>
              <a:rPr dirty="0" err="1"/>
              <a:t>en</a:t>
            </a:r>
            <a:r>
              <a:rPr dirty="0"/>
              <a:t> </a:t>
            </a:r>
            <a:r>
              <a:rPr dirty="0" err="1"/>
              <a:t>ledarutbildning</a:t>
            </a:r>
            <a:r>
              <a:rPr dirty="0"/>
              <a:t> </a:t>
            </a:r>
            <a:r>
              <a:rPr dirty="0" err="1"/>
              <a:t>förhandlade</a:t>
            </a:r>
            <a:r>
              <a:rPr dirty="0"/>
              <a:t> </a:t>
            </a:r>
            <a:r>
              <a:rPr dirty="0" err="1"/>
              <a:t>i</a:t>
            </a:r>
            <a:r>
              <a:rPr dirty="0"/>
              <a:t> par. Perspektivtagande </a:t>
            </a:r>
            <a:r>
              <a:rPr dirty="0" err="1"/>
              <a:t>gav</a:t>
            </a:r>
            <a:r>
              <a:rPr dirty="0"/>
              <a:t> </a:t>
            </a:r>
            <a:r>
              <a:rPr dirty="0" err="1"/>
              <a:t>uppgörelse</a:t>
            </a:r>
            <a:r>
              <a:rPr dirty="0"/>
              <a:t> </a:t>
            </a:r>
            <a:r>
              <a:rPr dirty="0" err="1"/>
              <a:t>i</a:t>
            </a:r>
            <a:r>
              <a:rPr dirty="0"/>
              <a:t> 76 </a:t>
            </a:r>
            <a:r>
              <a:rPr dirty="0" err="1"/>
              <a:t>procent</a:t>
            </a:r>
            <a:r>
              <a:rPr dirty="0"/>
              <a:t> av </a:t>
            </a:r>
            <a:r>
              <a:rPr dirty="0" err="1"/>
              <a:t>paren</a:t>
            </a:r>
            <a:r>
              <a:rPr dirty="0"/>
              <a:t>, </a:t>
            </a:r>
            <a:r>
              <a:rPr dirty="0" err="1"/>
              <a:t>kontrollgruppen</a:t>
            </a:r>
            <a:r>
              <a:rPr dirty="0"/>
              <a:t> 39, och de </a:t>
            </a:r>
            <a:r>
              <a:rPr dirty="0" err="1"/>
              <a:t>som</a:t>
            </a:r>
            <a:r>
              <a:rPr dirty="0"/>
              <a:t> </a:t>
            </a:r>
            <a:r>
              <a:rPr dirty="0" err="1"/>
              <a:t>fick</a:t>
            </a:r>
            <a:r>
              <a:rPr dirty="0"/>
              <a:t> </a:t>
            </a:r>
            <a:r>
              <a:rPr dirty="0" err="1"/>
              <a:t>instruktionen</a:t>
            </a:r>
            <a:r>
              <a:rPr dirty="0"/>
              <a:t> </a:t>
            </a:r>
            <a:r>
              <a:rPr dirty="0" err="1"/>
              <a:t>att</a:t>
            </a:r>
            <a:r>
              <a:rPr dirty="0"/>
              <a:t> </a:t>
            </a:r>
            <a:r>
              <a:rPr dirty="0" err="1"/>
              <a:t>känna</a:t>
            </a:r>
            <a:r>
              <a:rPr dirty="0"/>
              <a:t> med </a:t>
            </a:r>
            <a:r>
              <a:rPr dirty="0" err="1"/>
              <a:t>motparten</a:t>
            </a:r>
            <a:r>
              <a:rPr dirty="0"/>
              <a:t> 54, </a:t>
            </a:r>
            <a:r>
              <a:rPr dirty="0" err="1"/>
              <a:t>inte</a:t>
            </a:r>
            <a:r>
              <a:rPr dirty="0"/>
              <a:t> </a:t>
            </a:r>
            <a:r>
              <a:rPr dirty="0" err="1"/>
              <a:t>säkert</a:t>
            </a:r>
            <a:r>
              <a:rPr dirty="0"/>
              <a:t> </a:t>
            </a:r>
            <a:r>
              <a:rPr dirty="0" err="1"/>
              <a:t>bättre</a:t>
            </a:r>
            <a:r>
              <a:rPr dirty="0"/>
              <a:t> </a:t>
            </a:r>
            <a:r>
              <a:rPr dirty="0" err="1"/>
              <a:t>än</a:t>
            </a:r>
            <a:r>
              <a:rPr dirty="0"/>
              <a:t> </a:t>
            </a:r>
            <a:r>
              <a:rPr dirty="0" err="1"/>
              <a:t>kontrollgruppen</a:t>
            </a:r>
            <a:r>
              <a:rPr dirty="0"/>
              <a:t>. Ju </a:t>
            </a:r>
            <a:r>
              <a:rPr dirty="0" err="1"/>
              <a:t>mer</a:t>
            </a:r>
            <a:r>
              <a:rPr dirty="0"/>
              <a:t> </a:t>
            </a:r>
            <a:r>
              <a:rPr dirty="0" err="1"/>
              <a:t>makt</a:t>
            </a:r>
            <a:r>
              <a:rPr dirty="0"/>
              <a:t> man </a:t>
            </a:r>
            <a:r>
              <a:rPr dirty="0" err="1"/>
              <a:t>har</a:t>
            </a:r>
            <a:r>
              <a:rPr dirty="0"/>
              <a:t>, </a:t>
            </a:r>
            <a:r>
              <a:rPr dirty="0" err="1"/>
              <a:t>desto</a:t>
            </a:r>
            <a:r>
              <a:rPr dirty="0"/>
              <a:t> </a:t>
            </a:r>
            <a:r>
              <a:rPr dirty="0" err="1"/>
              <a:t>sämre</a:t>
            </a:r>
            <a:r>
              <a:rPr dirty="0"/>
              <a:t> </a:t>
            </a:r>
            <a:r>
              <a:rPr dirty="0" err="1"/>
              <a:t>blir</a:t>
            </a:r>
            <a:r>
              <a:rPr dirty="0"/>
              <a:t> man </a:t>
            </a:r>
            <a:r>
              <a:rPr dirty="0" err="1"/>
              <a:t>på</a:t>
            </a:r>
            <a:r>
              <a:rPr dirty="0"/>
              <a:t> </a:t>
            </a:r>
            <a:r>
              <a:rPr dirty="0" err="1"/>
              <a:t>att</a:t>
            </a:r>
            <a:r>
              <a:rPr dirty="0"/>
              <a:t> ta </a:t>
            </a:r>
            <a:r>
              <a:rPr dirty="0" err="1"/>
              <a:t>andras</a:t>
            </a:r>
            <a:r>
              <a:rPr dirty="0"/>
              <a:t> </a:t>
            </a:r>
            <a:r>
              <a:rPr dirty="0" err="1"/>
              <a:t>perspektiv</a:t>
            </a:r>
            <a:r>
              <a:rPr dirty="0"/>
              <a:t>. Grossmann och Kross (2014): </a:t>
            </a:r>
            <a:r>
              <a:rPr dirty="0" err="1"/>
              <a:t>tre</a:t>
            </a:r>
            <a:r>
              <a:rPr dirty="0"/>
              <a:t> experiment, 693 </a:t>
            </a:r>
            <a:r>
              <a:rPr dirty="0" err="1"/>
              <a:t>deltagare</a:t>
            </a:r>
            <a:r>
              <a:rPr dirty="0"/>
              <a:t>. Finkel </a:t>
            </a:r>
            <a:r>
              <a:rPr dirty="0" err="1"/>
              <a:t>m.fl</a:t>
            </a:r>
            <a:r>
              <a:rPr dirty="0"/>
              <a:t>. (2013): 120 </a:t>
            </a:r>
            <a:r>
              <a:rPr dirty="0" err="1"/>
              <a:t>gifta</a:t>
            </a:r>
            <a:r>
              <a:rPr dirty="0"/>
              <a:t> par </a:t>
            </a:r>
            <a:r>
              <a:rPr dirty="0" err="1"/>
              <a:t>lottades</a:t>
            </a:r>
            <a:r>
              <a:rPr dirty="0"/>
              <a:t>, </a:t>
            </a:r>
            <a:r>
              <a:rPr dirty="0" err="1"/>
              <a:t>hälften</a:t>
            </a:r>
            <a:r>
              <a:rPr dirty="0"/>
              <a:t> </a:t>
            </a:r>
            <a:r>
              <a:rPr dirty="0" err="1"/>
              <a:t>skrev</a:t>
            </a:r>
            <a:r>
              <a:rPr dirty="0"/>
              <a:t> </a:t>
            </a:r>
            <a:r>
              <a:rPr dirty="0" err="1"/>
              <a:t>tre</a:t>
            </a:r>
            <a:r>
              <a:rPr dirty="0"/>
              <a:t> </a:t>
            </a:r>
            <a:r>
              <a:rPr dirty="0" err="1"/>
              <a:t>gånger</a:t>
            </a:r>
            <a:r>
              <a:rPr dirty="0"/>
              <a:t> under </a:t>
            </a:r>
            <a:r>
              <a:rPr dirty="0" err="1"/>
              <a:t>ett</a:t>
            </a:r>
            <a:r>
              <a:rPr dirty="0"/>
              <a:t> </a:t>
            </a:r>
            <a:r>
              <a:rPr dirty="0" err="1"/>
              <a:t>år</a:t>
            </a:r>
            <a:r>
              <a:rPr dirty="0"/>
              <a:t> </a:t>
            </a:r>
            <a:r>
              <a:rPr dirty="0" err="1"/>
              <a:t>i</a:t>
            </a:r>
            <a:r>
              <a:rPr dirty="0"/>
              <a:t> </a:t>
            </a:r>
            <a:r>
              <a:rPr dirty="0" err="1"/>
              <a:t>sju</a:t>
            </a:r>
            <a:r>
              <a:rPr dirty="0"/>
              <a:t> minuter om </a:t>
            </a:r>
            <a:r>
              <a:rPr dirty="0" err="1"/>
              <a:t>sitt</a:t>
            </a:r>
            <a:r>
              <a:rPr dirty="0"/>
              <a:t> </a:t>
            </a:r>
            <a:r>
              <a:rPr dirty="0" err="1"/>
              <a:t>senaste</a:t>
            </a:r>
            <a:r>
              <a:rPr dirty="0"/>
              <a:t> </a:t>
            </a:r>
            <a:r>
              <a:rPr dirty="0" err="1"/>
              <a:t>gräl</a:t>
            </a:r>
            <a:r>
              <a:rPr dirty="0"/>
              <a:t> </a:t>
            </a:r>
            <a:r>
              <a:rPr dirty="0" err="1"/>
              <a:t>ur</a:t>
            </a:r>
            <a:r>
              <a:rPr dirty="0"/>
              <a:t> </a:t>
            </a:r>
            <a:r>
              <a:rPr dirty="0" err="1"/>
              <a:t>en</a:t>
            </a:r>
            <a:r>
              <a:rPr dirty="0"/>
              <a:t> neutral </a:t>
            </a:r>
            <a:r>
              <a:rPr dirty="0" err="1"/>
              <a:t>tredje</a:t>
            </a:r>
            <a:r>
              <a:rPr dirty="0"/>
              <a:t> parts </a:t>
            </a:r>
            <a:r>
              <a:rPr dirty="0" err="1"/>
              <a:t>perspektiv</a:t>
            </a:r>
            <a:r>
              <a:rPr dirty="0"/>
              <a:t>, </a:t>
            </a:r>
            <a:r>
              <a:rPr dirty="0" err="1"/>
              <a:t>vad</a:t>
            </a:r>
            <a:r>
              <a:rPr dirty="0"/>
              <a:t> </a:t>
            </a:r>
            <a:r>
              <a:rPr dirty="0" err="1"/>
              <a:t>som</a:t>
            </a:r>
            <a:r>
              <a:rPr dirty="0"/>
              <a:t> </a:t>
            </a:r>
            <a:r>
              <a:rPr dirty="0" err="1"/>
              <a:t>hindrar</a:t>
            </a:r>
            <a:r>
              <a:rPr dirty="0"/>
              <a:t> dem </a:t>
            </a:r>
            <a:r>
              <a:rPr dirty="0" err="1"/>
              <a:t>från</a:t>
            </a:r>
            <a:r>
              <a:rPr dirty="0"/>
              <a:t> det </a:t>
            </a:r>
            <a:r>
              <a:rPr dirty="0" err="1"/>
              <a:t>perspektivet</a:t>
            </a:r>
            <a:r>
              <a:rPr dirty="0"/>
              <a:t> och </a:t>
            </a:r>
            <a:r>
              <a:rPr dirty="0" err="1"/>
              <a:t>hur</a:t>
            </a:r>
            <a:r>
              <a:rPr dirty="0"/>
              <a:t> de ska </a:t>
            </a:r>
            <a:r>
              <a:rPr dirty="0" err="1"/>
              <a:t>minnas</a:t>
            </a:r>
            <a:r>
              <a:rPr dirty="0"/>
              <a:t> det. I </a:t>
            </a:r>
            <a:r>
              <a:rPr dirty="0" err="1"/>
              <a:t>kontrollgruppen</a:t>
            </a:r>
            <a:r>
              <a:rPr dirty="0"/>
              <a:t> </a:t>
            </a:r>
            <a:r>
              <a:rPr dirty="0" err="1"/>
              <a:t>fortsatte</a:t>
            </a:r>
            <a:r>
              <a:rPr dirty="0"/>
              <a:t> </a:t>
            </a:r>
            <a:r>
              <a:rPr dirty="0" err="1"/>
              <a:t>relationskvaliteten</a:t>
            </a:r>
            <a:r>
              <a:rPr dirty="0"/>
              <a:t> </a:t>
            </a:r>
            <a:r>
              <a:rPr dirty="0" err="1"/>
              <a:t>sjunka</a:t>
            </a:r>
            <a:r>
              <a:rPr dirty="0"/>
              <a:t>, </a:t>
            </a:r>
            <a:r>
              <a:rPr dirty="0" err="1"/>
              <a:t>i</a:t>
            </a:r>
            <a:r>
              <a:rPr dirty="0"/>
              <a:t> </a:t>
            </a:r>
            <a:r>
              <a:rPr dirty="0" err="1"/>
              <a:t>skrivgruppen</a:t>
            </a:r>
            <a:r>
              <a:rPr dirty="0"/>
              <a:t> </a:t>
            </a:r>
            <a:r>
              <a:rPr dirty="0" err="1"/>
              <a:t>upphörde</a:t>
            </a:r>
            <a:r>
              <a:rPr dirty="0"/>
              <a:t> </a:t>
            </a:r>
            <a:r>
              <a:rPr dirty="0" err="1"/>
              <a:t>nedgången</a:t>
            </a:r>
            <a:r>
              <a:rPr dirty="0"/>
              <a:t>. </a:t>
            </a:r>
            <a:r>
              <a:rPr dirty="0" err="1"/>
              <a:t>Greppet</a:t>
            </a:r>
            <a:r>
              <a:rPr dirty="0"/>
              <a:t> </a:t>
            </a:r>
            <a:r>
              <a:rPr dirty="0" err="1"/>
              <a:t>motverkar</a:t>
            </a:r>
            <a:r>
              <a:rPr dirty="0"/>
              <a:t> den </a:t>
            </a:r>
            <a:r>
              <a:rPr dirty="0" err="1"/>
              <a:t>naiva</a:t>
            </a:r>
            <a:r>
              <a:rPr dirty="0"/>
              <a:t> </a:t>
            </a:r>
            <a:r>
              <a:rPr dirty="0" err="1"/>
              <a:t>realismen</a:t>
            </a:r>
            <a:r>
              <a:rPr dirty="0"/>
              <a:t> </a:t>
            </a:r>
            <a:r>
              <a:rPr dirty="0" err="1"/>
              <a:t>från</a:t>
            </a:r>
            <a:r>
              <a:rPr dirty="0"/>
              <a:t> Lasse och Ulrika. Gilin </a:t>
            </a:r>
            <a:r>
              <a:rPr dirty="0" err="1"/>
              <a:t>Oore</a:t>
            </a:r>
            <a:r>
              <a:rPr dirty="0"/>
              <a:t> </a:t>
            </a:r>
            <a:r>
              <a:rPr dirty="0" err="1"/>
              <a:t>m.fl</a:t>
            </a:r>
            <a:r>
              <a:rPr dirty="0"/>
              <a:t>. (2015) </a:t>
            </a:r>
            <a:r>
              <a:rPr dirty="0" err="1"/>
              <a:t>påpekar</a:t>
            </a:r>
            <a:r>
              <a:rPr dirty="0"/>
              <a:t> </a:t>
            </a:r>
            <a:r>
              <a:rPr dirty="0" err="1"/>
              <a:t>att</a:t>
            </a:r>
            <a:r>
              <a:rPr dirty="0"/>
              <a:t> </a:t>
            </a:r>
            <a:r>
              <a:rPr dirty="0" err="1"/>
              <a:t>individuell</a:t>
            </a:r>
            <a:r>
              <a:rPr dirty="0"/>
              <a:t> </a:t>
            </a:r>
            <a:r>
              <a:rPr dirty="0" err="1"/>
              <a:t>träning</a:t>
            </a:r>
            <a:r>
              <a:rPr dirty="0"/>
              <a:t> </a:t>
            </a:r>
            <a:r>
              <a:rPr dirty="0" err="1"/>
              <a:t>tappar</a:t>
            </a:r>
            <a:r>
              <a:rPr dirty="0"/>
              <a:t> </a:t>
            </a:r>
            <a:r>
              <a:rPr dirty="0" err="1"/>
              <a:t>effekt</a:t>
            </a:r>
            <a:r>
              <a:rPr dirty="0"/>
              <a:t> </a:t>
            </a:r>
            <a:r>
              <a:rPr dirty="0" err="1"/>
              <a:t>i</a:t>
            </a:r>
            <a:r>
              <a:rPr dirty="0"/>
              <a:t> </a:t>
            </a:r>
            <a:r>
              <a:rPr dirty="0" err="1"/>
              <a:t>en</a:t>
            </a:r>
            <a:r>
              <a:rPr dirty="0"/>
              <a:t> </a:t>
            </a:r>
            <a:r>
              <a:rPr dirty="0" err="1"/>
              <a:t>tävlingsinriktad</a:t>
            </a:r>
            <a:r>
              <a:rPr dirty="0"/>
              <a:t> kultur, </a:t>
            </a:r>
            <a:r>
              <a:rPr dirty="0" err="1"/>
              <a:t>därför</a:t>
            </a:r>
            <a:r>
              <a:rPr dirty="0"/>
              <a:t> </a:t>
            </a:r>
            <a:r>
              <a:rPr dirty="0" err="1"/>
              <a:t>räcker</a:t>
            </a:r>
            <a:r>
              <a:rPr dirty="0"/>
              <a:t> </a:t>
            </a:r>
            <a:r>
              <a:rPr dirty="0" err="1"/>
              <a:t>inte</a:t>
            </a:r>
            <a:r>
              <a:rPr dirty="0"/>
              <a:t> </a:t>
            </a:r>
            <a:r>
              <a:rPr dirty="0" err="1"/>
              <a:t>individen</a:t>
            </a:r>
            <a:r>
              <a:rPr dirty="0"/>
              <a:t>. Jordans (2002) term för </a:t>
            </a:r>
            <a:r>
              <a:rPr dirty="0" err="1"/>
              <a:t>kolumn</a:t>
            </a:r>
            <a:r>
              <a:rPr dirty="0"/>
              <a:t> III </a:t>
            </a:r>
            <a:r>
              <a:rPr dirty="0" err="1"/>
              <a:t>är</a:t>
            </a:r>
            <a:r>
              <a:rPr dirty="0"/>
              <a:t> </a:t>
            </a:r>
            <a:r>
              <a:rPr dirty="0" err="1"/>
              <a:t>transformera</a:t>
            </a:r>
            <a:r>
              <a:rPr dirty="0"/>
              <a:t>.</a:t>
            </a:r>
          </a:p>
          <a:p>
            <a:endParaRPr dirty="0"/>
          </a:p>
          <a:p>
            <a:r>
              <a:rPr dirty="0"/>
              <a:t>REFERENSER:</a:t>
            </a:r>
          </a:p>
          <a:p>
            <a:r>
              <a:rPr dirty="0"/>
              <a:t>Finkel, E. J., Slotter, E. B., Luchies, L. B., Walton, G. M., &amp; Gross, J. J. (2013). A brief intervention to promote conflict reappraisal preserves marital quality over time. </a:t>
            </a:r>
            <a:r>
              <a:rPr i="1" dirty="0"/>
              <a:t>Psychological Science, 24</a:t>
            </a:r>
            <a:r>
              <a:rPr dirty="0"/>
              <a:t>(8), 1595–1601. </a:t>
            </a:r>
            <a:r>
              <a:rPr dirty="0">
                <a:hlinkClick r:id="rId3"/>
              </a:rPr>
              <a:t>https://doi.org/10.1177/0956797612474938</a:t>
            </a:r>
          </a:p>
          <a:p>
            <a:r>
              <a:rPr dirty="0"/>
              <a:t>Galinsky, A. D., Maddux, W. W., Gilin, D., &amp; White, J. B. (2008). Why it pays to get inside the head of your opponent: The differential effects of perspective taking and empathy in negotiations. </a:t>
            </a:r>
            <a:r>
              <a:rPr i="1" dirty="0"/>
              <a:t>Psychological Science, 19</a:t>
            </a:r>
            <a:r>
              <a:rPr dirty="0"/>
              <a:t>(4), 378–384. </a:t>
            </a:r>
            <a:r>
              <a:rPr dirty="0">
                <a:hlinkClick r:id="rId4"/>
              </a:rPr>
              <a:t>https://doi.org/10.1111/j.1467-9280.2008.02096.x</a:t>
            </a:r>
          </a:p>
          <a:p>
            <a:r>
              <a:rPr dirty="0"/>
              <a:t>Gilin </a:t>
            </a:r>
            <a:r>
              <a:rPr dirty="0" err="1"/>
              <a:t>Oore</a:t>
            </a:r>
            <a:r>
              <a:rPr dirty="0"/>
              <a:t>, D., Leiter, M. P., &amp; LeBlanc, D. E. (2015). Individual and organizational factors promoting successful responses to workplace conflict. </a:t>
            </a:r>
            <a:r>
              <a:rPr i="1" dirty="0"/>
              <a:t>Canadian Psychology, 56</a:t>
            </a:r>
            <a:r>
              <a:rPr dirty="0"/>
              <a:t>(3), 301–310. </a:t>
            </a:r>
            <a:r>
              <a:rPr dirty="0">
                <a:hlinkClick r:id="rId5"/>
              </a:rPr>
              <a:t>https://doi.org/10.1037/cap0000032</a:t>
            </a:r>
          </a:p>
          <a:p>
            <a:r>
              <a:rPr dirty="0"/>
              <a:t>Grossmann, I., &amp; Kross, E. (2014). Exploring Solomon's paradox: Self-distancing eliminates the self-other asymmetry in wise reasoning about close relationships in younger and older adults. </a:t>
            </a:r>
            <a:r>
              <a:rPr i="1" dirty="0"/>
              <a:t>Psychological Science, 25</a:t>
            </a:r>
            <a:r>
              <a:rPr dirty="0"/>
              <a:t>(8), 1571–1580. </a:t>
            </a:r>
            <a:r>
              <a:rPr dirty="0">
                <a:hlinkClick r:id="rId6"/>
              </a:rPr>
              <a:t>https://doi.org/10.1177/0956797614535400</a:t>
            </a:r>
          </a:p>
          <a:p>
            <a:r>
              <a:rPr dirty="0"/>
              <a:t>Jordan, T. (2002). </a:t>
            </a:r>
            <a:r>
              <a:rPr i="1" dirty="0"/>
              <a:t>Brist </a:t>
            </a:r>
            <a:r>
              <a:rPr i="1" dirty="0" err="1"/>
              <a:t>på</a:t>
            </a:r>
            <a:r>
              <a:rPr i="1" dirty="0"/>
              <a:t> </a:t>
            </a:r>
            <a:r>
              <a:rPr i="1" dirty="0" err="1"/>
              <a:t>självinsikt</a:t>
            </a:r>
            <a:r>
              <a:rPr i="1" dirty="0"/>
              <a:t>: En </a:t>
            </a:r>
            <a:r>
              <a:rPr i="1" dirty="0" err="1"/>
              <a:t>viktig</a:t>
            </a:r>
            <a:r>
              <a:rPr i="1" dirty="0"/>
              <a:t> </a:t>
            </a:r>
            <a:r>
              <a:rPr i="1" dirty="0" err="1"/>
              <a:t>orsak</a:t>
            </a:r>
            <a:r>
              <a:rPr i="1" dirty="0"/>
              <a:t> till </a:t>
            </a:r>
            <a:r>
              <a:rPr i="1" dirty="0" err="1"/>
              <a:t>elakartade</a:t>
            </a:r>
            <a:r>
              <a:rPr i="1" dirty="0"/>
              <a:t> </a:t>
            </a:r>
            <a:r>
              <a:rPr i="1" dirty="0" err="1"/>
              <a:t>konflikter</a:t>
            </a:r>
            <a:r>
              <a:rPr dirty="0"/>
              <a:t>. </a:t>
            </a:r>
            <a:r>
              <a:rPr dirty="0" err="1"/>
              <a:t>Göteborgs</a:t>
            </a:r>
            <a:r>
              <a:rPr dirty="0"/>
              <a:t> </a:t>
            </a:r>
            <a:r>
              <a:rPr dirty="0" err="1"/>
              <a:t>universitet</a:t>
            </a:r>
            <a:r>
              <a:rPr dirty="0"/>
              <a:t>. </a:t>
            </a:r>
            <a:r>
              <a:rPr dirty="0">
                <a:hlinkClick r:id="rId7"/>
              </a:rPr>
              <a:t>https://www.gu.se/sites/default/files/2020-09/Sja%CC%88lvinsikt%20.pdf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Tankegreppen</a:t>
            </a:r>
            <a:r>
              <a:rPr dirty="0"/>
              <a:t> </a:t>
            </a:r>
            <a:r>
              <a:rPr dirty="0" err="1"/>
              <a:t>sker</a:t>
            </a:r>
            <a:r>
              <a:rPr dirty="0"/>
              <a:t> </a:t>
            </a:r>
            <a:r>
              <a:rPr dirty="0" err="1"/>
              <a:t>inuti</a:t>
            </a:r>
            <a:r>
              <a:rPr dirty="0"/>
              <a:t>. Den </a:t>
            </a:r>
            <a:r>
              <a:rPr dirty="0" err="1"/>
              <a:t>här</a:t>
            </a:r>
            <a:r>
              <a:rPr dirty="0"/>
              <a:t> </a:t>
            </a:r>
            <a:r>
              <a:rPr dirty="0" err="1"/>
              <a:t>bilden</a:t>
            </a:r>
            <a:r>
              <a:rPr dirty="0"/>
              <a:t> </a:t>
            </a:r>
            <a:r>
              <a:rPr dirty="0" err="1"/>
              <a:t>handlar</a:t>
            </a:r>
            <a:r>
              <a:rPr dirty="0"/>
              <a:t> om </a:t>
            </a:r>
            <a:r>
              <a:rPr dirty="0" err="1"/>
              <a:t>vad</a:t>
            </a:r>
            <a:r>
              <a:rPr dirty="0"/>
              <a:t> </a:t>
            </a:r>
            <a:r>
              <a:rPr dirty="0" err="1"/>
              <a:t>som</a:t>
            </a:r>
            <a:r>
              <a:rPr dirty="0"/>
              <a:t> </a:t>
            </a:r>
            <a:r>
              <a:rPr dirty="0" err="1"/>
              <a:t>kommer</a:t>
            </a:r>
            <a:r>
              <a:rPr dirty="0"/>
              <a:t> </a:t>
            </a:r>
            <a:r>
              <a:rPr dirty="0" err="1"/>
              <a:t>ut</a:t>
            </a:r>
            <a:r>
              <a:rPr dirty="0"/>
              <a:t> </a:t>
            </a:r>
            <a:r>
              <a:rPr dirty="0" err="1"/>
              <a:t>ur</a:t>
            </a:r>
            <a:r>
              <a:rPr dirty="0"/>
              <a:t> </a:t>
            </a:r>
            <a:r>
              <a:rPr dirty="0" err="1"/>
              <a:t>munnen</a:t>
            </a:r>
            <a:r>
              <a:rPr dirty="0"/>
              <a:t>. Yeomans </a:t>
            </a:r>
            <a:r>
              <a:rPr dirty="0" err="1"/>
              <a:t>m.fl</a:t>
            </a:r>
            <a:r>
              <a:rPr dirty="0"/>
              <a:t>. (2020) </a:t>
            </a:r>
            <a:r>
              <a:rPr dirty="0" err="1"/>
              <a:t>analyserade</a:t>
            </a:r>
            <a:r>
              <a:rPr dirty="0"/>
              <a:t> </a:t>
            </a:r>
            <a:r>
              <a:rPr dirty="0" err="1"/>
              <a:t>vad</a:t>
            </a:r>
            <a:r>
              <a:rPr dirty="0"/>
              <a:t> </a:t>
            </a:r>
            <a:r>
              <a:rPr dirty="0" err="1"/>
              <a:t>som</a:t>
            </a:r>
            <a:r>
              <a:rPr dirty="0"/>
              <a:t> </a:t>
            </a:r>
            <a:r>
              <a:rPr dirty="0" err="1"/>
              <a:t>skiljer</a:t>
            </a:r>
            <a:r>
              <a:rPr dirty="0"/>
              <a:t> </a:t>
            </a:r>
            <a:r>
              <a:rPr dirty="0" err="1"/>
              <a:t>svar</a:t>
            </a:r>
            <a:r>
              <a:rPr dirty="0"/>
              <a:t> </a:t>
            </a:r>
            <a:r>
              <a:rPr dirty="0" err="1"/>
              <a:t>som</a:t>
            </a:r>
            <a:r>
              <a:rPr dirty="0"/>
              <a:t> </a:t>
            </a:r>
            <a:r>
              <a:rPr dirty="0" err="1"/>
              <a:t>uppfattas</a:t>
            </a:r>
            <a:r>
              <a:rPr dirty="0"/>
              <a:t> </a:t>
            </a:r>
            <a:r>
              <a:rPr dirty="0" err="1"/>
              <a:t>som</a:t>
            </a:r>
            <a:r>
              <a:rPr dirty="0"/>
              <a:t> </a:t>
            </a:r>
            <a:r>
              <a:rPr dirty="0" err="1"/>
              <a:t>mottagliga</a:t>
            </a:r>
            <a:r>
              <a:rPr dirty="0"/>
              <a:t> </a:t>
            </a:r>
            <a:r>
              <a:rPr dirty="0" err="1"/>
              <a:t>från</a:t>
            </a:r>
            <a:r>
              <a:rPr dirty="0"/>
              <a:t> </a:t>
            </a:r>
            <a:r>
              <a:rPr dirty="0" err="1"/>
              <a:t>svar</a:t>
            </a:r>
            <a:r>
              <a:rPr dirty="0"/>
              <a:t> </a:t>
            </a:r>
            <a:r>
              <a:rPr dirty="0" err="1"/>
              <a:t>som</a:t>
            </a:r>
            <a:r>
              <a:rPr dirty="0"/>
              <a:t> </a:t>
            </a:r>
            <a:r>
              <a:rPr dirty="0" err="1"/>
              <a:t>inte</a:t>
            </a:r>
            <a:r>
              <a:rPr dirty="0"/>
              <a:t> </a:t>
            </a:r>
            <a:r>
              <a:rPr dirty="0" err="1"/>
              <a:t>gör</a:t>
            </a:r>
            <a:r>
              <a:rPr dirty="0"/>
              <a:t> det, och </a:t>
            </a:r>
            <a:r>
              <a:rPr dirty="0" err="1"/>
              <a:t>byggde</a:t>
            </a:r>
            <a:r>
              <a:rPr dirty="0"/>
              <a:t> </a:t>
            </a:r>
            <a:r>
              <a:rPr dirty="0" err="1"/>
              <a:t>ett</a:t>
            </a:r>
            <a:r>
              <a:rPr dirty="0"/>
              <a:t> </a:t>
            </a:r>
            <a:r>
              <a:rPr dirty="0" err="1"/>
              <a:t>recept</a:t>
            </a:r>
            <a:r>
              <a:rPr dirty="0"/>
              <a:t> med </a:t>
            </a:r>
            <a:r>
              <a:rPr dirty="0" err="1"/>
              <a:t>fyra</a:t>
            </a:r>
            <a:r>
              <a:rPr dirty="0"/>
              <a:t> </a:t>
            </a:r>
            <a:r>
              <a:rPr dirty="0" err="1"/>
              <a:t>delar</a:t>
            </a:r>
            <a:r>
              <a:rPr dirty="0"/>
              <a:t>. </a:t>
            </a:r>
            <a:r>
              <a:rPr dirty="0" err="1"/>
              <a:t>Bekräfta</a:t>
            </a:r>
            <a:r>
              <a:rPr dirty="0"/>
              <a:t> </a:t>
            </a:r>
            <a:r>
              <a:rPr dirty="0" err="1"/>
              <a:t>uttryckligen</a:t>
            </a:r>
            <a:r>
              <a:rPr dirty="0"/>
              <a:t> </a:t>
            </a:r>
            <a:r>
              <a:rPr dirty="0" err="1"/>
              <a:t>att</a:t>
            </a:r>
            <a:r>
              <a:rPr dirty="0"/>
              <a:t> du </a:t>
            </a:r>
            <a:r>
              <a:rPr dirty="0" err="1"/>
              <a:t>har</a:t>
            </a:r>
            <a:r>
              <a:rPr dirty="0"/>
              <a:t> </a:t>
            </a:r>
            <a:r>
              <a:rPr dirty="0" err="1"/>
              <a:t>hört</a:t>
            </a:r>
            <a:r>
              <a:rPr dirty="0"/>
              <a:t>. </a:t>
            </a:r>
            <a:r>
              <a:rPr dirty="0" err="1"/>
              <a:t>Säg</a:t>
            </a:r>
            <a:r>
              <a:rPr dirty="0"/>
              <a:t> </a:t>
            </a:r>
            <a:r>
              <a:rPr dirty="0" err="1"/>
              <a:t>vad</a:t>
            </a:r>
            <a:r>
              <a:rPr dirty="0"/>
              <a:t> </a:t>
            </a:r>
            <a:r>
              <a:rPr dirty="0" err="1"/>
              <a:t>ni</a:t>
            </a:r>
            <a:r>
              <a:rPr dirty="0"/>
              <a:t> </a:t>
            </a:r>
            <a:r>
              <a:rPr dirty="0" err="1"/>
              <a:t>är</a:t>
            </a:r>
            <a:r>
              <a:rPr dirty="0"/>
              <a:t> </a:t>
            </a:r>
            <a:r>
              <a:rPr dirty="0" err="1"/>
              <a:t>överens</a:t>
            </a:r>
            <a:r>
              <a:rPr dirty="0"/>
              <a:t> </a:t>
            </a:r>
            <a:r>
              <a:rPr dirty="0" err="1"/>
              <a:t>om.</a:t>
            </a:r>
            <a:r>
              <a:rPr dirty="0"/>
              <a:t> Tona </a:t>
            </a:r>
            <a:r>
              <a:rPr dirty="0" err="1"/>
              <a:t>ner</a:t>
            </a:r>
            <a:r>
              <a:rPr dirty="0"/>
              <a:t> </a:t>
            </a:r>
            <a:r>
              <a:rPr dirty="0" err="1"/>
              <a:t>tvärsäkerheten</a:t>
            </a:r>
            <a:r>
              <a:rPr dirty="0"/>
              <a:t> med </a:t>
            </a:r>
            <a:r>
              <a:rPr dirty="0" err="1"/>
              <a:t>ord</a:t>
            </a:r>
            <a:r>
              <a:rPr dirty="0"/>
              <a:t> </a:t>
            </a:r>
            <a:r>
              <a:rPr dirty="0" err="1"/>
              <a:t>som</a:t>
            </a:r>
            <a:r>
              <a:rPr dirty="0"/>
              <a:t> »jag </a:t>
            </a:r>
            <a:r>
              <a:rPr dirty="0" err="1"/>
              <a:t>tror</a:t>
            </a:r>
            <a:r>
              <a:rPr dirty="0"/>
              <a:t>« och »</a:t>
            </a:r>
            <a:r>
              <a:rPr dirty="0" err="1"/>
              <a:t>kanske</a:t>
            </a:r>
            <a:r>
              <a:rPr dirty="0"/>
              <a:t>«. Och </a:t>
            </a:r>
            <a:r>
              <a:rPr dirty="0" err="1"/>
              <a:t>formulera</a:t>
            </a:r>
            <a:r>
              <a:rPr dirty="0"/>
              <a:t> dig </a:t>
            </a:r>
            <a:r>
              <a:rPr dirty="0" err="1"/>
              <a:t>positivt</a:t>
            </a:r>
            <a:r>
              <a:rPr dirty="0"/>
              <a:t>: </a:t>
            </a:r>
            <a:r>
              <a:rPr dirty="0" err="1"/>
              <a:t>omottagliga</a:t>
            </a:r>
            <a:r>
              <a:rPr dirty="0"/>
              <a:t> </a:t>
            </a:r>
            <a:r>
              <a:rPr dirty="0" err="1"/>
              <a:t>svar</a:t>
            </a:r>
            <a:r>
              <a:rPr dirty="0"/>
              <a:t> </a:t>
            </a:r>
            <a:r>
              <a:rPr dirty="0" err="1"/>
              <a:t>innehöll</a:t>
            </a:r>
            <a:r>
              <a:rPr dirty="0"/>
              <a:t> </a:t>
            </a:r>
            <a:r>
              <a:rPr dirty="0" err="1"/>
              <a:t>fler</a:t>
            </a:r>
            <a:r>
              <a:rPr dirty="0"/>
              <a:t> </a:t>
            </a:r>
            <a:r>
              <a:rPr dirty="0" err="1"/>
              <a:t>negationer</a:t>
            </a:r>
            <a:r>
              <a:rPr dirty="0"/>
              <a:t> och </a:t>
            </a:r>
            <a:r>
              <a:rPr dirty="0" err="1"/>
              <a:t>mer</a:t>
            </a:r>
            <a:r>
              <a:rPr dirty="0"/>
              <a:t> </a:t>
            </a:r>
            <a:r>
              <a:rPr dirty="0" err="1"/>
              <a:t>förklarande</a:t>
            </a:r>
            <a:r>
              <a:rPr dirty="0"/>
              <a:t> </a:t>
            </a:r>
            <a:r>
              <a:rPr dirty="0" err="1"/>
              <a:t>resonemang</a:t>
            </a:r>
            <a:r>
              <a:rPr dirty="0"/>
              <a:t> av </a:t>
            </a:r>
            <a:r>
              <a:rPr dirty="0" err="1"/>
              <a:t>typen</a:t>
            </a:r>
            <a:r>
              <a:rPr dirty="0"/>
              <a:t> »</a:t>
            </a:r>
            <a:r>
              <a:rPr dirty="0" err="1"/>
              <a:t>eftersom</a:t>
            </a:r>
            <a:r>
              <a:rPr dirty="0"/>
              <a:t>« och »</a:t>
            </a:r>
            <a:r>
              <a:rPr dirty="0" err="1"/>
              <a:t>därför</a:t>
            </a:r>
            <a:r>
              <a:rPr dirty="0"/>
              <a:t>«. De </a:t>
            </a:r>
            <a:r>
              <a:rPr dirty="0" err="1"/>
              <a:t>som</a:t>
            </a:r>
            <a:r>
              <a:rPr dirty="0"/>
              <a:t> </a:t>
            </a:r>
            <a:r>
              <a:rPr dirty="0" err="1"/>
              <a:t>följde</a:t>
            </a:r>
            <a:r>
              <a:rPr dirty="0"/>
              <a:t> </a:t>
            </a:r>
            <a:r>
              <a:rPr dirty="0" err="1"/>
              <a:t>receptet</a:t>
            </a:r>
            <a:r>
              <a:rPr dirty="0"/>
              <a:t> </a:t>
            </a:r>
            <a:r>
              <a:rPr dirty="0" err="1"/>
              <a:t>bedömdes</a:t>
            </a:r>
            <a:r>
              <a:rPr dirty="0"/>
              <a:t> </a:t>
            </a:r>
            <a:r>
              <a:rPr dirty="0" err="1"/>
              <a:t>som</a:t>
            </a:r>
            <a:r>
              <a:rPr dirty="0"/>
              <a:t> </a:t>
            </a:r>
            <a:r>
              <a:rPr dirty="0" err="1"/>
              <a:t>mer</a:t>
            </a:r>
            <a:r>
              <a:rPr dirty="0"/>
              <a:t> </a:t>
            </a:r>
            <a:r>
              <a:rPr dirty="0" err="1"/>
              <a:t>önskvärda</a:t>
            </a:r>
            <a:r>
              <a:rPr dirty="0"/>
              <a:t> </a:t>
            </a:r>
            <a:r>
              <a:rPr dirty="0" err="1"/>
              <a:t>att</a:t>
            </a:r>
            <a:r>
              <a:rPr dirty="0"/>
              <a:t> </a:t>
            </a:r>
            <a:r>
              <a:rPr dirty="0" err="1"/>
              <a:t>samarbeta</a:t>
            </a:r>
            <a:r>
              <a:rPr dirty="0"/>
              <a:t> med och </a:t>
            </a:r>
            <a:r>
              <a:rPr dirty="0" err="1"/>
              <a:t>som</a:t>
            </a:r>
            <a:r>
              <a:rPr dirty="0"/>
              <a:t> </a:t>
            </a:r>
            <a:r>
              <a:rPr dirty="0" err="1"/>
              <a:t>mer</a:t>
            </a:r>
            <a:r>
              <a:rPr dirty="0"/>
              <a:t> </a:t>
            </a:r>
            <a:r>
              <a:rPr dirty="0" err="1"/>
              <a:t>övertygande</a:t>
            </a:r>
            <a:r>
              <a:rPr dirty="0"/>
              <a:t>, och </a:t>
            </a:r>
            <a:r>
              <a:rPr dirty="0" err="1"/>
              <a:t>i</a:t>
            </a:r>
            <a:r>
              <a:rPr dirty="0"/>
              <a:t> </a:t>
            </a:r>
            <a:r>
              <a:rPr dirty="0" err="1"/>
              <a:t>fältdata</a:t>
            </a:r>
            <a:r>
              <a:rPr dirty="0"/>
              <a:t> </a:t>
            </a:r>
            <a:r>
              <a:rPr dirty="0" err="1"/>
              <a:t>från</a:t>
            </a:r>
            <a:r>
              <a:rPr dirty="0"/>
              <a:t> Wikipedia </a:t>
            </a:r>
            <a:r>
              <a:rPr dirty="0" err="1"/>
              <a:t>fick</a:t>
            </a:r>
            <a:r>
              <a:rPr dirty="0"/>
              <a:t> </a:t>
            </a:r>
            <a:r>
              <a:rPr dirty="0" err="1"/>
              <a:t>redaktörer</a:t>
            </a:r>
            <a:r>
              <a:rPr dirty="0"/>
              <a:t> </a:t>
            </a:r>
            <a:r>
              <a:rPr dirty="0" err="1"/>
              <a:t>som</a:t>
            </a:r>
            <a:r>
              <a:rPr dirty="0"/>
              <a:t> </a:t>
            </a:r>
            <a:r>
              <a:rPr dirty="0" err="1"/>
              <a:t>skrev</a:t>
            </a:r>
            <a:r>
              <a:rPr dirty="0"/>
              <a:t> </a:t>
            </a:r>
            <a:r>
              <a:rPr dirty="0" err="1"/>
              <a:t>mottagligt</a:t>
            </a:r>
            <a:r>
              <a:rPr dirty="0"/>
              <a:t> </a:t>
            </a:r>
            <a:r>
              <a:rPr dirty="0" err="1"/>
              <a:t>färre</a:t>
            </a:r>
            <a:r>
              <a:rPr dirty="0"/>
              <a:t> </a:t>
            </a:r>
            <a:r>
              <a:rPr dirty="0" err="1"/>
              <a:t>personangrepp</a:t>
            </a:r>
            <a:r>
              <a:rPr dirty="0"/>
              <a:t> </a:t>
            </a:r>
            <a:r>
              <a:rPr dirty="0" err="1"/>
              <a:t>tillbaka</a:t>
            </a:r>
            <a:r>
              <a:rPr dirty="0"/>
              <a:t>. </a:t>
            </a:r>
            <a:r>
              <a:rPr dirty="0" err="1"/>
              <a:t>Studien</a:t>
            </a:r>
            <a:r>
              <a:rPr dirty="0"/>
              <a:t> var </a:t>
            </a:r>
            <a:r>
              <a:rPr dirty="0" err="1"/>
              <a:t>förregistrerad</a:t>
            </a:r>
            <a:r>
              <a:rPr dirty="0"/>
              <a:t>, </a:t>
            </a:r>
            <a:r>
              <a:rPr dirty="0" err="1"/>
              <a:t>så</a:t>
            </a:r>
            <a:r>
              <a:rPr dirty="0"/>
              <a:t> det </a:t>
            </a:r>
            <a:r>
              <a:rPr dirty="0" err="1"/>
              <a:t>här</a:t>
            </a:r>
            <a:r>
              <a:rPr dirty="0"/>
              <a:t> </a:t>
            </a:r>
            <a:r>
              <a:rPr dirty="0" err="1"/>
              <a:t>är</a:t>
            </a:r>
            <a:r>
              <a:rPr dirty="0"/>
              <a:t> bland det </a:t>
            </a:r>
            <a:r>
              <a:rPr dirty="0" err="1"/>
              <a:t>bäst</a:t>
            </a:r>
            <a:r>
              <a:rPr dirty="0"/>
              <a:t> </a:t>
            </a:r>
            <a:r>
              <a:rPr dirty="0" err="1"/>
              <a:t>belagda</a:t>
            </a:r>
            <a:r>
              <a:rPr dirty="0"/>
              <a:t> </a:t>
            </a:r>
            <a:r>
              <a:rPr dirty="0" err="1"/>
              <a:t>på</a:t>
            </a:r>
            <a:r>
              <a:rPr dirty="0"/>
              <a:t> </a:t>
            </a:r>
            <a:r>
              <a:rPr dirty="0" err="1"/>
              <a:t>hela</a:t>
            </a:r>
            <a:r>
              <a:rPr dirty="0"/>
              <a:t> </a:t>
            </a:r>
            <a:r>
              <a:rPr dirty="0" err="1"/>
              <a:t>bilden</a:t>
            </a:r>
            <a:r>
              <a:rPr dirty="0"/>
              <a:t>.</a:t>
            </a:r>
          </a:p>
          <a:p>
            <a:endParaRPr dirty="0"/>
          </a:p>
          <a:p>
            <a:r>
              <a:rPr dirty="0" err="1"/>
              <a:t>Exemplet</a:t>
            </a:r>
            <a:r>
              <a:rPr dirty="0"/>
              <a:t> till </a:t>
            </a:r>
            <a:r>
              <a:rPr dirty="0" err="1"/>
              <a:t>höger</a:t>
            </a:r>
            <a:r>
              <a:rPr dirty="0"/>
              <a:t> </a:t>
            </a:r>
            <a:r>
              <a:rPr dirty="0" err="1"/>
              <a:t>är</a:t>
            </a:r>
            <a:r>
              <a:rPr dirty="0"/>
              <a:t> mitt </a:t>
            </a:r>
            <a:r>
              <a:rPr dirty="0" err="1"/>
              <a:t>eget</a:t>
            </a:r>
            <a:r>
              <a:rPr dirty="0"/>
              <a:t>, </a:t>
            </a:r>
            <a:r>
              <a:rPr dirty="0" err="1"/>
              <a:t>inte</a:t>
            </a:r>
            <a:r>
              <a:rPr dirty="0"/>
              <a:t> </a:t>
            </a:r>
            <a:r>
              <a:rPr dirty="0" err="1"/>
              <a:t>ur</a:t>
            </a:r>
            <a:r>
              <a:rPr dirty="0"/>
              <a:t> </a:t>
            </a:r>
            <a:r>
              <a:rPr dirty="0" err="1"/>
              <a:t>studien</a:t>
            </a:r>
            <a:r>
              <a:rPr dirty="0"/>
              <a:t>. </a:t>
            </a:r>
            <a:r>
              <a:rPr dirty="0" err="1"/>
              <a:t>Lägg</a:t>
            </a:r>
            <a:r>
              <a:rPr dirty="0"/>
              <a:t> </a:t>
            </a:r>
            <a:r>
              <a:rPr dirty="0" err="1"/>
              <a:t>märke</a:t>
            </a:r>
            <a:r>
              <a:rPr dirty="0"/>
              <a:t> till </a:t>
            </a:r>
            <a:r>
              <a:rPr dirty="0" err="1"/>
              <a:t>att</a:t>
            </a:r>
            <a:r>
              <a:rPr dirty="0"/>
              <a:t> </a:t>
            </a:r>
            <a:r>
              <a:rPr dirty="0" err="1"/>
              <a:t>budskapet</a:t>
            </a:r>
            <a:r>
              <a:rPr dirty="0"/>
              <a:t> </a:t>
            </a:r>
            <a:r>
              <a:rPr dirty="0" err="1"/>
              <a:t>i</a:t>
            </a:r>
            <a:r>
              <a:rPr dirty="0"/>
              <a:t> </a:t>
            </a:r>
            <a:r>
              <a:rPr dirty="0" err="1"/>
              <a:t>sak</a:t>
            </a:r>
            <a:r>
              <a:rPr dirty="0"/>
              <a:t> </a:t>
            </a:r>
            <a:r>
              <a:rPr dirty="0" err="1"/>
              <a:t>är</a:t>
            </a:r>
            <a:r>
              <a:rPr dirty="0"/>
              <a:t> </a:t>
            </a:r>
            <a:r>
              <a:rPr dirty="0" err="1"/>
              <a:t>detsamma</a:t>
            </a:r>
            <a:r>
              <a:rPr dirty="0"/>
              <a:t>: </a:t>
            </a:r>
            <a:r>
              <a:rPr dirty="0" err="1"/>
              <a:t>budgeten</a:t>
            </a:r>
            <a:r>
              <a:rPr dirty="0"/>
              <a:t> </a:t>
            </a:r>
            <a:r>
              <a:rPr dirty="0" err="1"/>
              <a:t>är</a:t>
            </a:r>
            <a:r>
              <a:rPr dirty="0"/>
              <a:t> </a:t>
            </a:r>
            <a:r>
              <a:rPr dirty="0" err="1"/>
              <a:t>ett</a:t>
            </a:r>
            <a:r>
              <a:rPr dirty="0"/>
              <a:t> problem. Det </a:t>
            </a:r>
            <a:r>
              <a:rPr dirty="0" err="1"/>
              <a:t>som</a:t>
            </a:r>
            <a:r>
              <a:rPr dirty="0"/>
              <a:t> </a:t>
            </a:r>
            <a:r>
              <a:rPr dirty="0" err="1"/>
              <a:t>ändras</a:t>
            </a:r>
            <a:r>
              <a:rPr dirty="0"/>
              <a:t> </a:t>
            </a:r>
            <a:r>
              <a:rPr dirty="0" err="1"/>
              <a:t>är</a:t>
            </a:r>
            <a:r>
              <a:rPr dirty="0"/>
              <a:t> </a:t>
            </a:r>
            <a:r>
              <a:rPr dirty="0" err="1"/>
              <a:t>att</a:t>
            </a:r>
            <a:r>
              <a:rPr dirty="0"/>
              <a:t> den </a:t>
            </a:r>
            <a:r>
              <a:rPr dirty="0" err="1"/>
              <a:t>andre</a:t>
            </a:r>
            <a:r>
              <a:rPr dirty="0"/>
              <a:t> </a:t>
            </a:r>
            <a:r>
              <a:rPr dirty="0" err="1"/>
              <a:t>hinner</a:t>
            </a:r>
            <a:r>
              <a:rPr dirty="0"/>
              <a:t> </a:t>
            </a:r>
            <a:r>
              <a:rPr dirty="0" err="1"/>
              <a:t>känna</a:t>
            </a:r>
            <a:r>
              <a:rPr dirty="0"/>
              <a:t> sig </a:t>
            </a:r>
            <a:r>
              <a:rPr dirty="0" err="1"/>
              <a:t>hörd</a:t>
            </a:r>
            <a:r>
              <a:rPr dirty="0"/>
              <a:t> </a:t>
            </a:r>
            <a:r>
              <a:rPr dirty="0" err="1"/>
              <a:t>innan</a:t>
            </a:r>
            <a:r>
              <a:rPr dirty="0"/>
              <a:t> </a:t>
            </a:r>
            <a:r>
              <a:rPr dirty="0" err="1"/>
              <a:t>invändningen</a:t>
            </a:r>
            <a:r>
              <a:rPr dirty="0"/>
              <a:t> </a:t>
            </a:r>
            <a:r>
              <a:rPr dirty="0" err="1"/>
              <a:t>kommer</a:t>
            </a:r>
            <a:r>
              <a:rPr dirty="0"/>
              <a:t>.</a:t>
            </a:r>
          </a:p>
          <a:p>
            <a:endParaRPr dirty="0"/>
          </a:p>
          <a:p>
            <a:r>
              <a:rPr dirty="0" err="1"/>
              <a:t>Lyssnandet</a:t>
            </a:r>
            <a:r>
              <a:rPr dirty="0"/>
              <a:t>: </a:t>
            </a:r>
            <a:r>
              <a:rPr dirty="0" err="1"/>
              <a:t>en</a:t>
            </a:r>
            <a:r>
              <a:rPr dirty="0"/>
              <a:t> </a:t>
            </a:r>
            <a:r>
              <a:rPr dirty="0" err="1"/>
              <a:t>metaanalys</a:t>
            </a:r>
            <a:r>
              <a:rPr dirty="0"/>
              <a:t> av Kluger </a:t>
            </a:r>
            <a:r>
              <a:rPr dirty="0" err="1"/>
              <a:t>m.fl</a:t>
            </a:r>
            <a:r>
              <a:rPr dirty="0"/>
              <a:t>. (2024; 664 </a:t>
            </a:r>
            <a:r>
              <a:rPr dirty="0" err="1"/>
              <a:t>effektstorlekar</a:t>
            </a:r>
            <a:r>
              <a:rPr dirty="0"/>
              <a:t>) ger </a:t>
            </a:r>
            <a:r>
              <a:rPr dirty="0" err="1"/>
              <a:t>sambandet</a:t>
            </a:r>
            <a:r>
              <a:rPr dirty="0"/>
              <a:t> 0,51 </a:t>
            </a:r>
            <a:r>
              <a:rPr dirty="0" err="1"/>
              <a:t>mellan</a:t>
            </a:r>
            <a:r>
              <a:rPr dirty="0"/>
              <a:t> </a:t>
            </a:r>
            <a:r>
              <a:rPr dirty="0" err="1"/>
              <a:t>upplevt</a:t>
            </a:r>
            <a:r>
              <a:rPr dirty="0"/>
              <a:t> </a:t>
            </a:r>
            <a:r>
              <a:rPr dirty="0" err="1"/>
              <a:t>lyssnande</a:t>
            </a:r>
            <a:r>
              <a:rPr dirty="0"/>
              <a:t> och </a:t>
            </a:r>
            <a:r>
              <a:rPr dirty="0" err="1"/>
              <a:t>relationskvalitet</a:t>
            </a:r>
            <a:r>
              <a:rPr dirty="0"/>
              <a:t>. Mest </a:t>
            </a:r>
            <a:r>
              <a:rPr dirty="0" err="1"/>
              <a:t>korrelationsdata</a:t>
            </a:r>
            <a:r>
              <a:rPr dirty="0"/>
              <a:t>, men experiment (</a:t>
            </a:r>
            <a:r>
              <a:rPr dirty="0" err="1"/>
              <a:t>Itzchakov</a:t>
            </a:r>
            <a:r>
              <a:rPr dirty="0"/>
              <a:t> </a:t>
            </a:r>
            <a:r>
              <a:rPr dirty="0" err="1"/>
              <a:t>m.fl</a:t>
            </a:r>
            <a:r>
              <a:rPr dirty="0"/>
              <a:t>., 2017) </a:t>
            </a:r>
            <a:r>
              <a:rPr dirty="0" err="1"/>
              <a:t>visar</a:t>
            </a:r>
            <a:r>
              <a:rPr dirty="0"/>
              <a:t> </a:t>
            </a:r>
            <a:r>
              <a:rPr dirty="0" err="1"/>
              <a:t>att</a:t>
            </a:r>
            <a:r>
              <a:rPr dirty="0"/>
              <a:t> </a:t>
            </a:r>
            <a:r>
              <a:rPr dirty="0" err="1"/>
              <a:t>gott</a:t>
            </a:r>
            <a:r>
              <a:rPr dirty="0"/>
              <a:t> </a:t>
            </a:r>
            <a:r>
              <a:rPr dirty="0" err="1"/>
              <a:t>lyssnande</a:t>
            </a:r>
            <a:r>
              <a:rPr dirty="0"/>
              <a:t> </a:t>
            </a:r>
            <a:r>
              <a:rPr dirty="0" err="1"/>
              <a:t>sänker</a:t>
            </a:r>
            <a:r>
              <a:rPr dirty="0"/>
              <a:t> </a:t>
            </a:r>
            <a:r>
              <a:rPr dirty="0" err="1"/>
              <a:t>talarens</a:t>
            </a:r>
            <a:r>
              <a:rPr dirty="0"/>
              <a:t> </a:t>
            </a:r>
            <a:r>
              <a:rPr dirty="0" err="1"/>
              <a:t>försvar</a:t>
            </a:r>
            <a:r>
              <a:rPr dirty="0"/>
              <a:t> och </a:t>
            </a:r>
            <a:r>
              <a:rPr dirty="0" err="1"/>
              <a:t>gör</a:t>
            </a:r>
            <a:r>
              <a:rPr dirty="0"/>
              <a:t> </a:t>
            </a:r>
            <a:r>
              <a:rPr dirty="0" err="1"/>
              <a:t>åsikterna</a:t>
            </a:r>
            <a:r>
              <a:rPr dirty="0"/>
              <a:t> </a:t>
            </a:r>
            <a:r>
              <a:rPr dirty="0" err="1"/>
              <a:t>mindre</a:t>
            </a:r>
            <a:r>
              <a:rPr dirty="0"/>
              <a:t> extrema. Bruneau och Saxe (2012) </a:t>
            </a:r>
            <a:r>
              <a:rPr dirty="0" err="1"/>
              <a:t>fann</a:t>
            </a:r>
            <a:r>
              <a:rPr dirty="0"/>
              <a:t> </a:t>
            </a:r>
            <a:r>
              <a:rPr dirty="0" err="1"/>
              <a:t>att</a:t>
            </a:r>
            <a:r>
              <a:rPr dirty="0"/>
              <a:t> det </a:t>
            </a:r>
            <a:r>
              <a:rPr dirty="0" err="1"/>
              <a:t>särskilt</a:t>
            </a:r>
            <a:r>
              <a:rPr dirty="0"/>
              <a:t> </a:t>
            </a:r>
            <a:r>
              <a:rPr dirty="0" err="1"/>
              <a:t>är</a:t>
            </a:r>
            <a:r>
              <a:rPr dirty="0"/>
              <a:t> den med </a:t>
            </a:r>
            <a:r>
              <a:rPr dirty="0" err="1"/>
              <a:t>mindre</a:t>
            </a:r>
            <a:r>
              <a:rPr dirty="0"/>
              <a:t> </a:t>
            </a:r>
            <a:r>
              <a:rPr dirty="0" err="1"/>
              <a:t>makt</a:t>
            </a:r>
            <a:r>
              <a:rPr dirty="0"/>
              <a:t> </a:t>
            </a:r>
            <a:r>
              <a:rPr dirty="0" err="1"/>
              <a:t>som</a:t>
            </a:r>
            <a:r>
              <a:rPr dirty="0"/>
              <a:t> </a:t>
            </a:r>
            <a:r>
              <a:rPr dirty="0" err="1"/>
              <a:t>behöver</a:t>
            </a:r>
            <a:r>
              <a:rPr dirty="0"/>
              <a:t> </a:t>
            </a:r>
            <a:r>
              <a:rPr dirty="0" err="1"/>
              <a:t>få</a:t>
            </a:r>
            <a:r>
              <a:rPr dirty="0"/>
              <a:t> </a:t>
            </a:r>
            <a:r>
              <a:rPr dirty="0" err="1"/>
              <a:t>bli</a:t>
            </a:r>
            <a:r>
              <a:rPr dirty="0"/>
              <a:t> </a:t>
            </a:r>
            <a:r>
              <a:rPr dirty="0" err="1"/>
              <a:t>hörd</a:t>
            </a:r>
            <a:r>
              <a:rPr dirty="0"/>
              <a:t>, </a:t>
            </a:r>
            <a:r>
              <a:rPr dirty="0" err="1"/>
              <a:t>så</a:t>
            </a:r>
            <a:r>
              <a:rPr dirty="0"/>
              <a:t> om du </a:t>
            </a:r>
            <a:r>
              <a:rPr dirty="0" err="1"/>
              <a:t>är</a:t>
            </a:r>
            <a:r>
              <a:rPr dirty="0"/>
              <a:t> chef </a:t>
            </a:r>
            <a:r>
              <a:rPr dirty="0" err="1"/>
              <a:t>eller</a:t>
            </a:r>
            <a:r>
              <a:rPr dirty="0"/>
              <a:t> den </a:t>
            </a:r>
            <a:r>
              <a:rPr dirty="0" err="1"/>
              <a:t>starkare</a:t>
            </a:r>
            <a:r>
              <a:rPr dirty="0"/>
              <a:t> </a:t>
            </a:r>
            <a:r>
              <a:rPr dirty="0" err="1"/>
              <a:t>parten</a:t>
            </a:r>
            <a:r>
              <a:rPr dirty="0"/>
              <a:t>: </a:t>
            </a:r>
            <a:r>
              <a:rPr dirty="0" err="1"/>
              <a:t>lyssna</a:t>
            </a:r>
            <a:r>
              <a:rPr dirty="0"/>
              <a:t> </a:t>
            </a:r>
            <a:r>
              <a:rPr dirty="0" err="1"/>
              <a:t>först</a:t>
            </a:r>
            <a:r>
              <a:rPr dirty="0"/>
              <a:t>.</a:t>
            </a:r>
          </a:p>
          <a:p>
            <a:endParaRPr dirty="0"/>
          </a:p>
          <a:p>
            <a:r>
              <a:rPr dirty="0" err="1"/>
              <a:t>Två saker som är populära men svagt belagda. Jag-budskap som ren formel: en studie (Rogers m.fl., 2018) fann att den bäst bedömda öppningen börjar med den andres perspektiv och sedan går över till det egna i jag-form, medan ett naket »jag känner« ofta studsar. Nonviolent Communication: en systematisk översikt (Juncadella, 2013) hittade bara 14 små studier, för svaga för att dra slutsatser. Och om något behöver repareras: de viktigaste delarna i en ursäkt är att ta ansvar och erbjuda en lösning (Lewicki m.fl., 2016; bara läst i andrahandskälla).</a:t>
            </a:r>
          </a:p>
          <a:p>
            <a:endParaRPr dirty="0"/>
          </a:p>
          <a:p>
            <a:r>
              <a:rPr dirty="0"/>
              <a:t>REFERENSER:</a:t>
            </a:r>
          </a:p>
          <a:p>
            <a:r>
              <a:rPr dirty="0"/>
              <a:t>Bruneau, E. G., &amp; Saxe, R. (2012). The power of being heard: The benefits of 'perspective-giving' in the context of intergroup conflict. </a:t>
            </a:r>
            <a:r>
              <a:rPr i="1" dirty="0"/>
              <a:t>Journal of Experimental Social Psychology, 48</a:t>
            </a:r>
            <a:r>
              <a:rPr dirty="0"/>
              <a:t>(4), 855–866. </a:t>
            </a:r>
            <a:r>
              <a:rPr dirty="0">
                <a:hlinkClick r:id="rId3"/>
              </a:rPr>
              <a:t>https://doi.org/10.1016/j.jesp.2012.02.017</a:t>
            </a:r>
          </a:p>
          <a:p>
            <a:r>
              <a:rPr dirty="0" err="1"/>
              <a:t>Itzchakov</a:t>
            </a:r>
            <a:r>
              <a:rPr dirty="0"/>
              <a:t>, G., Kluger, A. N., &amp; Castro, D. R. (2017). I am aware of my inconsistencies but can tolerate them: The effect of high quality listening on speakers' attitude ambivalence. </a:t>
            </a:r>
            <a:r>
              <a:rPr i="1" dirty="0"/>
              <a:t>Personality and Social Psychology Bulletin, 43</a:t>
            </a:r>
            <a:r>
              <a:rPr dirty="0"/>
              <a:t>(1), 105–120. </a:t>
            </a:r>
            <a:r>
              <a:rPr dirty="0">
                <a:hlinkClick r:id="rId4"/>
              </a:rPr>
              <a:t>https://doi.org/10.1177/0146167216675339</a:t>
            </a:r>
          </a:p>
          <a:p>
            <a:r>
              <a:rPr dirty="0" err="1"/>
              <a:t>Juncadella</a:t>
            </a:r>
            <a:r>
              <a:rPr dirty="0"/>
              <a:t>, C. M. (2013). </a:t>
            </a:r>
            <a:r>
              <a:rPr i="1" dirty="0"/>
              <a:t>What is the impact of the application of the Nonviolent Communication model on the development of empathy?</a:t>
            </a:r>
            <a:r>
              <a:rPr dirty="0"/>
              <a:t> [</a:t>
            </a:r>
            <a:r>
              <a:rPr dirty="0" err="1"/>
              <a:t>Masteruppsats</a:t>
            </a:r>
            <a:r>
              <a:rPr dirty="0"/>
              <a:t>, University of Sheffield]. </a:t>
            </a:r>
            <a:r>
              <a:rPr dirty="0">
                <a:hlinkClick r:id="rId5"/>
              </a:rPr>
              <a:t>https://nvc-global.net/wp-content/uploads/2019/02/Carme_Mampel_Juncadella.pdf</a:t>
            </a:r>
          </a:p>
          <a:p>
            <a:r>
              <a:rPr dirty="0"/>
              <a:t>Kluger, A. N., Lehmann, M., </a:t>
            </a:r>
            <a:r>
              <a:rPr dirty="0" err="1"/>
              <a:t>Aguinis</a:t>
            </a:r>
            <a:r>
              <a:rPr dirty="0"/>
              <a:t>, H., </a:t>
            </a:r>
            <a:r>
              <a:rPr dirty="0" err="1"/>
              <a:t>Itzchakov</a:t>
            </a:r>
            <a:r>
              <a:rPr dirty="0"/>
              <a:t>, G., </a:t>
            </a:r>
            <a:r>
              <a:rPr dirty="0" err="1"/>
              <a:t>Gordoni</a:t>
            </a:r>
            <a:r>
              <a:rPr dirty="0"/>
              <a:t>, G., </a:t>
            </a:r>
            <a:r>
              <a:rPr dirty="0" err="1"/>
              <a:t>Zyberaj</a:t>
            </a:r>
            <a:r>
              <a:rPr dirty="0"/>
              <a:t>, J., &amp; </a:t>
            </a:r>
            <a:r>
              <a:rPr dirty="0" err="1"/>
              <a:t>Bakaç</a:t>
            </a:r>
            <a:r>
              <a:rPr dirty="0"/>
              <a:t>, C. (2024). A meta-analytic systematic review and theory of the effects of perceived listening on work outcomes. </a:t>
            </a:r>
            <a:r>
              <a:rPr i="1" dirty="0"/>
              <a:t>Journal of Business and Psychology, 39</a:t>
            </a:r>
            <a:r>
              <a:rPr dirty="0"/>
              <a:t>(2), 295–344. </a:t>
            </a:r>
            <a:r>
              <a:rPr dirty="0">
                <a:hlinkClick r:id="rId6"/>
              </a:rPr>
              <a:t>https://doi.org/10.1007/s10869-023-09897-5</a:t>
            </a:r>
          </a:p>
          <a:p>
            <a:r>
              <a:rPr dirty="0"/>
              <a:t>Lewicki, R. J., Polin, B., &amp; </a:t>
            </a:r>
            <a:r>
              <a:rPr dirty="0" err="1"/>
              <a:t>Lount</a:t>
            </a:r>
            <a:r>
              <a:rPr dirty="0"/>
              <a:t>, R. B. (2016). An exploration of the structure of effective apologies. </a:t>
            </a:r>
            <a:r>
              <a:rPr i="1" dirty="0"/>
              <a:t>Negotiation and Conflict Management Research, 9</a:t>
            </a:r>
            <a:r>
              <a:rPr dirty="0"/>
              <a:t>(2), 177–196. </a:t>
            </a:r>
            <a:r>
              <a:rPr dirty="0">
                <a:hlinkClick r:id="rId7"/>
              </a:rPr>
              <a:t>https://doi.org/10.1111/ncmr.12073</a:t>
            </a:r>
          </a:p>
          <a:p>
            <a:r>
              <a:rPr dirty="0"/>
              <a:t>Rogers, S. L., Howieson, J., &amp; Neame, C. (2018). I understand you feel that way, but I feel this way: The benefits of I-language and communicating perspective during conflict. </a:t>
            </a:r>
            <a:r>
              <a:rPr i="1" dirty="0" err="1"/>
              <a:t>PeerJ</a:t>
            </a:r>
            <a:r>
              <a:rPr i="1" dirty="0"/>
              <a:t>, 6</a:t>
            </a:r>
            <a:r>
              <a:rPr dirty="0"/>
              <a:t>, Artikel e4831. </a:t>
            </a:r>
            <a:r>
              <a:rPr dirty="0">
                <a:hlinkClick r:id="rId8"/>
              </a:rPr>
              <a:t>https://doi.org/10.7717/peerj.4831</a:t>
            </a:r>
          </a:p>
          <a:p>
            <a:r>
              <a:rPr dirty="0"/>
              <a:t>Yeomans, M., Minson, J., Collins, H., Chen, F., &amp; Gino, F. (2020). Conversational receptiveness: Improving engagement with opposing views. </a:t>
            </a:r>
            <a:r>
              <a:rPr i="1" dirty="0"/>
              <a:t>Organizational Behavior and Human Decision Processes, 160</a:t>
            </a:r>
            <a:r>
              <a:rPr dirty="0"/>
              <a:t>, 131–148. </a:t>
            </a:r>
            <a:r>
              <a:rPr dirty="0">
                <a:hlinkClick r:id="rId9"/>
              </a:rPr>
              <a:t>https://doi.org/10.1016/j.obhdp.2020.03.011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SÄG:</a:t>
            </a:r>
          </a:p>
          <a:p>
            <a:r>
              <a:t>När ni blir kritiserade på jobbet: vilken är den första handlingsimpulsen? Gå i försvar, höja rösten, tystna, förklara? Och vilket tankegrepp eller vilken formulering skulle hjälpa mest just då? Skriv i chatten, ingen behöver dela mer än hen vill. Välj gärna en enda sak att pröva den här veckan.</a:t>
            </a:r>
          </a:p>
          <a:p>
            <a:endParaRPr/>
          </a:p>
          <a:p>
            <a:r>
              <a:t>BAKGRUND:</a:t>
            </a:r>
          </a:p>
          <a:p>
            <a:r>
              <a:t>Cirka tre minuter. Poängen är att den första fasen, att bara lägga märke till, redan är ett stort steg, och att det finns något konkret att göra i nästa. Forskningen om träning säger att en enstaka timme ger liten effekt utan övning.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 4 återvänder till systemnivån. Arbetsbladet för organisationsdiagnos (Jordan, 2014) är ett verktyg för att på 15–20 minuter få överblick över var i organisationen det finns olösta frågor, problematiska förutsättningar och blockerade önskemål. Det kan användas av en chef eller konsult på egen hand, eller ännu hellre av medarbetare och chefer tillsammans i mindre grupper.</a:t>
            </a:r>
          </a:p>
          <a:p>
            <a:endParaRPr/>
          </a:p>
          <a:p>
            <a:r>
              <a:t>REFERENSER:</a:t>
            </a:r>
          </a:p>
          <a:p>
            <a:r>
              <a:t>Jordan, T. (2014). </a:t>
            </a:r>
            <a:r>
              <a:rPr i="1"/>
              <a:t>Organisationsdiagnos: Instruktioner för checklista och arbetsblad</a:t>
            </a:r>
            <a:r>
              <a:t>. Göteborgs universitet. </a:t>
            </a:r>
            <a:r>
              <a:rPr>
                <a:hlinkClick r:id="rId3"/>
              </a:rPr>
              <a:t>https://www.gu.se/sites/default/files/2026-08/Arbetsbladinstruktioner%20organisationsdiagnos.pdf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Arbetsbladet betraktar arbetsplatsen som ett samhälle där olika delar måste fungera ihop. Störningar i en del leder till frustration hos enskilda som tar ut den på varandra, medan det egentliga problemet ligger någon annanstans. Nio områden med en nyckelfråga vardera. Områdena går snabbt att gå igenom, och hela frågelistan skickas ut efteråt. Poängen: konflikter mellan personer kan ha sin rot i otydliga mål, oklara roller eller belöningar som upplevs orättvisa.</a:t>
            </a:r>
          </a:p>
          <a:p>
            <a:endParaRPr/>
          </a:p>
          <a:p>
            <a:r>
              <a:t>Så används arbetsbladet, som också finns som dold extrabild: områdena gås igenom ett och ett, gärna i mindre grupper med både chefer och medarbetare. Färglägg varje område grönt eller rött, oftast blir det både och. Ta ställning och förklara varför, och anteckna. På 15 till 20 minuter får man ofta en god överblick. Frågorna på bilden är förkortade, de fullständiga står i Jordans (2014) arbetsblad som skickas ut efteråt.</a:t>
            </a:r>
          </a:p>
          <a:p>
            <a:endParaRPr/>
          </a:p>
          <a:p>
            <a:r>
              <a:t>Tillägg ur forskningen: en översikt av 44 artiklar (Almost m.fl., 2016) pekar ut samma grogrund som arbetsbladet. Otydliga och överlappande roller, hög arbetsbelastning och tidspress, att rapportera till flera chefer, misstro. Passivt ledarskap ökar både sak- och relationskonflikt, och norsk forskning (Skogstad m.fl., 2007) kopplar låt gå-ledarskap till rollkonflikter, kollegekonflikter och i förlängningen mobbning. Ett fynd som passar en folkrörelse: skeninflytande, på engelska pseudo voice. Medarbetare vars chef frågar efter synpunkter utan avsikt att väga in dem upplever mer konflikt än de vars synpunkter faktiskt vägs in. Förbehåll: översikten gäller mest vården.</a:t>
            </a:r>
          </a:p>
          <a:p>
            <a:endParaRPr/>
          </a:p>
          <a:p>
            <a:r>
              <a:t>Om idéburna organisationer finns lite forskning. En spansk fokusgruppsstudie (López-Cabrera m.fl., 2020; en enda organisation, 60 deltagare) fann att delade värderingar verkar skydda mot relationskonflikt, att anställda bär mer av konfliktbördan än frivilliga, och att det fanns spänningar mellan förtroendevalda ordförande och den anställda ledningen. Svag evidens, men värt att känna igen sig i.</a:t>
            </a:r>
          </a:p>
          <a:p>
            <a:endParaRPr/>
          </a:p>
          <a:p>
            <a:r>
              <a:t>REFERENSER:</a:t>
            </a:r>
          </a:p>
          <a:p>
            <a:r>
              <a:t>Almost, J., Wolff, A. C., Stewart-Pyne, A., McCormick, L. G., Strachan, D., &amp; D'Souza, C. (2016). Managing and mitigating conflict in healthcare teams: An integrative review. </a:t>
            </a:r>
            <a:r>
              <a:rPr i="1"/>
              <a:t>Journal of Advanced Nursing, 72</a:t>
            </a:r>
            <a:r>
              <a:t>(7), 1490–1505. </a:t>
            </a:r>
            <a:r>
              <a:rPr>
                <a:hlinkClick r:id="rId3"/>
              </a:rPr>
              <a:t>https://doi.org/10.1111/jan.12903</a:t>
            </a:r>
          </a:p>
          <a:p>
            <a:r>
              <a:t>Jordan, T. (2014). </a:t>
            </a:r>
            <a:r>
              <a:rPr i="1"/>
              <a:t>Organisationsdiagnos: Instruktioner för checklista och arbetsblad</a:t>
            </a:r>
            <a:r>
              <a:t>. Göteborgs universitet. </a:t>
            </a:r>
            <a:r>
              <a:rPr>
                <a:hlinkClick r:id="rId4"/>
              </a:rPr>
              <a:t>https://www.gu.se/sites/default/files/2026-08/Arbetsbladinstruktioner%20organisationsdiagnos.pdf</a:t>
            </a:r>
          </a:p>
          <a:p>
            <a:r>
              <a:t>López-Cabrera, R., Arenas, A., Medina, F. J., Euwema, M., &amp; Munduate, L. (2020). Inside "Pandora's box" of solidarity: Conflicts between paid staff and volunteers in the non-profit sector. </a:t>
            </a:r>
            <a:r>
              <a:rPr i="1"/>
              <a:t>Frontiers in Psychology, 11</a:t>
            </a:r>
            <a:r>
              <a:t>, Artikel 556. </a:t>
            </a:r>
            <a:r>
              <a:rPr>
                <a:hlinkClick r:id="rId5"/>
              </a:rPr>
              <a:t>https://doi.org/10.3389/fpsyg.2020.00556</a:t>
            </a:r>
          </a:p>
          <a:p>
            <a:r>
              <a:t>Skogstad, A., Einarsen, S., Torsheim, T., Aasland, M. S., &amp; Hetland, H. (2007). The destructiveness of laissez-faire leadership behavior. </a:t>
            </a:r>
            <a:r>
              <a:rPr i="1"/>
              <a:t>Journal of Occupational Health Psychology, 12</a:t>
            </a:r>
            <a:r>
              <a:t>(1), 80–92. </a:t>
            </a:r>
            <a:r>
              <a:rPr>
                <a:hlinkClick r:id="rId6"/>
              </a:rPr>
              <a:t>https://doi.org/10.1037/1076-8998.12.1.80</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Den sista byggstenen gäller teamet. Flera källor pekar åt samma håll: grupper som i förväg kommer överens om hur de tar oenighet klarar sig bättre än grupper som löser varje konflikt när den väl brunnit upp.</a:t>
            </a:r>
          </a:p>
          <a:p>
            <a:endParaRPr/>
          </a:p>
          <a:p>
            <a:r>
              <a:t>Behfar m.fl. (2008) följde 57 team och fann tre vanor hos dem som både presterade och trivdes över tid. De höll sig till innehållet i det som sades och hängde inte upp sig på tonen. De förklarade öppet varför arbetet fördelades som det gjorde. Och de fördelade efter kompetens, inte efter vem som råkade anmäla sig.</a:t>
            </a:r>
          </a:p>
          <a:p>
            <a:endParaRPr/>
          </a:p>
          <a:p>
            <a:r>
              <a:t>Ett mönster att känna igen i en idéburen organisation: team som hade det trevligt och var måna om konsensus, men som gick för fort fram till enighet och tog med allas idéer i stället för att pröva dem, trivdes bra men presterade sämre. Harmoni är inte samma sak som ett fungerande samarbete.</a:t>
            </a:r>
          </a:p>
          <a:p>
            <a:endParaRPr/>
          </a:p>
          <a:p>
            <a:r>
              <a:t>Spelregeln till höger är ett exempel, inte ett forskningsresultat. O'Neill och McLarnon (2018) nämner den som exempel på en norm för relationskonflikter: man går först till personen det gäller, och sedan till chefen om det inte hjälper. Det är också samma ordning som Arbetsmiljöverkets allmänna råd beskriver (Arbetsmiljöverket, 2023). Programmet CREW, där arbetsgrupper själva satte normer för respekt, gav bättre klimat som höll i sig ett år (Gilin Oore m.fl., 2015).</a:t>
            </a:r>
          </a:p>
          <a:p>
            <a:endParaRPr/>
          </a:p>
          <a:p>
            <a:r>
              <a:t>För er som arbetar delvis på distans: Hinds och Mortensen (2005) fann mer konflikt i utspridda team, och att delad identitet, delad bild av läget och spontan, informell kontakt dämpade den. Håll småpratet vid liv. Förbehåll: den studien har jag bara läst i sammanfattning, och Behfars team var studentteam utan chef.</a:t>
            </a:r>
          </a:p>
          <a:p>
            <a:endParaRPr/>
          </a:p>
          <a:p>
            <a:r>
              <a:t>REFERENSER:</a:t>
            </a:r>
          </a:p>
          <a:p>
            <a:r>
              <a:t>Arbetsmiljöverket. (2023). </a:t>
            </a:r>
            <a:r>
              <a:rPr i="1"/>
              <a:t>Planering och organisering av arbetsmiljöarbete: Grundläggande skyldigheter för dig med arbetsgivaransvar</a:t>
            </a:r>
            <a:r>
              <a:t> (AFS 2023:2). </a:t>
            </a:r>
            <a:r>
              <a:rPr>
                <a:hlinkClick r:id="rId3"/>
              </a:rPr>
              <a:t>https://www.av.se/globalassets/filer/publikationer/foreskrifter/planering-och-organisering-av-arbetsmiljoarbete-grundlaggande-skyldigheter-for-dig-med-arbetsgivaransvar-afs2023-2.pdf</a:t>
            </a:r>
          </a:p>
          <a:p>
            <a:r>
              <a:t>Behfar, K. J., Peterson, R. S., Mannix, E. A., &amp; Trochim, W. M. K. (2008). The critical role of conflict resolution in teams: A close look at the links between conflict type, conflict management strategies, and team outcomes. </a:t>
            </a:r>
            <a:r>
              <a:rPr i="1"/>
              <a:t>Journal of Applied Psychology, 93</a:t>
            </a:r>
            <a:r>
              <a:t>(1), 170–188. </a:t>
            </a:r>
            <a:r>
              <a:rPr>
                <a:hlinkClick r:id="rId4"/>
              </a:rPr>
              <a:t>https://doi.org/10.1037/0021-9010.93.1.170</a:t>
            </a:r>
          </a:p>
          <a:p>
            <a:r>
              <a:t>Gilin Oore, D., Leiter, M. P., &amp; LeBlanc, D. E. (2015). Individual and organizational factors promoting successful responses to workplace conflict. </a:t>
            </a:r>
            <a:r>
              <a:rPr i="1"/>
              <a:t>Canadian Psychology, 56</a:t>
            </a:r>
            <a:r>
              <a:t>(3), 301–310. </a:t>
            </a:r>
            <a:r>
              <a:rPr>
                <a:hlinkClick r:id="rId5"/>
              </a:rPr>
              <a:t>https://doi.org/10.1037/cap0000032</a:t>
            </a:r>
          </a:p>
          <a:p>
            <a:r>
              <a:t>Hinds, P. J., &amp; Mortensen, M. (2005). Understanding conflict in geographically distributed teams: The moderating effects of shared identity, shared context, and spontaneous communication. </a:t>
            </a:r>
            <a:r>
              <a:rPr i="1"/>
              <a:t>Organization Science, 16</a:t>
            </a:r>
            <a:r>
              <a:t>(3), 290–307. </a:t>
            </a:r>
            <a:r>
              <a:rPr>
                <a:hlinkClick r:id="rId6"/>
              </a:rPr>
              <a:t>https://doi.org/10.1287/orsc.1050.0122</a:t>
            </a:r>
          </a:p>
          <a:p>
            <a:r>
              <a:t>O'Neill, T. A., &amp; McLarnon, M. J. W. (2018). Optimizing team conflict dynamics for high performance teamwork. </a:t>
            </a:r>
            <a:r>
              <a:rPr i="1"/>
              <a:t>Human Resource Management Review, 28</a:t>
            </a:r>
            <a:r>
              <a:t>(4), 378–394. </a:t>
            </a:r>
            <a:r>
              <a:rPr>
                <a:hlinkClick r:id="rId7"/>
              </a:rPr>
              <a:t>https://doi.org/10.1016/j.hrmr.2017.06.002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Sammanfattning i fyra punkter. Ett: fråga var tyngdpunkten ligger. Vilket hörn i triangeln, vilken sorts konflikt, och vilket behov är blockerat? Två: lär dig känna igen trösklarna i trappan, särskilt de tidiga, och vänta inte. Det är framför allt den passiva hanteringen som hänger ihop med utmattning (Dijkstra m.fl., 2009). Tre: den mest tillgängliga hävstången är du själv. Lägg märke till din tolkning, känsla och impuls, använd ett tankegrepp, och bekräfta den andre innan du kommer med din invändning. Fyra: bestäm spelreglerna i förväg, och ta reda på vilka rutiner som gäller hos er och vem som är skyddsombud. Välj gärna en enda sak att pröva den här veckan: enstaka utbildningstillfällen ger liten effekt utan övning.</a:t>
            </a:r>
          </a:p>
          <a:p>
            <a:endParaRPr/>
          </a:p>
          <a:p>
            <a:r>
              <a:t>REFERENSER:</a:t>
            </a:r>
          </a:p>
          <a:p>
            <a:r>
              <a:t>Dijkstra, M. T. M., De Dreu, C. K. W., Evers, A., &amp; van Dierendonck, D. (2009). Passive responses to interpersonal conflict at work amplify employee strain. </a:t>
            </a:r>
            <a:r>
              <a:rPr i="1"/>
              <a:t>European Journal of Work and Organizational Psychology, 18</a:t>
            </a:r>
            <a:r>
              <a:t>(4), 405–423. </a:t>
            </a:r>
            <a:r>
              <a:rPr>
                <a:hlinkClick r:id="rId3"/>
              </a:rPr>
              <a:t>https://doi.org/10.1080/13594320802510880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Frågestund, cirka sju minuter, frågor från chatten och muntligt.</a:t>
            </a:r>
          </a:p>
          <a:p>
            <a:endParaRPr/>
          </a:p>
          <a:p>
            <a:r>
              <a:t>SÄG, om det blir tyst:</a:t>
            </a:r>
          </a:p>
          <a:p>
            <a:r>
              <a:t>Vilket av verktygen tror ni att ni kan använda redan nästa vecka?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SÄG:</a:t>
            </a:r>
          </a:p>
          <a:p>
            <a:r>
              <a:t>Allt som ligger bakom timmen finns på de här tre bilderna. Jordans fyra grundtexter ligger fritt på nätet och skickas ut efteråt tillsammans med arbetsbladet. Poddtipsen är för den som hellre lyssnar: tre avsnitt av Dumma människor, och ett avsnitt om konflikthantering ur ABF:s och LO:s egen serie Tvärfackliga studier.</a:t>
            </a:r>
          </a:p>
          <a:p>
            <a:endParaRPr/>
          </a:p>
          <a:p>
            <a:r>
              <a:t>BAKGRUND:</a:t>
            </a:r>
          </a:p>
          <a:p>
            <a:r>
              <a:t>Glasls fullständiga modell finns bara på tyska, men Jordans svenska sammanfattning räcker långt. Dumma människor görs av Lina Thomsgård och psykologen Björn Hedensjö. Tvärfackliga studier är en utbildningsserie från ABF och LO, med gänget bakom Fack you-podcast som programledare.</a:t>
            </a:r>
          </a:p>
          <a:p>
            <a:endParaRPr/>
          </a:p>
          <a:p>
            <a:r>
              <a:t>REFERENSER:</a:t>
            </a:r>
          </a:p>
          <a:p>
            <a:r>
              <a:t>Jordan, T. (2002). </a:t>
            </a:r>
            <a:r>
              <a:rPr i="1"/>
              <a:t>Brist på självinsikt: En viktig orsak till elakartade konflikter</a:t>
            </a:r>
            <a:r>
              <a:t>. Göteborgs universitet. </a:t>
            </a:r>
            <a:r>
              <a:rPr>
                <a:hlinkClick r:id="rId3"/>
              </a:rPr>
              <a:t>https://www.gu.se/sites/default/files/2020-09/Sja%CC%88lvinsikt%20.pdf</a:t>
            </a:r>
          </a:p>
          <a:p>
            <a:r>
              <a:t>Jordan, T. (2006). </a:t>
            </a:r>
            <a:r>
              <a:rPr i="1"/>
              <a:t>Konfliktkunskapens ABC</a:t>
            </a:r>
            <a:r>
              <a:t> (version 2). Göteborgs universitet. </a:t>
            </a:r>
            <a:r>
              <a:rPr>
                <a:hlinkClick r:id="rId4"/>
              </a:rPr>
              <a:t>https://www.gu.se/sites/default/files/2020-09/Konfliktkunskapens%20ABC.pdf</a:t>
            </a:r>
          </a:p>
          <a:p>
            <a:r>
              <a:t>Jordan, T. (2014). </a:t>
            </a:r>
            <a:r>
              <a:rPr i="1"/>
              <a:t>Organisationsdiagnos: Instruktioner för checklista och arbetsblad</a:t>
            </a:r>
            <a:r>
              <a:t>. Göteborgs universitet. </a:t>
            </a:r>
            <a:r>
              <a:rPr>
                <a:hlinkClick r:id="rId5"/>
              </a:rPr>
              <a:t>https://www.gu.se/sites/default/files/2026-08/Arbetsbladinstruktioner%20organisationsdiagnos.pdf</a:t>
            </a:r>
          </a:p>
          <a:p>
            <a:r>
              <a:t>Jordan, T. (u.å.). </a:t>
            </a:r>
            <a:r>
              <a:rPr i="1"/>
              <a:t>Konflikters eskalation</a:t>
            </a:r>
            <a:r>
              <a:t>. Göteborgs universitet. </a:t>
            </a:r>
            <a:r>
              <a:rPr>
                <a:hlinkClick r:id="rId6"/>
              </a:rPr>
              <a:t>https://www.gu.se/sites/default/files/2020-09/Konflikters%20eskalation.pdf</a:t>
            </a:r>
          </a:p>
          <a:p>
            <a:r>
              <a:t>Podfabriken (Producent). (2022, 28 februari). Konflikthantering [Avsnitt i poddradioprogram]. I </a:t>
            </a:r>
            <a:r>
              <a:rPr i="1"/>
              <a:t>Tvärfackliga studier</a:t>
            </a:r>
            <a:r>
              <a:t>. Arbetarnas bildningsförbund och Landsorganisationen i Sverige. </a:t>
            </a:r>
            <a:r>
              <a:rPr>
                <a:hlinkClick r:id="rId7"/>
              </a:rPr>
              <a:t>https://open.spotify.com/episode/2hwn1u8bCgDShCaXjn2CfS</a:t>
            </a:r>
          </a:p>
          <a:p>
            <a:r>
              <a:t>Rahim, M. A. (2023). </a:t>
            </a:r>
            <a:r>
              <a:rPr i="1"/>
              <a:t>Managing conflict in organizations</a:t>
            </a:r>
            <a:r>
              <a:t> (5:e uppl.). Routledge. </a:t>
            </a:r>
            <a:r>
              <a:rPr>
                <a:hlinkClick r:id="rId8"/>
              </a:rPr>
              <a:t>https://doi.org/10.4324/9781003285861</a:t>
            </a:r>
          </a:p>
          <a:p>
            <a:r>
              <a:t>Thomsgård, L., &amp; Hedensjö, B. (Programledare). (2020, 23 september). Bråka bra: Grälets psykologi (Nr 45) [Avsnitt i poddradioprogram]. I </a:t>
            </a:r>
            <a:r>
              <a:rPr i="1"/>
              <a:t>Dumma människor</a:t>
            </a:r>
            <a:r>
              <a:t>. Acast. </a:t>
            </a:r>
            <a:r>
              <a:rPr>
                <a:hlinkClick r:id="rId9"/>
              </a:rPr>
              <a:t>https://play.acast.com/s/dummamanniskor/45.brakabra-graletspsykologi-</a:t>
            </a:r>
          </a:p>
          <a:p>
            <a:r>
              <a:t>Thomsgård, L., &amp; Hedensjö, B. (Programledare). (2025, 3 december). Tre trick som desarmerar relationsbråk (Nr 287) [Avsnitt i poddradioprogram]. I </a:t>
            </a:r>
            <a:r>
              <a:rPr i="1"/>
              <a:t>Dumma människor</a:t>
            </a:r>
            <a:r>
              <a:t>. Acast. </a:t>
            </a:r>
            <a:r>
              <a:rPr>
                <a:hlinkClick r:id="rId10"/>
              </a:rPr>
              <a:t>https://shows.acast.com/dummamanniskor/episodes/287-tre-trick-som-desarmerar-relationsbrak</a:t>
            </a:r>
          </a:p>
          <a:p>
            <a:r>
              <a:t>Thomsgård, L., &amp; Hedensjö, B. (Programledare). (2026, 15 april). Fem sätt att bota din konflikträdsla (Nr 306) [Avsnitt i poddradioprogram]. I </a:t>
            </a:r>
            <a:r>
              <a:rPr i="1"/>
              <a:t>Dumma människor</a:t>
            </a:r>
            <a:r>
              <a:t>. Acast. </a:t>
            </a:r>
            <a:r>
              <a:rPr>
                <a:hlinkClick r:id="rId11"/>
              </a:rPr>
              <a:t>https://shows.acast.com/dummamanniskor/episodes/306-fem-satt-att-bota-din-konfliktradsla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Andra källbilden: föreskrifterna, hälsoforskningen och metaanalyserna om konflikttyper i team. Den viktigaste enskilda källan är Yuan, Yin och Sun (2026), den färskaste sammanställningen av sambandet mellan konflikttyper och gruppers prestation.</a:t>
            </a:r>
          </a:p>
          <a:p>
            <a:endParaRPr/>
          </a:p>
          <a:p>
            <a:r>
              <a:t>REFERENSER:</a:t>
            </a:r>
          </a:p>
          <a:p>
            <a:r>
              <a:t>Arbetsmiljöverket. (2023). </a:t>
            </a:r>
            <a:r>
              <a:rPr i="1"/>
              <a:t>Planering och organisering av arbetsmiljöarbete: Grundläggande skyldigheter för dig med arbetsgivaransvar</a:t>
            </a:r>
            <a:r>
              <a:t> (AFS 2023:2). </a:t>
            </a:r>
            <a:r>
              <a:rPr>
                <a:hlinkClick r:id="rId3"/>
              </a:rPr>
              <a:t>https://www.av.se/globalassets/filer/publikationer/foreskrifter/planering-och-organisering-av-arbetsmiljoarbete-grundlaggande-skyldigheter-for-dig-med-arbetsgivaransvar-afs2023-2.pdf</a:t>
            </a:r>
          </a:p>
          <a:p>
            <a:r>
              <a:t>Bradley, B. H., Postlethwaite, B. E., Klotz, A. C., Hamdani, M. R., &amp; Brown, K. G. (2012). Reaping the benefits of task conflict in teams: The critical role of team psychological safety climate. </a:t>
            </a:r>
            <a:r>
              <a:rPr i="1"/>
              <a:t>Journal of Applied Psychology, 97</a:t>
            </a:r>
            <a:r>
              <a:t>(1), 151–158. </a:t>
            </a:r>
            <a:r>
              <a:rPr>
                <a:hlinkClick r:id="rId4"/>
              </a:rPr>
              <a:t>https://doi.org/10.1037/a0024200</a:t>
            </a:r>
          </a:p>
          <a:p>
            <a:r>
              <a:t>de Wit, F. R. C., Greer, L. L., &amp; Jehn, K. A. (2012). The paradox of intragroup conflict: A meta-analysis. </a:t>
            </a:r>
            <a:r>
              <a:rPr i="1"/>
              <a:t>Journal of Applied Psychology, 97</a:t>
            </a:r>
            <a:r>
              <a:t>(2), 360–390. </a:t>
            </a:r>
            <a:r>
              <a:rPr>
                <a:hlinkClick r:id="rId5"/>
              </a:rPr>
              <a:t>https://doi.org/10.1037/a0024844</a:t>
            </a:r>
          </a:p>
          <a:p>
            <a:r>
              <a:t>Dijkstra, M. T. M., De Dreu, C. K. W., Evers, A., &amp; van Dierendonck, D. (2009). Passive responses to interpersonal conflict at work amplify employee strain. </a:t>
            </a:r>
            <a:r>
              <a:rPr i="1"/>
              <a:t>European Journal of Work and Organizational Psychology, 18</a:t>
            </a:r>
            <a:r>
              <a:t>(4), 405–423. </a:t>
            </a:r>
            <a:r>
              <a:rPr>
                <a:hlinkClick r:id="rId6"/>
              </a:rPr>
              <a:t>https://doi.org/10.1080/13594320802510880</a:t>
            </a:r>
          </a:p>
          <a:p>
            <a:r>
              <a:t>Gerhardt, C., Semmer, N. K., Sauter, S., Walker, A., de Wijn, N., Kälin, W., Kottwitz, M. U., Kersten, B., Ulrich, B., &amp; Elfering, A. (2021). How are social stressors at work related to well-being and health? A systematic review and meta-analysis. </a:t>
            </a:r>
            <a:r>
              <a:rPr i="1"/>
              <a:t>BMC Public Health, 21</a:t>
            </a:r>
            <a:r>
              <a:t>, Artikel 890. </a:t>
            </a:r>
            <a:r>
              <a:rPr>
                <a:hlinkClick r:id="rId7"/>
              </a:rPr>
              <a:t>https://doi.org/10.1186/s12889-021-10894-7</a:t>
            </a:r>
          </a:p>
          <a:p>
            <a:r>
              <a:t>Hyde, M., Jäppinen, P., Theorell, T., &amp; Oxenstierna, G. (2006). Workplace conflict resolution and the health of employees in the Swedish and Finnish units of an industrial company. </a:t>
            </a:r>
            <a:r>
              <a:rPr i="1"/>
              <a:t>Social Science &amp; Medicine, 63</a:t>
            </a:r>
            <a:r>
              <a:t>(8), 2218–2227. </a:t>
            </a:r>
            <a:r>
              <a:rPr>
                <a:hlinkClick r:id="rId8"/>
              </a:rPr>
              <a:t>https://doi.org/10.1016/j.socscimed.2006.05.002</a:t>
            </a:r>
          </a:p>
          <a:p>
            <a:r>
              <a:t>Jehn, K. A., &amp; Bendersky, C. (2003). Intragroup conflict in organizations: A contingency perspective on the conflict-outcome relationship. </a:t>
            </a:r>
            <a:r>
              <a:rPr i="1"/>
              <a:t>Research in Organizational Behavior, 25</a:t>
            </a:r>
            <a:r>
              <a:t>, 187–242. </a:t>
            </a:r>
            <a:r>
              <a:rPr>
                <a:hlinkClick r:id="rId9"/>
              </a:rPr>
              <a:t>https://doi.org/10.1016/S0191-3085(03)25005-X</a:t>
            </a:r>
          </a:p>
          <a:p>
            <a:r>
              <a:t>Stoetzer, U., Ahlberg, G., Johansson, G., Bergman, P., Hallsten, L., Forsell, Y., &amp; Lundberg, I. (2009). Problematic interpersonal relationships at work and depression: A Swedish prospective cohort study. </a:t>
            </a:r>
            <a:r>
              <a:rPr i="1"/>
              <a:t>Journal of Occupational Health, 51</a:t>
            </a:r>
            <a:r>
              <a:t>(2), 144–151. </a:t>
            </a:r>
            <a:r>
              <a:rPr>
                <a:hlinkClick r:id="rId10"/>
              </a:rPr>
              <a:t>https://doi.org/10.1539/joh.L8134</a:t>
            </a:r>
          </a:p>
          <a:p>
            <a:r>
              <a:t>Weingart, L. R., Behfar, K. J., Bendersky, C., Todorova, G., &amp; Jehn, K. A. (2015). The directness and oppositional intensity of conflict expression. </a:t>
            </a:r>
            <a:r>
              <a:rPr i="1"/>
              <a:t>Academy of Management Review, 40</a:t>
            </a:r>
            <a:r>
              <a:t>(2), 235–262. </a:t>
            </a:r>
            <a:r>
              <a:rPr>
                <a:hlinkClick r:id="rId11"/>
              </a:rPr>
              <a:t>https://doi.org/10.5465/amr.2013.0124</a:t>
            </a:r>
          </a:p>
          <a:p>
            <a:r>
              <a:t>Yuan, Z., Yin, J., &amp; Sun, J. (2026). The paradox of team conflict revisited: An updated meta-analysis of the team conflict–team performance relationships. </a:t>
            </a:r>
            <a:r>
              <a:rPr i="1"/>
              <a:t>Journal of Applied Psychology, 111</a:t>
            </a:r>
            <a:r>
              <a:t>(2), 195–224. </a:t>
            </a:r>
            <a:r>
              <a:rPr>
                <a:hlinkClick r:id="rId12"/>
              </a:rPr>
              <a:t>https://doi.org/10.1037/apl0001315</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Tredje källbilden: vad som hjälper, var konflikter gror, och forskningen bakom tankegreppen och samtalsråden i del 3. Yeomans m.fl. (2020) är den bäst belagda enskilda studien bakom råden, eftersom den var förregistrerad.</a:t>
            </a:r>
          </a:p>
          <a:p>
            <a:endParaRPr/>
          </a:p>
          <a:p>
            <a:r>
              <a:t>REFERENSER:</a:t>
            </a:r>
          </a:p>
          <a:p>
            <a:r>
              <a:t>Almost, J., Wolff, A. C., Stewart-Pyne, A., McCormick, L. G., Strachan, D., &amp; D'Souza, C. (2016). Managing and mitigating conflict in healthcare teams: An integrative review. </a:t>
            </a:r>
            <a:r>
              <a:rPr i="1"/>
              <a:t>Journal of Advanced Nursing, 72</a:t>
            </a:r>
            <a:r>
              <a:t>(7), 1490–1505. </a:t>
            </a:r>
            <a:r>
              <a:rPr>
                <a:hlinkClick r:id="rId3"/>
              </a:rPr>
              <a:t>https://doi.org/10.1111/jan.12903</a:t>
            </a:r>
          </a:p>
          <a:p>
            <a:r>
              <a:t>Behfar, K. J., Peterson, R. S., Mannix, E. A., &amp; Trochim, W. M. K. (2008). The critical role of conflict resolution in teams: A close look at the links between conflict type, conflict management strategies, and team outcomes. </a:t>
            </a:r>
            <a:r>
              <a:rPr i="1"/>
              <a:t>Journal of Applied Psychology, 93</a:t>
            </a:r>
            <a:r>
              <a:t>(1), 170–188. </a:t>
            </a:r>
            <a:r>
              <a:rPr>
                <a:hlinkClick r:id="rId4"/>
              </a:rPr>
              <a:t>https://doi.org/10.1037/0021-9010.93.1.170</a:t>
            </a:r>
          </a:p>
          <a:p>
            <a:r>
              <a:t>Finkel, E. J., Slotter, E. B., Luchies, L. B., Walton, G. M., &amp; Gross, J. J. (2013). A brief intervention to promote conflict reappraisal preserves marital quality over time. </a:t>
            </a:r>
            <a:r>
              <a:rPr i="1"/>
              <a:t>Psychological Science, 24</a:t>
            </a:r>
            <a:r>
              <a:t>(8), 1595–1601. </a:t>
            </a:r>
            <a:r>
              <a:rPr>
                <a:hlinkClick r:id="rId5"/>
              </a:rPr>
              <a:t>https://doi.org/10.1177/0956797612474938</a:t>
            </a:r>
          </a:p>
          <a:p>
            <a:r>
              <a:t>Galinsky, A. D., Maddux, W. W., Gilin, D., &amp; White, J. B. (2008). Why it pays to get inside the head of your opponent: The differential effects of perspective taking and empathy in negotiations. </a:t>
            </a:r>
            <a:r>
              <a:rPr i="1"/>
              <a:t>Psychological Science, 19</a:t>
            </a:r>
            <a:r>
              <a:t>(4), 378–384. </a:t>
            </a:r>
            <a:r>
              <a:rPr>
                <a:hlinkClick r:id="rId6"/>
              </a:rPr>
              <a:t>https://doi.org/10.1111/j.1467-9280.2008.02096.x</a:t>
            </a:r>
          </a:p>
          <a:p>
            <a:r>
              <a:t>Gilin Oore, D., Leiter, M. P., &amp; LeBlanc, D. E. (2015). Individual and organizational factors promoting successful responses to workplace conflict. </a:t>
            </a:r>
            <a:r>
              <a:rPr i="1"/>
              <a:t>Canadian Psychology, 56</a:t>
            </a:r>
            <a:r>
              <a:t>(3), 301–310. </a:t>
            </a:r>
            <a:r>
              <a:rPr>
                <a:hlinkClick r:id="rId7"/>
              </a:rPr>
              <a:t>https://doi.org/10.1037/cap0000032</a:t>
            </a:r>
          </a:p>
          <a:p>
            <a:r>
              <a:t>Grossmann, I., &amp; Kross, E. (2014). Exploring Solomon's paradox: Self-distancing eliminates the self-other asymmetry in wise reasoning about close relationships in younger and older adults. </a:t>
            </a:r>
            <a:r>
              <a:rPr i="1"/>
              <a:t>Psychological Science, 25</a:t>
            </a:r>
            <a:r>
              <a:t>(8), 1571–1580. </a:t>
            </a:r>
            <a:r>
              <a:rPr>
                <a:hlinkClick r:id="rId8"/>
              </a:rPr>
              <a:t>https://doi.org/10.1177/0956797614535400</a:t>
            </a:r>
          </a:p>
          <a:p>
            <a:r>
              <a:t>Kennedy, K. A., &amp; Pronin, E. (2008). When disagreement gets ugly: Perceptions of bias and the escalation of conflict. </a:t>
            </a:r>
            <a:r>
              <a:rPr i="1"/>
              <a:t>Personality and Social Psychology Bulletin, 34</a:t>
            </a:r>
            <a:r>
              <a:t>(6), 833–848. </a:t>
            </a:r>
            <a:r>
              <a:rPr>
                <a:hlinkClick r:id="rId9"/>
              </a:rPr>
              <a:t>https://doi.org/10.1177/0146167208315158</a:t>
            </a:r>
          </a:p>
          <a:p>
            <a:r>
              <a:t>Kluger, A. N., Lehmann, M., Aguinis, H., Itzchakov, G., Gordoni, G., Zyberaj, J., &amp; Bakaç, C. (2024). A meta-analytic systematic review and theory of the effects of perceived listening on work outcomes. </a:t>
            </a:r>
            <a:r>
              <a:rPr i="1"/>
              <a:t>Journal of Business and Psychology, 39</a:t>
            </a:r>
            <a:r>
              <a:t>(2), 295–344. </a:t>
            </a:r>
            <a:r>
              <a:rPr>
                <a:hlinkClick r:id="rId10"/>
              </a:rPr>
              <a:t>https://doi.org/10.1007/s10869-023-09897-5</a:t>
            </a:r>
          </a:p>
          <a:p>
            <a:r>
              <a:t>O'Neill, T. A., &amp; McLarnon, M. J. W. (2018). Optimizing team conflict dynamics for high performance teamwork. </a:t>
            </a:r>
            <a:r>
              <a:rPr i="1"/>
              <a:t>Human Resource Management Review, 28</a:t>
            </a:r>
            <a:r>
              <a:t>(4), 378–394. </a:t>
            </a:r>
            <a:r>
              <a:rPr>
                <a:hlinkClick r:id="rId11"/>
              </a:rPr>
              <a:t>https://doi.org/10.1016/j.hrmr.2017.06.002</a:t>
            </a:r>
          </a:p>
          <a:p>
            <a:r>
              <a:t>Skogstad, A., Einarsen, S., Torsheim, T., Aasland, M. S., &amp; Hetland, H. (2007). The destructiveness of laissez-faire leadership behavior. </a:t>
            </a:r>
            <a:r>
              <a:rPr i="1"/>
              <a:t>Journal of Occupational Health Psychology, 12</a:t>
            </a:r>
            <a:r>
              <a:t>(1), 80–92. </a:t>
            </a:r>
            <a:r>
              <a:rPr>
                <a:hlinkClick r:id="rId12"/>
              </a:rPr>
              <a:t>https://doi.org/10.1037/1076-8998.12.1.80</a:t>
            </a:r>
          </a:p>
          <a:p>
            <a:r>
              <a:t>Yeomans, M., Minson, J., Collins, H., Chen, F., &amp; Gino, F. (2020). Conversational receptiveness: Improving engagement with opposing views. </a:t>
            </a:r>
            <a:r>
              <a:rPr i="1"/>
              <a:t>Organizational Behavior and Human Decision Processes, 160</a:t>
            </a:r>
            <a:r>
              <a:t>, 131–148. </a:t>
            </a:r>
            <a:r>
              <a:rPr>
                <a:hlinkClick r:id="rId13"/>
              </a:rPr>
              <a:t>https://doi.org/10.1016/j.obhdp.2020.03.011</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Gör vi triangeln till en pyramid kan vi visa att konflikter har synliga och osynliga delar. Toppen är det presenterade problemet: det parterna själva säger att konflikten handlar om, de strategier och känslor de visar. Ofta toppen på ett isberg. Under finns den dolda agendan: det parterna är medvetna om men inte vill visa, taktiska skäl, sådant man skäms för. Parterna utvecklar ofta fantasier om motpartens dolda agenda, och de har låg träffsäkerhet. Fråga dig hur väl underbyggda dina antaganden om andras dolda motiv är. Djupast: det omedvetna, som oftast bara är det oreflekterade. Värderingar man inte vet hur starka de är, kroppsspråk man inte märker, och grundbehov som tar sig uttryck som krav på lön eller anklagelser om andras bristande engagemang.</a:t>
            </a:r>
          </a:p>
          <a:p>
            <a:endParaRPr/>
          </a:p>
          <a:p>
            <a:r>
              <a:t>Källa: Jordan (2006).</a:t>
            </a:r>
          </a:p>
          <a:p>
            <a:endParaRPr/>
          </a:p>
          <a:p>
            <a:r>
              <a:t>REFERENSER:</a:t>
            </a:r>
          </a:p>
          <a:p>
            <a:r>
              <a:t>Jordan, T. (2006). </a:t>
            </a:r>
            <a:r>
              <a:rPr i="1"/>
              <a:t>Konfliktkunskapens ABC</a:t>
            </a:r>
            <a:r>
              <a:t> (version 2). Göteborgs universitet. </a:t>
            </a:r>
            <a:r>
              <a:rPr>
                <a:hlinkClick r:id="rId3"/>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Fas 1. Steg 1: åsikter kristalliserar till ståndpunkter som upplevs oförenliga. Grupperingar bildas och fungerar som filter: negativa intryck av motparten bekräftar bilden, positiva fastnar inte. Men parterna tror fortfarande att problemen kan lösas med rationella argument. Tröskeln till steg 2: när någon tappar tron på renhårig argumentation och tar till manipulativa knep. Steg 2: samtal blir debatter. Kvasi-rationella argument: extrema slutledningar av motpartens utsagor, appeller till auktoriteter, provocera fram känsloutbrott och utnyttja dem. Konflikten blir en fråga om prestige: vem företräder sin ståndpunkt bäst? Tröskeln till steg 3: när en part agerar utan att konsultera motparten och ställer den inför fullbordat faktum. Steg 3: tron på diskussion är borta. Icke-verbala signaler tolkas, och pessimistiskt. Parterna ser sig inte längre som fullt ansvariga för följderna, en demoniserad zon växer. Tröskeln till steg 4: förtäckta personliga angrepp.</a:t>
            </a:r>
          </a:p>
          <a:p>
            <a:endParaRPr/>
          </a:p>
          <a:p>
            <a:r>
              <a:t>Koppling till forskningen: tröskeln 3 till 4, förtäckta personangrepp, är samma glidning som teamforskningen beskriver när sakkonflikt övergår i relationskonflikt. Oförskämdhet, skuldbeläggning och hårt språk driver glidningen (Almost m.fl., 2016), och tidig sakkonflikt förutsäger senare relationskonflikt (Yu &amp; Wei, 2025).</a:t>
            </a:r>
          </a:p>
          <a:p>
            <a:endParaRPr/>
          </a:p>
          <a:p>
            <a:r>
              <a:t>Källa till stegbeskrivningarna: Jordan (u.å.).</a:t>
            </a:r>
          </a:p>
          <a:p>
            <a:endParaRPr/>
          </a:p>
          <a:p>
            <a:r>
              <a:t>REFERENSER:</a:t>
            </a:r>
          </a:p>
          <a:p>
            <a:r>
              <a:t>Almost, J., Wolff, A. C., Stewart-Pyne, A., McCormick, L. G., Strachan, D., &amp; D'Souza, C. (2016). Managing and mitigating conflict in healthcare teams: An integrative review. </a:t>
            </a:r>
            <a:r>
              <a:rPr i="1"/>
              <a:t>Journal of Advanced Nursing, 72</a:t>
            </a:r>
            <a:r>
              <a:t>(7), 1490–1505. </a:t>
            </a:r>
            <a:r>
              <a:rPr>
                <a:hlinkClick r:id="rId3"/>
              </a:rPr>
              <a:t>https://doi.org/10.1111/jan.12903</a:t>
            </a:r>
          </a:p>
          <a:p>
            <a:r>
              <a:t>Jordan, T. (u.å.). </a:t>
            </a:r>
            <a:r>
              <a:rPr i="1"/>
              <a:t>Konflikters eskalation</a:t>
            </a:r>
            <a:r>
              <a:t>. Göteborgs universitet. </a:t>
            </a:r>
            <a:r>
              <a:rPr>
                <a:hlinkClick r:id="rId4"/>
              </a:rPr>
              <a:t>https://www.gu.se/sites/default/files/2020-09/Konflikters%20eskalation.pdf</a:t>
            </a:r>
          </a:p>
          <a:p>
            <a:r>
              <a:t>Yu, J., &amp; Wei, X. (2025). Whether and when team task conflict and relationship conflict transform over time: A meta-analysis based on cross-lagged panel model. </a:t>
            </a:r>
            <a:r>
              <a:rPr i="1"/>
              <a:t>International Journal of Conflict Management, 36</a:t>
            </a:r>
            <a:r>
              <a:t>(2), 452–479. </a:t>
            </a:r>
            <a:r>
              <a:rPr>
                <a:hlinkClick r:id="rId5"/>
              </a:rPr>
              <a:t>https://doi.org/10.1108/IJCMA-09-2024-0238</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Fas 2. Steg 4: nu handlar det om vinst eller förlust. Tänkandet blir svart eller vitt. Stereotypa bilder av motparten fixeras och korrigeras inte längre av erfarenhet. Typiskt är dementerbart straffbeteende: antydningar, ironi, dubbelbottnade kommentarer som kränker utan att formellt bryta normer. Parterna söker aktivt stöd och bygger koalitioner. Båda anser att de bara reagerar på den andre. Tröskeln till steg 5: att avsiktligt och offentligt kränka motpartens anseende. Steg 5: ansiktsförlust. En aha-upplevelse: man tycker sig genomskåda den andre totalt. Gamla händelser omtolkas, motparten har varit oärlig hela tiden. Fysisk avsky, svårt att ens äta tillsammans. Sympatisörer drar sig undan. Tröskeln till steg 6: ultimatum och strategiska hot. Steg 6: hot för att tvinga motparten i en riktning. Hoten binder den som hotar: tas hotet inte på allvar måste det utföras för trovärdighetens skull. Hotstrategier utgår från värsta möjliga reaktion och leder därför ofta till just det man ville förhindra. Tröskeln till steg 7: aktioner som ska oskadliggöra motpartens sanktionsförmåga.</a:t>
            </a:r>
          </a:p>
          <a:p>
            <a:endParaRPr/>
          </a:p>
          <a:p>
            <a:r>
              <a:t>Källa: Jordan (u.å.).</a:t>
            </a:r>
          </a:p>
          <a:p>
            <a:endParaRPr/>
          </a:p>
          <a:p>
            <a:r>
              <a:t>REFERENSER:</a:t>
            </a:r>
          </a:p>
          <a:p>
            <a:r>
              <a:t>Jordan, T. (u.å.). </a:t>
            </a:r>
            <a:r>
              <a:rPr i="1"/>
              <a:t>Konflikters eskalation</a:t>
            </a:r>
            <a:r>
              <a:t>. Göteborgs universitet. </a:t>
            </a:r>
            <a:r>
              <a:rPr>
                <a:hlinkClick r:id="rId3"/>
              </a:rPr>
              <a:t>https://www.gu.se/sites/default/files/2020-09/Konflikters%20eskalation.pdf</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Fas 3 ser vi sällan fullt ut i arbetslivet, men de tidiga dragen förekommer. Steg 7: motparten ses inte längre som bärare av mänskliga värden. Attackerna riktas mot motpartens sanktionsmakt: i organisationer kan det gälla finanser, legalitet, kontrollfunktioner. Skadeglädje: den andres förlust bokförs som egen vinst, även om det inte ger några fördelar. Kommunikationen är ensidig, signaler om nedtrappning uppfattas inte. Steg 8: attacker mot det som håller motparten samman, misskreditera ledare, splittra gruppen i inbördes kämpande delar. Enda spärren är omsorgen om den egna överlevnaden. Steg 9: även den spärren släpper. Ruin, konkurs, fängelse spelar ingen roll om bara fienden också faller. Det viktiga för oss är att förstå logiken: varje steg gör vägen tillbaka svårare, och därför lönar det sig att agera tidigt.</a:t>
            </a:r>
          </a:p>
          <a:p>
            <a:endParaRPr/>
          </a:p>
          <a:p>
            <a:r>
              <a:t>Källa: Jordan (u.å.).</a:t>
            </a:r>
          </a:p>
          <a:p>
            <a:endParaRPr/>
          </a:p>
          <a:p>
            <a:r>
              <a:t>REFERENSER:</a:t>
            </a:r>
          </a:p>
          <a:p>
            <a:r>
              <a:t>Jordan, T. (u.å.). </a:t>
            </a:r>
            <a:r>
              <a:rPr i="1"/>
              <a:t>Konflikters eskalation</a:t>
            </a:r>
            <a:r>
              <a:t>. Göteborgs universitet. </a:t>
            </a:r>
            <a:r>
              <a:rPr>
                <a:hlinkClick r:id="rId3"/>
              </a:rPr>
              <a:t>https://www.gu.se/sites/default/files/2020-09/Konflikters%20eskalation.pdf</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Vad händer i A-hörnet under eskalationen? Jordan (2006) sammanfattar tre förändringar. Kognition: varseblivningen blir selektiv, vi ser andras negativa sidor och våra egna positiva. Perspektivet krymper i tid och rum, vi tappar överblick över långsiktiga konsekvenser. Förmågan att hantera motstridig information minskar. Känslor: ökad lättretlighet, sammansatta känslor ersätts av ensidig sympati inåt och antipati utåt. Empatin minskar drastiskt. Motivation: flexibiliteten reduceras, mål och medel knyts ihop så att bara en lösning verkar möjlig. Motivationen förskjuts från egna intressen till att skada motparten och vinna tvekampen. Detta är också en bro till del 3: förändringarna sker i oss utan att vi märker det, och det är där självinsikt kommer in.</a:t>
            </a:r>
          </a:p>
          <a:p>
            <a:endParaRPr/>
          </a:p>
          <a:p>
            <a:r>
              <a:t>REFERENSER:</a:t>
            </a:r>
          </a:p>
          <a:p>
            <a:r>
              <a:t>Jordan, T. (2006). </a:t>
            </a:r>
            <a:r>
              <a:rPr i="1"/>
              <a:t>Konfliktkunskapens ABC</a:t>
            </a:r>
            <a:r>
              <a:t> (version 2). Göteborgs universitet. </a:t>
            </a:r>
            <a:r>
              <a:rPr>
                <a:hlinkClick r:id="rId3"/>
              </a:rPr>
              <a:t>https://www.gu.se/sites/default/files/2020-09/Konfliktkunskapens%20ABC.pdf</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Jordans (2002) tabell, förenklad. Sex inre processer, och för var och en tre grader av självinsikt. Ett par rader räcker som exempel. Varseblivning: kan jag sätta ihop det som händer till en sammanhängande berättelse, eller reagerar jag på varje enskild händelse för sig? Känslor: kan jag säga vad jag känner, värdera om känslan är önskvärd och göra något åt den? Tänkande: märker jag att jag tolkar, att andra kan tolka annorlunda? Tyckande: ser jag min antipati som något i mig, eller som en egenskap hos den andre? Detta är enligt Jordan mycket vanligt och en viktig faktor i många konflikter: tyckandet ageras ut direkt, kollegor behandlas som om de förtjänade det. Önskningar: kan jag äga mina önskemål, väga dem mot andras? Handlingsimpulser: känner jag igen mina reflexer, höja rösten, gå i försvar, sluta mig som en mussla, och kan jag hejda dem i stunden? Målet är inte att sluta känna eller tycka, utan att processerna blir verktyg för jaget i stället för jagets kärna.</a:t>
            </a:r>
          </a:p>
          <a:p>
            <a:endParaRPr/>
          </a:p>
          <a:p>
            <a:r>
              <a:t>REFERENSER:</a:t>
            </a:r>
          </a:p>
          <a:p>
            <a:r>
              <a:t>Jordan, T. (2002). </a:t>
            </a:r>
            <a:r>
              <a:rPr i="1"/>
              <a:t>Brist på självinsikt: En viktig orsak till elakartade konflikter</a:t>
            </a:r>
            <a:r>
              <a:t>. Göteborgs universitet. </a:t>
            </a:r>
            <a:r>
              <a:rPr>
                <a:hlinkClick r:id="rId3"/>
              </a:rPr>
              <a:t>https://www.gu.se/sites/default/files/2020-09/Sja%CC%88lvinsikt%20.pdf</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DOLD EXTRABILD. Ligger sist i filen och visas inte i bildspelet. Den tas med genom högerklick på bilden i vänsterspalten, Visa bild, och dras därefter till rätt plats.</a:t>
            </a:r>
          </a:p>
          <a:p>
            <a:endParaRPr/>
          </a:p>
          <a:p>
            <a:r>
              <a:t>Metoden är enkel. Gå igenom områdena ett och ett och färglägg symbolen på kartan: grönt betyder att delen fungerar bra som den är, rött att det finns obalanser, brister eller problem. Oftast blir det både rött och grönt i varierande proportion. Tillvägagångssättet är att skapa ett livligt samtal om hur det står till, gärna i mindre grupper, både chefer och medarbetare. Man måste ta ställning till om ett tema är problematiskt och förklara varför. Anteckna synpunkterna, de kan ligga till grund för en skriftlig organisationsdiagnos. På 15–20 minuter får man ofta en god överblick över olösta frågor, problematiska förutsättningar och blockerade önskemål. Kopplingen tillbaka: många relationskonflikter har sin rot här.</a:t>
            </a:r>
          </a:p>
          <a:p>
            <a:endParaRPr/>
          </a:p>
          <a:p>
            <a:r>
              <a:t>Källa: Jordan (2014).</a:t>
            </a:r>
          </a:p>
          <a:p>
            <a:endParaRPr/>
          </a:p>
          <a:p>
            <a:r>
              <a:t>REFERENSER:</a:t>
            </a:r>
          </a:p>
          <a:p>
            <a:r>
              <a:t>Jordan, T. (2014). </a:t>
            </a:r>
            <a:r>
              <a:rPr i="1"/>
              <a:t>Organisationsdiagnos: Instruktioner för checklista och arbetsblad</a:t>
            </a:r>
            <a:r>
              <a:t>. Göteborgs universitet. </a:t>
            </a:r>
            <a:r>
              <a:rPr>
                <a:hlinkClick r:id="rId3"/>
              </a:rPr>
              <a:t>https://www.gu.se/sites/default/files/2026-08/Arbetsbladinstruktioner%20organisationsdiagnos.pdf</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591495" y="320040"/>
            <a:ext cx="1051560" cy="1051560"/>
          </a:xfrm>
          <a:prstGeom prst="rect">
            <a:avLst/>
          </a:prstGeom>
        </p:spPr>
      </p:pic>
      <p:sp>
        <p:nvSpPr>
          <p:cNvPr id="3" name="Shape 0"/>
          <p:cNvSpPr/>
          <p:nvPr/>
        </p:nvSpPr>
        <p:spPr>
          <a:xfrm>
            <a:off x="-640080" y="4892040"/>
            <a:ext cx="3108960" cy="3108960"/>
          </a:xfrm>
          <a:prstGeom prst="ellipse">
            <a:avLst/>
          </a:prstGeom>
          <a:solidFill>
            <a:srgbClr val="D80811"/>
          </a:solidFill>
          <a:ln w="12700">
            <a:solidFill>
              <a:srgbClr val="D80811"/>
            </a:solidFill>
            <a:prstDash val="solid"/>
          </a:ln>
        </p:spPr>
        <p:txBody>
          <a:bodyPr/>
          <a:lstStyle/>
          <a:p>
            <a:endParaRPr lang="sv-SE"/>
          </a:p>
        </p:txBody>
      </p:sp>
      <p:sp>
        <p:nvSpPr>
          <p:cNvPr id="4" name="Shape 1"/>
          <p:cNvSpPr/>
          <p:nvPr/>
        </p:nvSpPr>
        <p:spPr>
          <a:xfrm>
            <a:off x="1828800" y="5715000"/>
            <a:ext cx="2103120" cy="2103120"/>
          </a:xfrm>
          <a:prstGeom prst="ellipse">
            <a:avLst/>
          </a:prstGeom>
          <a:solidFill>
            <a:srgbClr val="A50D1E"/>
          </a:solidFill>
          <a:ln w="12700">
            <a:solidFill>
              <a:srgbClr val="A50D1E"/>
            </a:solidFill>
            <a:prstDash val="solid"/>
          </a:ln>
        </p:spPr>
        <p:txBody>
          <a:bodyPr/>
          <a:lstStyle/>
          <a:p>
            <a:endParaRPr lang="sv-SE"/>
          </a:p>
        </p:txBody>
      </p:sp>
      <p:sp>
        <p:nvSpPr>
          <p:cNvPr id="5" name="Shape 2"/>
          <p:cNvSpPr/>
          <p:nvPr/>
        </p:nvSpPr>
        <p:spPr>
          <a:xfrm>
            <a:off x="3108960" y="4572000"/>
            <a:ext cx="4206240" cy="4206240"/>
          </a:xfrm>
          <a:prstGeom prst="ellipse">
            <a:avLst/>
          </a:prstGeom>
          <a:solidFill>
            <a:srgbClr val="D80811"/>
          </a:solidFill>
          <a:ln w="12700">
            <a:solidFill>
              <a:srgbClr val="D80811"/>
            </a:solidFill>
            <a:prstDash val="solid"/>
          </a:ln>
        </p:spPr>
        <p:txBody>
          <a:bodyPr/>
          <a:lstStyle/>
          <a:p>
            <a:endParaRPr lang="sv-SE"/>
          </a:p>
        </p:txBody>
      </p:sp>
      <p:sp>
        <p:nvSpPr>
          <p:cNvPr id="6" name="Shape 3"/>
          <p:cNvSpPr/>
          <p:nvPr/>
        </p:nvSpPr>
        <p:spPr>
          <a:xfrm>
            <a:off x="6400800" y="3566160"/>
            <a:ext cx="6583680" cy="6583680"/>
          </a:xfrm>
          <a:prstGeom prst="ellipse">
            <a:avLst/>
          </a:prstGeom>
          <a:solidFill>
            <a:srgbClr val="A50D1E"/>
          </a:solidFill>
          <a:ln w="12700">
            <a:solidFill>
              <a:srgbClr val="A50D1E"/>
            </a:solidFill>
            <a:prstDash val="solid"/>
          </a:ln>
        </p:spPr>
        <p:txBody>
          <a:bodyPr/>
          <a:lstStyle/>
          <a:p>
            <a:endParaRPr lang="sv-SE"/>
          </a:p>
        </p:txBody>
      </p:sp>
      <p:sp>
        <p:nvSpPr>
          <p:cNvPr id="7" name="Shape 4"/>
          <p:cNvSpPr/>
          <p:nvPr/>
        </p:nvSpPr>
        <p:spPr>
          <a:xfrm rot="21480000">
            <a:off x="896112" y="1078992"/>
            <a:ext cx="4297680" cy="1417320"/>
          </a:xfrm>
          <a:prstGeom prst="rect">
            <a:avLst/>
          </a:prstGeom>
          <a:solidFill>
            <a:srgbClr val="F8E0D8"/>
          </a:solidFill>
          <a:ln w="12700">
            <a:solidFill>
              <a:srgbClr val="F8E0D8"/>
            </a:solidFill>
            <a:prstDash val="solid"/>
          </a:ln>
        </p:spPr>
        <p:txBody>
          <a:bodyPr/>
          <a:lstStyle/>
          <a:p>
            <a:endParaRPr lang="sv-SE"/>
          </a:p>
        </p:txBody>
      </p:sp>
      <p:sp>
        <p:nvSpPr>
          <p:cNvPr id="8" name="Text 5"/>
          <p:cNvSpPr txBox="1"/>
          <p:nvPr/>
        </p:nvSpPr>
        <p:spPr>
          <a:xfrm rot="21480000">
            <a:off x="777240" y="960120"/>
            <a:ext cx="4297680" cy="1417320"/>
          </a:xfrm>
          <a:prstGeom prst="rect">
            <a:avLst/>
          </a:prstGeom>
          <a:solidFill>
            <a:srgbClr val="D80811"/>
          </a:solidFill>
          <a:ln/>
        </p:spPr>
        <p:txBody>
          <a:bodyPr wrap="square" lIns="0" tIns="0" rIns="0" bIns="0" rtlCol="0" anchor="ctr"/>
          <a:lstStyle/>
          <a:p>
            <a:pPr marL="0" indent="0" algn="ctr">
              <a:buNone/>
            </a:pPr>
            <a:r>
              <a:rPr lang="sv-SE" altLang="en-US" sz="7600" b="1" dirty="0">
                <a:solidFill>
                  <a:srgbClr val="FFFFFF"/>
                </a:solidFill>
                <a:latin typeface="Roboto Condensed" pitchFamily="34" charset="0"/>
                <a:ea typeface="Roboto Condensed" pitchFamily="34" charset="-122"/>
                <a:cs typeface="Roboto Condensed" pitchFamily="34" charset="-120"/>
              </a:rPr>
              <a:t>Konflikt</a:t>
            </a:r>
            <a:endParaRPr lang="sv-SE" sz="7600" dirty="0"/>
          </a:p>
        </p:txBody>
      </p:sp>
      <p:sp>
        <p:nvSpPr>
          <p:cNvPr id="9" name="Text 6"/>
          <p:cNvSpPr txBox="1"/>
          <p:nvPr/>
        </p:nvSpPr>
        <p:spPr>
          <a:xfrm>
            <a:off x="777240" y="2788920"/>
            <a:ext cx="7772400" cy="548640"/>
          </a:xfrm>
          <a:prstGeom prst="rect">
            <a:avLst/>
          </a:prstGeom>
          <a:noFill/>
          <a:ln/>
        </p:spPr>
        <p:txBody>
          <a:bodyPr wrap="square" lIns="0" tIns="0" rIns="0" bIns="0" rtlCol="0" anchor="t"/>
          <a:lstStyle/>
          <a:p>
            <a:pPr marL="0" indent="0">
              <a:buNone/>
            </a:pPr>
            <a:r>
              <a:rPr lang="sv-SE" altLang="en-US" sz="3000" dirty="0">
                <a:solidFill>
                  <a:srgbClr val="1A1A1A"/>
                </a:solidFill>
                <a:latin typeface="Roboto Condensed" pitchFamily="34" charset="0"/>
                <a:ea typeface="Roboto Condensed" pitchFamily="34" charset="-122"/>
                <a:cs typeface="Roboto Condensed" pitchFamily="34" charset="-120"/>
              </a:rPr>
              <a:t>Att förstå och hantera konflikter i arbetslivet</a:t>
            </a:r>
            <a:endParaRPr lang="sv-SE" sz="3000" dirty="0"/>
          </a:p>
        </p:txBody>
      </p:sp>
      <p:sp>
        <p:nvSpPr>
          <p:cNvPr id="10" name="Text 7"/>
          <p:cNvSpPr txBox="1"/>
          <p:nvPr/>
        </p:nvSpPr>
        <p:spPr>
          <a:xfrm>
            <a:off x="7818120" y="5669280"/>
            <a:ext cx="4023360" cy="777240"/>
          </a:xfrm>
          <a:prstGeom prst="rect">
            <a:avLst/>
          </a:prstGeom>
          <a:noFill/>
          <a:ln/>
        </p:spPr>
        <p:txBody>
          <a:bodyPr wrap="square" lIns="0" tIns="0" rIns="0" bIns="0" rtlCol="0" anchor="t"/>
          <a:lstStyle/>
          <a:p>
            <a:pPr marL="0" indent="0">
              <a:buNone/>
            </a:pPr>
            <a:r>
              <a:rPr lang="sv-SE" altLang="en-US" sz="1700" b="1" dirty="0">
                <a:solidFill>
                  <a:srgbClr val="FFFFFF"/>
                </a:solidFill>
                <a:latin typeface="Roboto Condensed" pitchFamily="34" charset="0"/>
                <a:ea typeface="Roboto Condensed" pitchFamily="34" charset="-122"/>
                <a:cs typeface="Roboto Condensed" pitchFamily="34" charset="-120"/>
              </a:rPr>
              <a:t>Patrik Löfgren, psykologstudent termin 9</a:t>
            </a:r>
            <a:endParaRPr lang="sv-SE" sz="1700" dirty="0"/>
          </a:p>
          <a:p>
            <a:pPr marL="0" indent="0">
              <a:buNone/>
            </a:pPr>
            <a:r>
              <a:rPr lang="sv-SE" altLang="en-US" sz="1700" dirty="0">
                <a:solidFill>
                  <a:srgbClr val="FFFFFF"/>
                </a:solidFill>
                <a:latin typeface="Roboto Condensed" pitchFamily="34" charset="0"/>
                <a:ea typeface="Roboto Condensed" pitchFamily="34" charset="-122"/>
                <a:cs typeface="Roboto Condensed" pitchFamily="34" charset="-120"/>
              </a:rPr>
              <a:t>ABF Västerbotten 2026-09-21</a:t>
            </a:r>
            <a:endParaRPr lang="sv-SE"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4685386"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Varför det här spelar roll</a:t>
            </a:r>
            <a:endParaRPr lang="sv-SE" sz="3000" dirty="0"/>
          </a:p>
        </p:txBody>
      </p:sp>
      <p:sp>
        <p:nvSpPr>
          <p:cNvPr id="4" name="Shape 1"/>
          <p:cNvSpPr/>
          <p:nvPr/>
        </p:nvSpPr>
        <p:spPr>
          <a:xfrm>
            <a:off x="548640" y="1508760"/>
            <a:ext cx="3515258" cy="3611880"/>
          </a:xfrm>
          <a:prstGeom prst="roundRect">
            <a:avLst>
              <a:gd name="adj" fmla="val 2601"/>
            </a:avLst>
          </a:prstGeom>
          <a:solidFill>
            <a:srgbClr val="F2F0EF"/>
          </a:solidFill>
          <a:ln w="12700">
            <a:solidFill>
              <a:srgbClr val="F2F0EF"/>
            </a:solidFill>
            <a:prstDash val="solid"/>
          </a:ln>
        </p:spPr>
        <p:txBody>
          <a:bodyPr/>
          <a:lstStyle/>
          <a:p>
            <a:endParaRPr lang="sv-SE"/>
          </a:p>
        </p:txBody>
      </p:sp>
      <p:sp>
        <p:nvSpPr>
          <p:cNvPr id="5" name="Text 2"/>
          <p:cNvSpPr txBox="1"/>
          <p:nvPr/>
        </p:nvSpPr>
        <p:spPr>
          <a:xfrm>
            <a:off x="822960" y="1691640"/>
            <a:ext cx="2966618" cy="914400"/>
          </a:xfrm>
          <a:prstGeom prst="rect">
            <a:avLst/>
          </a:prstGeom>
          <a:noFill/>
          <a:ln/>
        </p:spPr>
        <p:txBody>
          <a:bodyPr wrap="square" lIns="0" tIns="0" rIns="0" bIns="0" rtlCol="0" anchor="ctr"/>
          <a:lstStyle/>
          <a:p>
            <a:pPr marL="0" indent="0">
              <a:buNone/>
            </a:pPr>
            <a:r>
              <a:rPr lang="sv-SE" altLang="en-US" sz="6000" b="1" dirty="0">
                <a:solidFill>
                  <a:srgbClr val="A50D1E"/>
                </a:solidFill>
                <a:latin typeface="Roboto Condensed" pitchFamily="34" charset="0"/>
                <a:ea typeface="Roboto Condensed" pitchFamily="34" charset="-122"/>
                <a:cs typeface="Roboto Condensed" pitchFamily="34" charset="-120"/>
              </a:rPr>
              <a:t>40 %</a:t>
            </a:r>
            <a:endParaRPr lang="sv-SE" sz="6000" dirty="0"/>
          </a:p>
        </p:txBody>
      </p:sp>
      <p:sp>
        <p:nvSpPr>
          <p:cNvPr id="6" name="Text 3"/>
          <p:cNvSpPr txBox="1"/>
          <p:nvPr/>
        </p:nvSpPr>
        <p:spPr>
          <a:xfrm>
            <a:off x="822960" y="2697480"/>
            <a:ext cx="2966618" cy="1600200"/>
          </a:xfrm>
          <a:prstGeom prst="rect">
            <a:avLst/>
          </a:prstGeom>
          <a:noFill/>
          <a:ln/>
        </p:spPr>
        <p:txBody>
          <a:bodyPr wrap="square" lIns="0" tIns="0" rIns="0" bIns="0" rtlCol="0" anchor="t"/>
          <a:lstStyle/>
          <a:p>
            <a:pPr marL="0" indent="0">
              <a:buNone/>
            </a:pPr>
            <a:r>
              <a:rPr lang="sv-SE" altLang="en-US" sz="1750" dirty="0">
                <a:solidFill>
                  <a:srgbClr val="1A1A1A"/>
                </a:solidFill>
                <a:latin typeface="Georgia" pitchFamily="34" charset="0"/>
                <a:ea typeface="Georgia" pitchFamily="34" charset="-122"/>
                <a:cs typeface="Georgia" pitchFamily="34" charset="-120"/>
              </a:rPr>
              <a:t>högre odds för depression tre år senare hos den som haft en allvarlig konflikt på jobbet.</a:t>
            </a:r>
            <a:endParaRPr lang="sv-SE" sz="1750" dirty="0"/>
          </a:p>
        </p:txBody>
      </p:sp>
      <p:sp>
        <p:nvSpPr>
          <p:cNvPr id="7" name="Text 4"/>
          <p:cNvSpPr txBox="1"/>
          <p:nvPr/>
        </p:nvSpPr>
        <p:spPr>
          <a:xfrm>
            <a:off x="822960" y="4389120"/>
            <a:ext cx="2966618" cy="640080"/>
          </a:xfrm>
          <a:prstGeom prst="rect">
            <a:avLst/>
          </a:prstGeom>
          <a:noFill/>
          <a:ln/>
        </p:spPr>
        <p:txBody>
          <a:bodyPr wrap="square" lIns="0" tIns="0" rIns="0" bIns="0" rtlCol="0" anchor="b"/>
          <a:lstStyle/>
          <a:p>
            <a:pPr marL="0" indent="0">
              <a:buNone/>
            </a:pPr>
            <a:r>
              <a:rPr lang="sv-SE" altLang="en-US" sz="1450" dirty="0">
                <a:solidFill>
                  <a:srgbClr val="4A4A4A"/>
                </a:solidFill>
                <a:latin typeface="Roboto Condensed" pitchFamily="34" charset="0"/>
                <a:ea typeface="Roboto Condensed" pitchFamily="34" charset="-122"/>
                <a:cs typeface="Roboto Condensed" pitchFamily="34" charset="-120"/>
              </a:rPr>
              <a:t>Stoetzer m.fl. (2009). 4 040 svenskar följda i tre år.</a:t>
            </a:r>
            <a:endParaRPr lang="sv-SE" sz="1450" dirty="0"/>
          </a:p>
        </p:txBody>
      </p:sp>
      <p:sp>
        <p:nvSpPr>
          <p:cNvPr id="8" name="Shape 5"/>
          <p:cNvSpPr/>
          <p:nvPr/>
        </p:nvSpPr>
        <p:spPr>
          <a:xfrm>
            <a:off x="4338218" y="1508760"/>
            <a:ext cx="3515258" cy="3611880"/>
          </a:xfrm>
          <a:prstGeom prst="roundRect">
            <a:avLst>
              <a:gd name="adj" fmla="val 2601"/>
            </a:avLst>
          </a:prstGeom>
          <a:solidFill>
            <a:srgbClr val="F2F0EF"/>
          </a:solidFill>
          <a:ln w="12700">
            <a:solidFill>
              <a:srgbClr val="F2F0EF"/>
            </a:solidFill>
            <a:prstDash val="solid"/>
          </a:ln>
        </p:spPr>
        <p:txBody>
          <a:bodyPr/>
          <a:lstStyle/>
          <a:p>
            <a:endParaRPr lang="sv-SE"/>
          </a:p>
        </p:txBody>
      </p:sp>
      <p:sp>
        <p:nvSpPr>
          <p:cNvPr id="9" name="Text 6"/>
          <p:cNvSpPr txBox="1"/>
          <p:nvPr/>
        </p:nvSpPr>
        <p:spPr>
          <a:xfrm>
            <a:off x="4612538" y="1691640"/>
            <a:ext cx="2966618" cy="914400"/>
          </a:xfrm>
          <a:prstGeom prst="rect">
            <a:avLst/>
          </a:prstGeom>
          <a:noFill/>
          <a:ln/>
        </p:spPr>
        <p:txBody>
          <a:bodyPr wrap="square" lIns="0" tIns="0" rIns="0" bIns="0" rtlCol="0" anchor="ctr"/>
          <a:lstStyle/>
          <a:p>
            <a:pPr marL="0" indent="0">
              <a:buNone/>
            </a:pPr>
            <a:r>
              <a:rPr lang="sv-SE" altLang="en-US" sz="4600" b="1" dirty="0">
                <a:solidFill>
                  <a:srgbClr val="A50D1E"/>
                </a:solidFill>
                <a:latin typeface="Roboto Condensed" pitchFamily="34" charset="0"/>
                <a:ea typeface="Roboto Condensed" pitchFamily="34" charset="-122"/>
                <a:cs typeface="Roboto Condensed" pitchFamily="34" charset="-120"/>
              </a:rPr>
              <a:t>557 studier</a:t>
            </a:r>
            <a:endParaRPr lang="sv-SE" sz="4600" dirty="0"/>
          </a:p>
        </p:txBody>
      </p:sp>
      <p:sp>
        <p:nvSpPr>
          <p:cNvPr id="10" name="Text 7"/>
          <p:cNvSpPr txBox="1"/>
          <p:nvPr/>
        </p:nvSpPr>
        <p:spPr>
          <a:xfrm>
            <a:off x="4612538" y="2697480"/>
            <a:ext cx="2966618" cy="1600200"/>
          </a:xfrm>
          <a:prstGeom prst="rect">
            <a:avLst/>
          </a:prstGeom>
          <a:noFill/>
          <a:ln/>
        </p:spPr>
        <p:txBody>
          <a:bodyPr wrap="square" lIns="0" tIns="0" rIns="0" bIns="0" rtlCol="0" anchor="t"/>
          <a:lstStyle/>
          <a:p>
            <a:pPr marL="0" indent="0">
              <a:buNone/>
            </a:pPr>
            <a:r>
              <a:rPr lang="sv-SE" altLang="en-US" sz="1750" dirty="0">
                <a:solidFill>
                  <a:srgbClr val="1A1A1A"/>
                </a:solidFill>
                <a:latin typeface="Georgia" pitchFamily="34" charset="0"/>
                <a:ea typeface="Georgia" pitchFamily="34" charset="-122"/>
                <a:cs typeface="Georgia" pitchFamily="34" charset="-120"/>
              </a:rPr>
              <a:t>pekar åt samma håll: mer konflikt på jobbet, sämre hälsa och välbefinnande. Mest ögonblicksbilder, så vad som orsakar vad är inte avgjort.</a:t>
            </a:r>
            <a:endParaRPr lang="sv-SE" sz="1750" dirty="0"/>
          </a:p>
        </p:txBody>
      </p:sp>
      <p:sp>
        <p:nvSpPr>
          <p:cNvPr id="11" name="Text 8"/>
          <p:cNvSpPr txBox="1"/>
          <p:nvPr/>
        </p:nvSpPr>
        <p:spPr>
          <a:xfrm>
            <a:off x="4612538" y="4389120"/>
            <a:ext cx="2966618" cy="640080"/>
          </a:xfrm>
          <a:prstGeom prst="rect">
            <a:avLst/>
          </a:prstGeom>
          <a:noFill/>
          <a:ln/>
        </p:spPr>
        <p:txBody>
          <a:bodyPr wrap="square" lIns="0" tIns="0" rIns="0" bIns="0" rtlCol="0" anchor="b"/>
          <a:lstStyle/>
          <a:p>
            <a:pPr marL="0" indent="0">
              <a:buNone/>
            </a:pPr>
            <a:r>
              <a:rPr lang="sv-SE" altLang="en-US" sz="1450" dirty="0">
                <a:solidFill>
                  <a:srgbClr val="4A4A4A"/>
                </a:solidFill>
                <a:latin typeface="Roboto Condensed" pitchFamily="34" charset="0"/>
                <a:ea typeface="Roboto Condensed" pitchFamily="34" charset="-122"/>
                <a:cs typeface="Roboto Condensed" pitchFamily="34" charset="-120"/>
              </a:rPr>
              <a:t>Gerhardt m.fl. (2021). Sambandets styrka: −0,29.</a:t>
            </a:r>
            <a:endParaRPr lang="sv-SE" sz="1450" dirty="0"/>
          </a:p>
        </p:txBody>
      </p:sp>
      <p:sp>
        <p:nvSpPr>
          <p:cNvPr id="12" name="Shape 9"/>
          <p:cNvSpPr/>
          <p:nvPr/>
        </p:nvSpPr>
        <p:spPr>
          <a:xfrm>
            <a:off x="8127797" y="1508760"/>
            <a:ext cx="3515258" cy="3611880"/>
          </a:xfrm>
          <a:prstGeom prst="roundRect">
            <a:avLst>
              <a:gd name="adj" fmla="val 2601"/>
            </a:avLst>
          </a:prstGeom>
          <a:solidFill>
            <a:srgbClr val="F2F0EF"/>
          </a:solidFill>
          <a:ln w="12700">
            <a:solidFill>
              <a:srgbClr val="F2F0EF"/>
            </a:solidFill>
            <a:prstDash val="solid"/>
          </a:ln>
        </p:spPr>
        <p:txBody>
          <a:bodyPr/>
          <a:lstStyle/>
          <a:p>
            <a:endParaRPr lang="sv-SE"/>
          </a:p>
        </p:txBody>
      </p:sp>
      <p:sp>
        <p:nvSpPr>
          <p:cNvPr id="13" name="Text 10"/>
          <p:cNvSpPr txBox="1"/>
          <p:nvPr/>
        </p:nvSpPr>
        <p:spPr>
          <a:xfrm>
            <a:off x="8402117" y="1691640"/>
            <a:ext cx="2966618" cy="914400"/>
          </a:xfrm>
          <a:prstGeom prst="rect">
            <a:avLst/>
          </a:prstGeom>
          <a:noFill/>
          <a:ln/>
        </p:spPr>
        <p:txBody>
          <a:bodyPr wrap="square" lIns="0" tIns="0" rIns="0" bIns="0" rtlCol="0" anchor="ctr"/>
          <a:lstStyle/>
          <a:p>
            <a:pPr marL="0" indent="0">
              <a:buNone/>
            </a:pPr>
            <a:r>
              <a:rPr lang="sv-SE" altLang="en-US" sz="6000" b="1" dirty="0">
                <a:solidFill>
                  <a:srgbClr val="005A5F"/>
                </a:solidFill>
                <a:latin typeface="Roboto Condensed" pitchFamily="34" charset="0"/>
                <a:ea typeface="Roboto Condensed" pitchFamily="34" charset="-122"/>
                <a:cs typeface="Roboto Condensed" pitchFamily="34" charset="-120"/>
              </a:rPr>
              <a:t>Samtal</a:t>
            </a:r>
            <a:endParaRPr lang="sv-SE" sz="6000" dirty="0"/>
          </a:p>
        </p:txBody>
      </p:sp>
      <p:sp>
        <p:nvSpPr>
          <p:cNvPr id="14" name="Text 11"/>
          <p:cNvSpPr txBox="1"/>
          <p:nvPr/>
        </p:nvSpPr>
        <p:spPr>
          <a:xfrm>
            <a:off x="8402117" y="2697480"/>
            <a:ext cx="2966618" cy="1600200"/>
          </a:xfrm>
          <a:prstGeom prst="rect">
            <a:avLst/>
          </a:prstGeom>
          <a:noFill/>
          <a:ln/>
        </p:spPr>
        <p:txBody>
          <a:bodyPr wrap="square" lIns="0" tIns="0" rIns="0" bIns="0" rtlCol="0" anchor="t"/>
          <a:lstStyle/>
          <a:p>
            <a:pPr marL="0" indent="0">
              <a:buNone/>
            </a:pPr>
            <a:r>
              <a:rPr lang="sv-SE" altLang="en-US" sz="1750" dirty="0">
                <a:solidFill>
                  <a:srgbClr val="1A1A1A"/>
                </a:solidFill>
                <a:latin typeface="Georgia" pitchFamily="34" charset="0"/>
                <a:ea typeface="Georgia" pitchFamily="34" charset="-122"/>
                <a:cs typeface="Georgia" pitchFamily="34" charset="-120"/>
              </a:rPr>
              <a:t>Där oenighet löstes genom samtal rapporterades mindre stress och sjukfrånvaro. Där chefen bara avgjorde sågs ingen sådan skillnad.</a:t>
            </a:r>
            <a:endParaRPr lang="sv-SE" sz="1750" dirty="0"/>
          </a:p>
        </p:txBody>
      </p:sp>
      <p:sp>
        <p:nvSpPr>
          <p:cNvPr id="15" name="Text 12"/>
          <p:cNvSpPr txBox="1"/>
          <p:nvPr/>
        </p:nvSpPr>
        <p:spPr>
          <a:xfrm>
            <a:off x="8402117" y="4389120"/>
            <a:ext cx="2966618" cy="640080"/>
          </a:xfrm>
          <a:prstGeom prst="rect">
            <a:avLst/>
          </a:prstGeom>
          <a:noFill/>
          <a:ln/>
        </p:spPr>
        <p:txBody>
          <a:bodyPr wrap="square" lIns="0" tIns="0" rIns="0" bIns="0" rtlCol="0" anchor="b"/>
          <a:lstStyle/>
          <a:p>
            <a:pPr marL="0" indent="0">
              <a:buNone/>
            </a:pPr>
            <a:r>
              <a:rPr lang="sv-SE" altLang="en-US" sz="1450" dirty="0">
                <a:solidFill>
                  <a:srgbClr val="4A4A4A"/>
                </a:solidFill>
                <a:latin typeface="Roboto Condensed" pitchFamily="34" charset="0"/>
                <a:ea typeface="Roboto Condensed" pitchFamily="34" charset="-122"/>
                <a:cs typeface="Roboto Condensed" pitchFamily="34" charset="-120"/>
              </a:rPr>
              <a:t>Hyde m.fl. (2006). 9 309 anställda, en ögonblicksbild från skogsindustrin.</a:t>
            </a:r>
            <a:endParaRPr lang="sv-SE" sz="1450" dirty="0"/>
          </a:p>
        </p:txBody>
      </p:sp>
      <p:sp>
        <p:nvSpPr>
          <p:cNvPr id="16" name="Shape 13"/>
          <p:cNvSpPr/>
          <p:nvPr/>
        </p:nvSpPr>
        <p:spPr>
          <a:xfrm>
            <a:off x="548640" y="5349240"/>
            <a:ext cx="11094415" cy="868680"/>
          </a:xfrm>
          <a:prstGeom prst="roundRect">
            <a:avLst>
              <a:gd name="adj" fmla="val 10526"/>
            </a:avLst>
          </a:prstGeom>
          <a:solidFill>
            <a:srgbClr val="E6F5F6"/>
          </a:solidFill>
          <a:ln w="12700">
            <a:solidFill>
              <a:srgbClr val="E6F5F6"/>
            </a:solidFill>
            <a:prstDash val="solid"/>
          </a:ln>
        </p:spPr>
        <p:txBody>
          <a:bodyPr/>
          <a:lstStyle/>
          <a:p>
            <a:endParaRPr lang="sv-SE"/>
          </a:p>
        </p:txBody>
      </p:sp>
      <p:sp>
        <p:nvSpPr>
          <p:cNvPr id="17" name="Text 14"/>
          <p:cNvSpPr txBox="1"/>
          <p:nvPr/>
        </p:nvSpPr>
        <p:spPr>
          <a:xfrm>
            <a:off x="914400" y="5349240"/>
            <a:ext cx="10362895" cy="868680"/>
          </a:xfrm>
          <a:prstGeom prst="rect">
            <a:avLst/>
          </a:prstGeom>
          <a:noFill/>
          <a:ln/>
        </p:spPr>
        <p:txBody>
          <a:bodyPr wrap="square" lIns="0" tIns="0" rIns="0" bIns="0" rtlCol="0" anchor="ctr"/>
          <a:lstStyle/>
          <a:p>
            <a:pPr marL="0" indent="0">
              <a:buNone/>
            </a:pPr>
            <a:r>
              <a:rPr lang="sv-SE" altLang="en-US" sz="2000" b="1" dirty="0">
                <a:solidFill>
                  <a:srgbClr val="1A1A1A"/>
                </a:solidFill>
                <a:latin typeface="Georgia" pitchFamily="34" charset="0"/>
                <a:ea typeface="Georgia" pitchFamily="34" charset="-122"/>
                <a:cs typeface="Georgia" pitchFamily="34" charset="-120"/>
              </a:rPr>
              <a:t>Den goda nyheten: </a:t>
            </a:r>
            <a:r>
              <a:rPr lang="sv-SE" altLang="en-US" sz="2000" dirty="0">
                <a:solidFill>
                  <a:srgbClr val="1A1A1A"/>
                </a:solidFill>
                <a:latin typeface="Georgia" pitchFamily="34" charset="0"/>
                <a:ea typeface="Georgia" pitchFamily="34" charset="-122"/>
                <a:cs typeface="Georgia" pitchFamily="34" charset="-120"/>
              </a:rPr>
              <a:t>hur konflikten hanteras verkar spela stor roll, och det går att påverka.</a:t>
            </a:r>
            <a:endParaRPr lang="sv-SE"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1662379"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Upplägg</a:t>
            </a:r>
            <a:endParaRPr lang="sv-SE" sz="3000" dirty="0"/>
          </a:p>
        </p:txBody>
      </p:sp>
      <p:sp>
        <p:nvSpPr>
          <p:cNvPr id="4" name="Shape 1"/>
          <p:cNvSpPr/>
          <p:nvPr/>
        </p:nvSpPr>
        <p:spPr>
          <a:xfrm>
            <a:off x="548640" y="1463040"/>
            <a:ext cx="5387188"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5" name="Shape 2"/>
          <p:cNvSpPr/>
          <p:nvPr/>
        </p:nvSpPr>
        <p:spPr>
          <a:xfrm>
            <a:off x="822960" y="1764792"/>
            <a:ext cx="585216" cy="585216"/>
          </a:xfrm>
          <a:prstGeom prst="ellipse">
            <a:avLst/>
          </a:prstGeom>
          <a:solidFill>
            <a:srgbClr val="D80811"/>
          </a:solidFill>
          <a:ln w="12700">
            <a:solidFill>
              <a:srgbClr val="D80811"/>
            </a:solidFill>
            <a:prstDash val="solid"/>
          </a:ln>
        </p:spPr>
        <p:txBody>
          <a:bodyPr/>
          <a:lstStyle/>
          <a:p>
            <a:endParaRPr lang="sv-SE"/>
          </a:p>
        </p:txBody>
      </p:sp>
      <p:sp>
        <p:nvSpPr>
          <p:cNvPr id="6" name="Text 3"/>
          <p:cNvSpPr txBox="1"/>
          <p:nvPr/>
        </p:nvSpPr>
        <p:spPr>
          <a:xfrm>
            <a:off x="822960" y="176479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1</a:t>
            </a:r>
            <a:endParaRPr lang="en-US" sz="2176" dirty="0"/>
          </a:p>
        </p:txBody>
      </p:sp>
      <p:sp>
        <p:nvSpPr>
          <p:cNvPr id="7" name="Text 4"/>
          <p:cNvSpPr txBox="1"/>
          <p:nvPr/>
        </p:nvSpPr>
        <p:spPr>
          <a:xfrm>
            <a:off x="1645920" y="1682496"/>
            <a:ext cx="410702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Konfliktkunskapens ABC</a:t>
            </a:r>
            <a:endParaRPr lang="sv-SE" sz="2400" dirty="0"/>
          </a:p>
        </p:txBody>
      </p:sp>
      <p:sp>
        <p:nvSpPr>
          <p:cNvPr id="8" name="Text 5"/>
          <p:cNvSpPr txBox="1"/>
          <p:nvPr/>
        </p:nvSpPr>
        <p:spPr>
          <a:xfrm>
            <a:off x="1645920" y="2130552"/>
            <a:ext cx="4107028" cy="365760"/>
          </a:xfrm>
          <a:prstGeom prst="rect">
            <a:avLst/>
          </a:prstGeom>
          <a:noFill/>
          <a:ln/>
        </p:spPr>
        <p:txBody>
          <a:bodyPr wrap="square" lIns="0" tIns="0" rIns="0" bIns="0" rtlCol="0" anchor="t"/>
          <a:lstStyle/>
          <a:p>
            <a:pPr marL="0" indent="0">
              <a:buNone/>
            </a:pPr>
            <a:r>
              <a:rPr lang="sv-SE" altLang="en-US" sz="1600" dirty="0">
                <a:solidFill>
                  <a:srgbClr val="4A4A4A"/>
                </a:solidFill>
                <a:latin typeface="Roboto Condensed" pitchFamily="34" charset="0"/>
                <a:ea typeface="Roboto Condensed" pitchFamily="34" charset="-122"/>
                <a:cs typeface="Roboto Condensed" pitchFamily="34" charset="-120"/>
              </a:rPr>
              <a:t>Definition, nivåer, triangeln, konflikttyper, behov</a:t>
            </a:r>
            <a:endParaRPr lang="sv-SE" sz="1600" dirty="0"/>
          </a:p>
        </p:txBody>
      </p:sp>
      <p:sp>
        <p:nvSpPr>
          <p:cNvPr id="9" name="Shape 6"/>
          <p:cNvSpPr/>
          <p:nvPr/>
        </p:nvSpPr>
        <p:spPr>
          <a:xfrm>
            <a:off x="6255868" y="1463040"/>
            <a:ext cx="5387188"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10" name="Shape 7"/>
          <p:cNvSpPr/>
          <p:nvPr/>
        </p:nvSpPr>
        <p:spPr>
          <a:xfrm>
            <a:off x="6530188" y="1764792"/>
            <a:ext cx="585216" cy="585216"/>
          </a:xfrm>
          <a:prstGeom prst="ellipse">
            <a:avLst/>
          </a:prstGeom>
          <a:solidFill>
            <a:srgbClr val="D80811"/>
          </a:solidFill>
          <a:ln w="12700">
            <a:solidFill>
              <a:srgbClr val="D80811"/>
            </a:solidFill>
            <a:prstDash val="solid"/>
          </a:ln>
        </p:spPr>
        <p:txBody>
          <a:bodyPr/>
          <a:lstStyle/>
          <a:p>
            <a:endParaRPr lang="sv-SE"/>
          </a:p>
        </p:txBody>
      </p:sp>
      <p:sp>
        <p:nvSpPr>
          <p:cNvPr id="11" name="Text 8"/>
          <p:cNvSpPr txBox="1"/>
          <p:nvPr/>
        </p:nvSpPr>
        <p:spPr>
          <a:xfrm>
            <a:off x="6530188" y="176479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2</a:t>
            </a:r>
            <a:endParaRPr lang="en-US" sz="2176" dirty="0"/>
          </a:p>
        </p:txBody>
      </p:sp>
      <p:sp>
        <p:nvSpPr>
          <p:cNvPr id="12" name="Text 9"/>
          <p:cNvSpPr txBox="1"/>
          <p:nvPr/>
        </p:nvSpPr>
        <p:spPr>
          <a:xfrm>
            <a:off x="7353148" y="1682496"/>
            <a:ext cx="410702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Konflikters eskalation</a:t>
            </a:r>
            <a:endParaRPr lang="sv-SE" sz="2400" dirty="0"/>
          </a:p>
        </p:txBody>
      </p:sp>
      <p:sp>
        <p:nvSpPr>
          <p:cNvPr id="13" name="Text 10"/>
          <p:cNvSpPr txBox="1"/>
          <p:nvPr/>
        </p:nvSpPr>
        <p:spPr>
          <a:xfrm>
            <a:off x="7353148" y="2130552"/>
            <a:ext cx="4107028" cy="365760"/>
          </a:xfrm>
          <a:prstGeom prst="rect">
            <a:avLst/>
          </a:prstGeom>
          <a:noFill/>
          <a:ln/>
        </p:spPr>
        <p:txBody>
          <a:bodyPr wrap="square" lIns="0" tIns="0" rIns="0" bIns="0" rtlCol="0" anchor="t"/>
          <a:lstStyle/>
          <a:p>
            <a:pPr marL="0" indent="0">
              <a:buNone/>
            </a:pPr>
            <a:r>
              <a:rPr lang="sv-SE" altLang="en-US" sz="1600" dirty="0">
                <a:solidFill>
                  <a:srgbClr val="4A4A4A"/>
                </a:solidFill>
                <a:latin typeface="Roboto Condensed" pitchFamily="34" charset="0"/>
                <a:ea typeface="Roboto Condensed" pitchFamily="34" charset="-122"/>
                <a:cs typeface="Roboto Condensed" pitchFamily="34" charset="-120"/>
              </a:rPr>
              <a:t>Glasls trappa, åtgärder, vart man vänder sig</a:t>
            </a:r>
            <a:endParaRPr lang="sv-SE" sz="1600" dirty="0"/>
          </a:p>
        </p:txBody>
      </p:sp>
      <p:sp>
        <p:nvSpPr>
          <p:cNvPr id="14" name="Shape 11"/>
          <p:cNvSpPr/>
          <p:nvPr/>
        </p:nvSpPr>
        <p:spPr>
          <a:xfrm>
            <a:off x="548640" y="2880360"/>
            <a:ext cx="5387188"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15" name="Shape 12"/>
          <p:cNvSpPr/>
          <p:nvPr/>
        </p:nvSpPr>
        <p:spPr>
          <a:xfrm>
            <a:off x="822960" y="3182112"/>
            <a:ext cx="585216" cy="585216"/>
          </a:xfrm>
          <a:prstGeom prst="ellipse">
            <a:avLst/>
          </a:prstGeom>
          <a:solidFill>
            <a:srgbClr val="D80811"/>
          </a:solidFill>
          <a:ln w="12700">
            <a:solidFill>
              <a:srgbClr val="D80811"/>
            </a:solidFill>
            <a:prstDash val="solid"/>
          </a:ln>
        </p:spPr>
        <p:txBody>
          <a:bodyPr/>
          <a:lstStyle/>
          <a:p>
            <a:endParaRPr lang="sv-SE"/>
          </a:p>
        </p:txBody>
      </p:sp>
      <p:sp>
        <p:nvSpPr>
          <p:cNvPr id="16" name="Text 13"/>
          <p:cNvSpPr txBox="1"/>
          <p:nvPr/>
        </p:nvSpPr>
        <p:spPr>
          <a:xfrm>
            <a:off x="822960" y="318211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3</a:t>
            </a:r>
            <a:endParaRPr lang="en-US" sz="2176" dirty="0"/>
          </a:p>
        </p:txBody>
      </p:sp>
      <p:sp>
        <p:nvSpPr>
          <p:cNvPr id="17" name="Text 14"/>
          <p:cNvSpPr txBox="1"/>
          <p:nvPr/>
        </p:nvSpPr>
        <p:spPr>
          <a:xfrm>
            <a:off x="1645920" y="3099816"/>
            <a:ext cx="410702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Självinsikt och samtal</a:t>
            </a:r>
            <a:endParaRPr lang="sv-SE" sz="2400" dirty="0"/>
          </a:p>
        </p:txBody>
      </p:sp>
      <p:sp>
        <p:nvSpPr>
          <p:cNvPr id="18" name="Text 15"/>
          <p:cNvSpPr txBox="1"/>
          <p:nvPr/>
        </p:nvSpPr>
        <p:spPr>
          <a:xfrm>
            <a:off x="1645920" y="3547872"/>
            <a:ext cx="4107028" cy="365760"/>
          </a:xfrm>
          <a:prstGeom prst="rect">
            <a:avLst/>
          </a:prstGeom>
          <a:noFill/>
          <a:ln/>
        </p:spPr>
        <p:txBody>
          <a:bodyPr wrap="square" lIns="0" tIns="0" rIns="0" bIns="0" rtlCol="0" anchor="t"/>
          <a:lstStyle/>
          <a:p>
            <a:pPr marL="0" indent="0">
              <a:buNone/>
            </a:pPr>
            <a:r>
              <a:rPr lang="sv-SE" altLang="en-US" sz="1600" dirty="0">
                <a:solidFill>
                  <a:srgbClr val="4A4A4A"/>
                </a:solidFill>
                <a:latin typeface="Roboto Condensed" pitchFamily="34" charset="0"/>
                <a:ea typeface="Roboto Condensed" pitchFamily="34" charset="-122"/>
                <a:cs typeface="Roboto Condensed" pitchFamily="34" charset="-120"/>
              </a:rPr>
              <a:t>Inre processer, tankegrepp, hur man säger det</a:t>
            </a:r>
            <a:endParaRPr lang="sv-SE" sz="1600" dirty="0"/>
          </a:p>
        </p:txBody>
      </p:sp>
      <p:sp>
        <p:nvSpPr>
          <p:cNvPr id="19" name="Shape 16"/>
          <p:cNvSpPr/>
          <p:nvPr/>
        </p:nvSpPr>
        <p:spPr>
          <a:xfrm>
            <a:off x="6255868" y="2880360"/>
            <a:ext cx="5387188"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20" name="Shape 17"/>
          <p:cNvSpPr/>
          <p:nvPr/>
        </p:nvSpPr>
        <p:spPr>
          <a:xfrm>
            <a:off x="6530188" y="3182112"/>
            <a:ext cx="585216" cy="585216"/>
          </a:xfrm>
          <a:prstGeom prst="ellipse">
            <a:avLst/>
          </a:prstGeom>
          <a:solidFill>
            <a:srgbClr val="D80811"/>
          </a:solidFill>
          <a:ln w="12700">
            <a:solidFill>
              <a:srgbClr val="D80811"/>
            </a:solidFill>
            <a:prstDash val="solid"/>
          </a:ln>
        </p:spPr>
        <p:txBody>
          <a:bodyPr/>
          <a:lstStyle/>
          <a:p>
            <a:endParaRPr lang="sv-SE"/>
          </a:p>
        </p:txBody>
      </p:sp>
      <p:sp>
        <p:nvSpPr>
          <p:cNvPr id="21" name="Text 18"/>
          <p:cNvSpPr txBox="1"/>
          <p:nvPr/>
        </p:nvSpPr>
        <p:spPr>
          <a:xfrm>
            <a:off x="6530188" y="318211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4</a:t>
            </a:r>
            <a:endParaRPr lang="en-US" sz="2176" dirty="0"/>
          </a:p>
        </p:txBody>
      </p:sp>
      <p:sp>
        <p:nvSpPr>
          <p:cNvPr id="22" name="Text 19"/>
          <p:cNvSpPr txBox="1"/>
          <p:nvPr/>
        </p:nvSpPr>
        <p:spPr>
          <a:xfrm>
            <a:off x="7353148" y="3099816"/>
            <a:ext cx="410702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Organisationen och gruppen</a:t>
            </a:r>
            <a:endParaRPr lang="sv-SE" sz="2400" dirty="0"/>
          </a:p>
        </p:txBody>
      </p:sp>
      <p:sp>
        <p:nvSpPr>
          <p:cNvPr id="23" name="Text 20"/>
          <p:cNvSpPr txBox="1"/>
          <p:nvPr/>
        </p:nvSpPr>
        <p:spPr>
          <a:xfrm>
            <a:off x="7353148" y="3547872"/>
            <a:ext cx="4107028" cy="365760"/>
          </a:xfrm>
          <a:prstGeom prst="rect">
            <a:avLst/>
          </a:prstGeom>
          <a:noFill/>
          <a:ln/>
        </p:spPr>
        <p:txBody>
          <a:bodyPr wrap="square" lIns="0" tIns="0" rIns="0" bIns="0" rtlCol="0" anchor="t"/>
          <a:lstStyle/>
          <a:p>
            <a:pPr marL="0" indent="0">
              <a:buNone/>
            </a:pPr>
            <a:r>
              <a:rPr lang="sv-SE" altLang="en-US" sz="1600" dirty="0">
                <a:solidFill>
                  <a:srgbClr val="4A4A4A"/>
                </a:solidFill>
                <a:latin typeface="Roboto Condensed" pitchFamily="34" charset="0"/>
                <a:ea typeface="Roboto Condensed" pitchFamily="34" charset="-122"/>
                <a:cs typeface="Roboto Condensed" pitchFamily="34" charset="-120"/>
              </a:rPr>
              <a:t>Nio områden att granska, spelregler i förväg</a:t>
            </a:r>
            <a:endParaRPr lang="sv-SE" sz="1600" dirty="0"/>
          </a:p>
        </p:txBody>
      </p:sp>
      <p:sp>
        <p:nvSpPr>
          <p:cNvPr id="24" name="Text 21"/>
          <p:cNvSpPr txBox="1"/>
          <p:nvPr/>
        </p:nvSpPr>
        <p:spPr>
          <a:xfrm>
            <a:off x="548640" y="4315968"/>
            <a:ext cx="3657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60 MINUTER</a:t>
            </a:r>
            <a:endParaRPr lang="sv-SE" sz="1400" dirty="0"/>
          </a:p>
        </p:txBody>
      </p:sp>
      <p:sp>
        <p:nvSpPr>
          <p:cNvPr id="25" name="Shape 22"/>
          <p:cNvSpPr/>
          <p:nvPr/>
        </p:nvSpPr>
        <p:spPr>
          <a:xfrm>
            <a:off x="548640" y="4709160"/>
            <a:ext cx="324094" cy="548640"/>
          </a:xfrm>
          <a:prstGeom prst="rect">
            <a:avLst/>
          </a:prstGeom>
          <a:solidFill>
            <a:srgbClr val="C9C5C2"/>
          </a:solidFill>
          <a:ln w="12700">
            <a:solidFill>
              <a:srgbClr val="C9C5C2"/>
            </a:solidFill>
            <a:prstDash val="solid"/>
          </a:ln>
        </p:spPr>
        <p:txBody>
          <a:bodyPr/>
          <a:lstStyle/>
          <a:p>
            <a:endParaRPr lang="sv-SE"/>
          </a:p>
        </p:txBody>
      </p:sp>
      <p:sp>
        <p:nvSpPr>
          <p:cNvPr id="26" name="Text 23"/>
          <p:cNvSpPr txBox="1"/>
          <p:nvPr/>
        </p:nvSpPr>
        <p:spPr>
          <a:xfrm>
            <a:off x="548640" y="4709160"/>
            <a:ext cx="324094" cy="548640"/>
          </a:xfrm>
          <a:prstGeom prst="rect">
            <a:avLst/>
          </a:prstGeom>
          <a:noFill/>
          <a:ln/>
        </p:spPr>
        <p:txBody>
          <a:bodyPr wrap="square" lIns="0" tIns="0" rIns="0" bIns="0" rtlCol="0" anchor="ctr"/>
          <a:lstStyle/>
          <a:p>
            <a:pPr marL="0" indent="0" algn="ctr">
              <a:buNone/>
            </a:pPr>
            <a:endParaRPr lang="sv-SE" sz="1700" dirty="0"/>
          </a:p>
        </p:txBody>
      </p:sp>
      <p:sp>
        <p:nvSpPr>
          <p:cNvPr id="28" name="Shape 25"/>
          <p:cNvSpPr/>
          <p:nvPr/>
        </p:nvSpPr>
        <p:spPr>
          <a:xfrm>
            <a:off x="918454" y="4709160"/>
            <a:ext cx="2727884" cy="548640"/>
          </a:xfrm>
          <a:prstGeom prst="rect">
            <a:avLst/>
          </a:prstGeom>
          <a:solidFill>
            <a:srgbClr val="D80811"/>
          </a:solidFill>
          <a:ln w="12700">
            <a:solidFill>
              <a:srgbClr val="D80811"/>
            </a:solidFill>
            <a:prstDash val="solid"/>
          </a:ln>
        </p:spPr>
        <p:txBody>
          <a:bodyPr/>
          <a:lstStyle/>
          <a:p>
            <a:endParaRPr lang="sv-SE"/>
          </a:p>
        </p:txBody>
      </p:sp>
      <p:sp>
        <p:nvSpPr>
          <p:cNvPr id="29" name="Text 26"/>
          <p:cNvSpPr txBox="1"/>
          <p:nvPr/>
        </p:nvSpPr>
        <p:spPr>
          <a:xfrm>
            <a:off x="918454" y="4709160"/>
            <a:ext cx="2727884" cy="548640"/>
          </a:xfrm>
          <a:prstGeom prst="rect">
            <a:avLst/>
          </a:prstGeom>
          <a:noFill/>
          <a:ln/>
        </p:spPr>
        <p:txBody>
          <a:bodyPr wrap="square" lIns="0" tIns="0" rIns="0" bIns="0" rtlCol="0" anchor="ctr"/>
          <a:lstStyle/>
          <a:p>
            <a:pPr marL="0" indent="0" algn="ctr">
              <a:buNone/>
            </a:pPr>
            <a:r>
              <a:rPr lang="sv-SE" altLang="en-US" sz="1700" b="1" dirty="0">
                <a:solidFill>
                  <a:srgbClr val="FFFFFF"/>
                </a:solidFill>
                <a:latin typeface="Roboto Condensed" pitchFamily="34" charset="0"/>
                <a:ea typeface="Roboto Condensed" pitchFamily="34" charset="-122"/>
                <a:cs typeface="Roboto Condensed" pitchFamily="34" charset="-120"/>
              </a:rPr>
              <a:t>Del 1</a:t>
            </a:r>
            <a:endParaRPr lang="sv-SE" sz="1700" dirty="0"/>
          </a:p>
        </p:txBody>
      </p:sp>
      <p:sp>
        <p:nvSpPr>
          <p:cNvPr id="31" name="Shape 28"/>
          <p:cNvSpPr/>
          <p:nvPr/>
        </p:nvSpPr>
        <p:spPr>
          <a:xfrm>
            <a:off x="3692058" y="4709160"/>
            <a:ext cx="1988256" cy="548640"/>
          </a:xfrm>
          <a:prstGeom prst="rect">
            <a:avLst/>
          </a:prstGeom>
          <a:solidFill>
            <a:srgbClr val="A50D1E"/>
          </a:solidFill>
          <a:ln w="12700">
            <a:solidFill>
              <a:srgbClr val="A50D1E"/>
            </a:solidFill>
            <a:prstDash val="solid"/>
          </a:ln>
        </p:spPr>
        <p:txBody>
          <a:bodyPr/>
          <a:lstStyle/>
          <a:p>
            <a:endParaRPr lang="sv-SE"/>
          </a:p>
        </p:txBody>
      </p:sp>
      <p:sp>
        <p:nvSpPr>
          <p:cNvPr id="32" name="Text 29"/>
          <p:cNvSpPr txBox="1"/>
          <p:nvPr/>
        </p:nvSpPr>
        <p:spPr>
          <a:xfrm>
            <a:off x="3692058" y="4709160"/>
            <a:ext cx="1988256" cy="548640"/>
          </a:xfrm>
          <a:prstGeom prst="rect">
            <a:avLst/>
          </a:prstGeom>
          <a:noFill/>
          <a:ln/>
        </p:spPr>
        <p:txBody>
          <a:bodyPr wrap="square" lIns="0" tIns="0" rIns="0" bIns="0" rtlCol="0" anchor="ctr"/>
          <a:lstStyle/>
          <a:p>
            <a:pPr marL="0" indent="0" algn="ctr">
              <a:buNone/>
            </a:pPr>
            <a:r>
              <a:rPr lang="sv-SE" altLang="en-US" sz="1700" b="1" dirty="0">
                <a:solidFill>
                  <a:srgbClr val="FFFFFF"/>
                </a:solidFill>
                <a:latin typeface="Roboto Condensed" pitchFamily="34" charset="0"/>
                <a:ea typeface="Roboto Condensed" pitchFamily="34" charset="-122"/>
                <a:cs typeface="Roboto Condensed" pitchFamily="34" charset="-120"/>
              </a:rPr>
              <a:t>Del 2</a:t>
            </a:r>
            <a:endParaRPr lang="sv-SE" sz="1700" dirty="0"/>
          </a:p>
        </p:txBody>
      </p:sp>
      <p:sp>
        <p:nvSpPr>
          <p:cNvPr id="34" name="Shape 31"/>
          <p:cNvSpPr/>
          <p:nvPr/>
        </p:nvSpPr>
        <p:spPr>
          <a:xfrm>
            <a:off x="5726034" y="4709160"/>
            <a:ext cx="878815" cy="548640"/>
          </a:xfrm>
          <a:prstGeom prst="rect">
            <a:avLst/>
          </a:prstGeom>
          <a:solidFill>
            <a:srgbClr val="C9C5C2"/>
          </a:solidFill>
          <a:ln w="12700">
            <a:solidFill>
              <a:srgbClr val="C9C5C2"/>
            </a:solidFill>
            <a:prstDash val="solid"/>
          </a:ln>
        </p:spPr>
        <p:txBody>
          <a:bodyPr/>
          <a:lstStyle/>
          <a:p>
            <a:endParaRPr lang="sv-SE"/>
          </a:p>
        </p:txBody>
      </p:sp>
      <p:sp>
        <p:nvSpPr>
          <p:cNvPr id="35" name="Text 32"/>
          <p:cNvSpPr txBox="1"/>
          <p:nvPr/>
        </p:nvSpPr>
        <p:spPr>
          <a:xfrm>
            <a:off x="5726034" y="4709160"/>
            <a:ext cx="878815" cy="548640"/>
          </a:xfrm>
          <a:prstGeom prst="rect">
            <a:avLst/>
          </a:prstGeom>
          <a:noFill/>
          <a:ln/>
        </p:spPr>
        <p:txBody>
          <a:bodyPr wrap="square" lIns="0" tIns="0" rIns="0" bIns="0" rtlCol="0" anchor="ctr"/>
          <a:lstStyle/>
          <a:p>
            <a:pPr marL="0" indent="0" algn="ctr">
              <a:buNone/>
            </a:pPr>
            <a:r>
              <a:rPr lang="sv-SE" altLang="en-US" sz="1700" b="1" dirty="0">
                <a:solidFill>
                  <a:srgbClr val="1A1A1A"/>
                </a:solidFill>
                <a:latin typeface="Roboto Condensed" pitchFamily="34" charset="0"/>
                <a:ea typeface="Roboto Condensed" pitchFamily="34" charset="-122"/>
                <a:cs typeface="Roboto Condensed" pitchFamily="34" charset="-120"/>
              </a:rPr>
              <a:t>Paus</a:t>
            </a:r>
            <a:endParaRPr lang="sv-SE" sz="1700" dirty="0"/>
          </a:p>
        </p:txBody>
      </p:sp>
      <p:sp>
        <p:nvSpPr>
          <p:cNvPr id="36" name="Text 33"/>
          <p:cNvSpPr txBox="1"/>
          <p:nvPr/>
        </p:nvSpPr>
        <p:spPr>
          <a:xfrm>
            <a:off x="5726034" y="5330952"/>
            <a:ext cx="878815" cy="274320"/>
          </a:xfrm>
          <a:prstGeom prst="rect">
            <a:avLst/>
          </a:prstGeom>
          <a:noFill/>
          <a:ln/>
        </p:spPr>
        <p:txBody>
          <a:bodyPr wrap="square" lIns="0" tIns="0" rIns="0" bIns="0" rtlCol="0" anchor="t"/>
          <a:lstStyle/>
          <a:p>
            <a:pPr marL="0" indent="0" algn="ctr">
              <a:buNone/>
            </a:pPr>
            <a:r>
              <a:rPr lang="sv-SE" altLang="en-US" sz="1500" dirty="0">
                <a:solidFill>
                  <a:srgbClr val="4A4A4A"/>
                </a:solidFill>
                <a:latin typeface="Roboto Condensed" pitchFamily="34" charset="0"/>
                <a:ea typeface="Roboto Condensed" pitchFamily="34" charset="-122"/>
                <a:cs typeface="Roboto Condensed" pitchFamily="34" charset="-120"/>
              </a:rPr>
              <a:t>5 min</a:t>
            </a:r>
            <a:endParaRPr lang="sv-SE" sz="1500" dirty="0"/>
          </a:p>
        </p:txBody>
      </p:sp>
      <p:sp>
        <p:nvSpPr>
          <p:cNvPr id="37" name="Shape 34"/>
          <p:cNvSpPr/>
          <p:nvPr/>
        </p:nvSpPr>
        <p:spPr>
          <a:xfrm>
            <a:off x="6650568" y="4709160"/>
            <a:ext cx="2173163" cy="548640"/>
          </a:xfrm>
          <a:prstGeom prst="rect">
            <a:avLst/>
          </a:prstGeom>
          <a:solidFill>
            <a:srgbClr val="00797F"/>
          </a:solidFill>
          <a:ln w="12700">
            <a:solidFill>
              <a:srgbClr val="00797F"/>
            </a:solidFill>
            <a:prstDash val="solid"/>
          </a:ln>
        </p:spPr>
        <p:txBody>
          <a:bodyPr/>
          <a:lstStyle/>
          <a:p>
            <a:endParaRPr lang="sv-SE"/>
          </a:p>
        </p:txBody>
      </p:sp>
      <p:sp>
        <p:nvSpPr>
          <p:cNvPr id="38" name="Text 35"/>
          <p:cNvSpPr txBox="1"/>
          <p:nvPr/>
        </p:nvSpPr>
        <p:spPr>
          <a:xfrm>
            <a:off x="6650568" y="4709160"/>
            <a:ext cx="2173163" cy="548640"/>
          </a:xfrm>
          <a:prstGeom prst="rect">
            <a:avLst/>
          </a:prstGeom>
          <a:noFill/>
          <a:ln/>
        </p:spPr>
        <p:txBody>
          <a:bodyPr wrap="square" lIns="0" tIns="0" rIns="0" bIns="0" rtlCol="0" anchor="ctr"/>
          <a:lstStyle/>
          <a:p>
            <a:pPr marL="0" indent="0" algn="ctr">
              <a:buNone/>
            </a:pPr>
            <a:r>
              <a:rPr lang="sv-SE" altLang="en-US" sz="1700" b="1" dirty="0">
                <a:solidFill>
                  <a:srgbClr val="FFFFFF"/>
                </a:solidFill>
                <a:latin typeface="Roboto Condensed" pitchFamily="34" charset="0"/>
                <a:ea typeface="Roboto Condensed" pitchFamily="34" charset="-122"/>
                <a:cs typeface="Roboto Condensed" pitchFamily="34" charset="-120"/>
              </a:rPr>
              <a:t>Del 3</a:t>
            </a:r>
            <a:endParaRPr lang="sv-SE" sz="1700" dirty="0"/>
          </a:p>
        </p:txBody>
      </p:sp>
      <p:sp>
        <p:nvSpPr>
          <p:cNvPr id="40" name="Shape 37"/>
          <p:cNvSpPr/>
          <p:nvPr/>
        </p:nvSpPr>
        <p:spPr>
          <a:xfrm>
            <a:off x="8869451" y="4709160"/>
            <a:ext cx="1433535" cy="548640"/>
          </a:xfrm>
          <a:prstGeom prst="rect">
            <a:avLst/>
          </a:prstGeom>
          <a:solidFill>
            <a:srgbClr val="D80811"/>
          </a:solidFill>
          <a:ln w="12700">
            <a:solidFill>
              <a:srgbClr val="D80811"/>
            </a:solidFill>
            <a:prstDash val="solid"/>
          </a:ln>
        </p:spPr>
        <p:txBody>
          <a:bodyPr/>
          <a:lstStyle/>
          <a:p>
            <a:endParaRPr lang="sv-SE"/>
          </a:p>
        </p:txBody>
      </p:sp>
      <p:sp>
        <p:nvSpPr>
          <p:cNvPr id="41" name="Text 38"/>
          <p:cNvSpPr txBox="1"/>
          <p:nvPr/>
        </p:nvSpPr>
        <p:spPr>
          <a:xfrm>
            <a:off x="8869451" y="4709160"/>
            <a:ext cx="1433535" cy="548640"/>
          </a:xfrm>
          <a:prstGeom prst="rect">
            <a:avLst/>
          </a:prstGeom>
          <a:noFill/>
          <a:ln/>
        </p:spPr>
        <p:txBody>
          <a:bodyPr wrap="square" lIns="0" tIns="0" rIns="0" bIns="0" rtlCol="0" anchor="ctr"/>
          <a:lstStyle/>
          <a:p>
            <a:pPr marL="0" indent="0" algn="ctr">
              <a:buNone/>
            </a:pPr>
            <a:r>
              <a:rPr lang="sv-SE" altLang="en-US" sz="1700" b="1" dirty="0">
                <a:solidFill>
                  <a:srgbClr val="FFFFFF"/>
                </a:solidFill>
                <a:latin typeface="Roboto Condensed" pitchFamily="34" charset="0"/>
                <a:ea typeface="Roboto Condensed" pitchFamily="34" charset="-122"/>
                <a:cs typeface="Roboto Condensed" pitchFamily="34" charset="-120"/>
              </a:rPr>
              <a:t>Del 4</a:t>
            </a:r>
            <a:endParaRPr lang="sv-SE" sz="1700" dirty="0"/>
          </a:p>
        </p:txBody>
      </p:sp>
      <p:sp>
        <p:nvSpPr>
          <p:cNvPr id="43" name="Shape 40"/>
          <p:cNvSpPr/>
          <p:nvPr/>
        </p:nvSpPr>
        <p:spPr>
          <a:xfrm>
            <a:off x="10348707" y="4709160"/>
            <a:ext cx="1248628" cy="548640"/>
          </a:xfrm>
          <a:prstGeom prst="rect">
            <a:avLst/>
          </a:prstGeom>
          <a:solidFill>
            <a:srgbClr val="A50D1E"/>
          </a:solidFill>
          <a:ln w="12700">
            <a:solidFill>
              <a:srgbClr val="A50D1E"/>
            </a:solidFill>
            <a:prstDash val="solid"/>
          </a:ln>
        </p:spPr>
        <p:txBody>
          <a:bodyPr/>
          <a:lstStyle/>
          <a:p>
            <a:endParaRPr lang="sv-SE"/>
          </a:p>
        </p:txBody>
      </p:sp>
      <p:sp>
        <p:nvSpPr>
          <p:cNvPr id="44" name="Text 41"/>
          <p:cNvSpPr txBox="1"/>
          <p:nvPr/>
        </p:nvSpPr>
        <p:spPr>
          <a:xfrm>
            <a:off x="10348707" y="4709160"/>
            <a:ext cx="1248628" cy="548640"/>
          </a:xfrm>
          <a:prstGeom prst="rect">
            <a:avLst/>
          </a:prstGeom>
          <a:noFill/>
          <a:ln/>
        </p:spPr>
        <p:txBody>
          <a:bodyPr wrap="square" lIns="0" tIns="0" rIns="0" bIns="0" rtlCol="0" anchor="ctr"/>
          <a:lstStyle/>
          <a:p>
            <a:pPr marL="0" indent="0" algn="ctr">
              <a:buNone/>
            </a:pPr>
            <a:r>
              <a:rPr lang="sv-SE" altLang="en-US" sz="1700" b="1" dirty="0">
                <a:solidFill>
                  <a:srgbClr val="FFFFFF"/>
                </a:solidFill>
                <a:latin typeface="Roboto Condensed" pitchFamily="34" charset="0"/>
                <a:ea typeface="Roboto Condensed" pitchFamily="34" charset="-122"/>
                <a:cs typeface="Roboto Condensed" pitchFamily="34" charset="-120"/>
              </a:rPr>
              <a:t>Frågor</a:t>
            </a:r>
            <a:endParaRPr lang="sv-SE" sz="1700" dirty="0"/>
          </a:p>
        </p:txBody>
      </p:sp>
      <p:sp>
        <p:nvSpPr>
          <p:cNvPr id="46" name="Text 43"/>
          <p:cNvSpPr txBox="1"/>
          <p:nvPr/>
        </p:nvSpPr>
        <p:spPr>
          <a:xfrm>
            <a:off x="548640" y="5806440"/>
            <a:ext cx="11094415" cy="365760"/>
          </a:xfrm>
          <a:prstGeom prst="rect">
            <a:avLst/>
          </a:prstGeom>
          <a:noFill/>
          <a:ln/>
        </p:spPr>
        <p:txBody>
          <a:bodyPr wrap="square" lIns="0" tIns="0" rIns="0" bIns="0" rtlCol="0" anchor="t"/>
          <a:lstStyle/>
          <a:p>
            <a:pPr marL="0" indent="0">
              <a:buNone/>
            </a:pPr>
            <a:r>
              <a:rPr lang="sv-SE" altLang="en-US" sz="1700" dirty="0">
                <a:solidFill>
                  <a:srgbClr val="4A4A4A"/>
                </a:solidFill>
                <a:latin typeface="Roboto Condensed" pitchFamily="34" charset="0"/>
                <a:ea typeface="Roboto Condensed" pitchFamily="34" charset="-122"/>
                <a:cs typeface="Roboto Condensed" pitchFamily="34" charset="-120"/>
              </a:rPr>
              <a:t>Två korta reflektioner i chatten ingår i del 1 och del 3. Skriv gärna frågor i chatten under tiden.</a:t>
            </a:r>
            <a:endParaRPr lang="sv-SE"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80811"/>
        </a:solidFill>
        <a:effectLst/>
      </p:bgPr>
    </p:bg>
    <p:spTree>
      <p:nvGrpSpPr>
        <p:cNvPr id="1" name=""/>
        <p:cNvGrpSpPr/>
        <p:nvPr/>
      </p:nvGrpSpPr>
      <p:grpSpPr>
        <a:xfrm>
          <a:off x="0" y="0"/>
          <a:ext cx="0" cy="0"/>
          <a:chOff x="0" y="0"/>
          <a:chExt cx="0" cy="0"/>
        </a:xfrm>
      </p:grpSpPr>
      <p:sp>
        <p:nvSpPr>
          <p:cNvPr id="2" name="Shape 0"/>
          <p:cNvSpPr/>
          <p:nvPr/>
        </p:nvSpPr>
        <p:spPr>
          <a:xfrm>
            <a:off x="7223760" y="822960"/>
            <a:ext cx="6035040" cy="6035040"/>
          </a:xfrm>
          <a:prstGeom prst="ellipse">
            <a:avLst/>
          </a:prstGeom>
          <a:solidFill>
            <a:srgbClr val="A50D1E"/>
          </a:solidFill>
          <a:ln w="12700">
            <a:solidFill>
              <a:srgbClr val="A50D1E"/>
            </a:solidFill>
            <a:prstDash val="solid"/>
          </a:ln>
        </p:spPr>
        <p:txBody>
          <a:bodyPr/>
          <a:lstStyle/>
          <a:p>
            <a:endParaRPr lang="sv-SE"/>
          </a:p>
        </p:txBody>
      </p:sp>
      <p:sp>
        <p:nvSpPr>
          <p:cNvPr id="3" name="Text 1"/>
          <p:cNvSpPr txBox="1"/>
          <p:nvPr/>
        </p:nvSpPr>
        <p:spPr>
          <a:xfrm>
            <a:off x="7223760" y="822960"/>
            <a:ext cx="6035040" cy="6035040"/>
          </a:xfrm>
          <a:prstGeom prst="rect">
            <a:avLst/>
          </a:prstGeom>
          <a:noFill/>
          <a:ln/>
        </p:spPr>
        <p:txBody>
          <a:bodyPr wrap="square" lIns="0" tIns="0" rIns="0" bIns="0" rtlCol="0" anchor="ctr"/>
          <a:lstStyle/>
          <a:p>
            <a:pPr marL="0" indent="0" algn="ctr">
              <a:buNone/>
            </a:pPr>
            <a:r>
              <a:rPr lang="en-US" sz="30000" b="1" dirty="0">
                <a:solidFill>
                  <a:srgbClr val="F8E0D8"/>
                </a:solidFill>
                <a:latin typeface="Roboto Condensed" pitchFamily="34" charset="0"/>
                <a:ea typeface="Roboto Condensed" pitchFamily="34" charset="-122"/>
                <a:cs typeface="Roboto Condensed" pitchFamily="34" charset="-120"/>
              </a:rPr>
              <a:t>1</a:t>
            </a:r>
            <a:endParaRPr lang="en-US" sz="300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marL="0" indent="0">
              <a:buNone/>
            </a:pPr>
            <a:r>
              <a:rPr lang="sv-SE" altLang="en-US" sz="1800" b="1" kern="0" spc="300" dirty="0">
                <a:solidFill>
                  <a:srgbClr val="FFFFFF"/>
                </a:solidFill>
                <a:latin typeface="Roboto Condensed" pitchFamily="34" charset="0"/>
                <a:ea typeface="Roboto Condensed" pitchFamily="34" charset="-122"/>
                <a:cs typeface="Roboto Condensed" pitchFamily="34" charset="-120"/>
              </a:rPr>
              <a:t>DEL 1</a:t>
            </a:r>
            <a:endParaRPr lang="sv-SE" sz="1800" dirty="0"/>
          </a:p>
        </p:txBody>
      </p:sp>
      <p:sp>
        <p:nvSpPr>
          <p:cNvPr id="5" name="Text 3"/>
          <p:cNvSpPr txBox="1"/>
          <p:nvPr/>
        </p:nvSpPr>
        <p:spPr>
          <a:xfrm>
            <a:off x="548640" y="2560320"/>
            <a:ext cx="6583680" cy="1737360"/>
          </a:xfrm>
          <a:prstGeom prst="rect">
            <a:avLst/>
          </a:prstGeom>
          <a:noFill/>
          <a:ln/>
        </p:spPr>
        <p:txBody>
          <a:bodyPr wrap="square" lIns="0" tIns="0" rIns="0" bIns="0" rtlCol="0" anchor="t"/>
          <a:lstStyle/>
          <a:p>
            <a:pPr marL="0" indent="0">
              <a:buNone/>
            </a:pPr>
            <a:r>
              <a:rPr lang="sv-SE" altLang="en-US" sz="5400" b="1" dirty="0">
                <a:solidFill>
                  <a:srgbClr val="FFFFFF"/>
                </a:solidFill>
                <a:latin typeface="Roboto Condensed" pitchFamily="34" charset="0"/>
                <a:ea typeface="Roboto Condensed" pitchFamily="34" charset="-122"/>
                <a:cs typeface="Roboto Condensed" pitchFamily="34" charset="-120"/>
              </a:rPr>
              <a:t>Konfliktkunskapens ABC</a:t>
            </a:r>
            <a:endParaRPr lang="sv-SE" sz="5400" dirty="0"/>
          </a:p>
        </p:txBody>
      </p:sp>
      <p:sp>
        <p:nvSpPr>
          <p:cNvPr id="6" name="Text 4"/>
          <p:cNvSpPr txBox="1"/>
          <p:nvPr/>
        </p:nvSpPr>
        <p:spPr>
          <a:xfrm>
            <a:off x="548640" y="4434840"/>
            <a:ext cx="6217920" cy="1463040"/>
          </a:xfrm>
          <a:prstGeom prst="rect">
            <a:avLst/>
          </a:prstGeom>
          <a:noFill/>
          <a:ln/>
        </p:spPr>
        <p:txBody>
          <a:bodyPr wrap="square" lIns="0" tIns="0" rIns="0" bIns="0" rtlCol="0" anchor="t"/>
          <a:lstStyle/>
          <a:p>
            <a:pPr marL="0" indent="0">
              <a:buNone/>
            </a:pPr>
            <a:r>
              <a:rPr lang="sv-SE" altLang="en-US" sz="2200" dirty="0">
                <a:solidFill>
                  <a:srgbClr val="FFFFFF"/>
                </a:solidFill>
                <a:latin typeface="Georgia" pitchFamily="34" charset="0"/>
                <a:ea typeface="Georgia" pitchFamily="34" charset="-122"/>
                <a:cs typeface="Georgia" pitchFamily="34" charset="-120"/>
              </a:rPr>
              <a:t>Vad en konflikt är, var den uppstår och vad man kan titta på.</a:t>
            </a:r>
            <a:endParaRPr lang="sv-SE"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3571646"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Vad är en konflikt?</a:t>
            </a:r>
            <a:endParaRPr lang="sv-SE" sz="3000" dirty="0"/>
          </a:p>
        </p:txBody>
      </p:sp>
      <p:sp>
        <p:nvSpPr>
          <p:cNvPr id="4" name="Text 1"/>
          <p:cNvSpPr txBox="1"/>
          <p:nvPr/>
        </p:nvSpPr>
        <p:spPr>
          <a:xfrm>
            <a:off x="548640" y="1371600"/>
            <a:ext cx="9875520" cy="68580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En konflikt är en interaktion mellan minst två parter där</a:t>
            </a:r>
            <a:endParaRPr lang="sv-SE" sz="1900" dirty="0"/>
          </a:p>
        </p:txBody>
      </p:sp>
      <p:sp>
        <p:nvSpPr>
          <p:cNvPr id="5" name="Shape 2"/>
          <p:cNvSpPr/>
          <p:nvPr/>
        </p:nvSpPr>
        <p:spPr>
          <a:xfrm>
            <a:off x="548640" y="2011680"/>
            <a:ext cx="2485568" cy="2331720"/>
          </a:xfrm>
          <a:prstGeom prst="roundRect">
            <a:avLst>
              <a:gd name="adj" fmla="val 3922"/>
            </a:avLst>
          </a:prstGeom>
          <a:solidFill>
            <a:srgbClr val="F2F0EF"/>
          </a:solidFill>
          <a:ln w="12700">
            <a:solidFill>
              <a:srgbClr val="F2F0EF"/>
            </a:solidFill>
            <a:prstDash val="solid"/>
          </a:ln>
        </p:spPr>
        <p:txBody>
          <a:bodyPr/>
          <a:lstStyle/>
          <a:p>
            <a:endParaRPr lang="sv-SE"/>
          </a:p>
        </p:txBody>
      </p:sp>
      <p:sp>
        <p:nvSpPr>
          <p:cNvPr id="6" name="Shape 3"/>
          <p:cNvSpPr/>
          <p:nvPr/>
        </p:nvSpPr>
        <p:spPr>
          <a:xfrm>
            <a:off x="804672" y="2240280"/>
            <a:ext cx="548640" cy="548640"/>
          </a:xfrm>
          <a:prstGeom prst="ellipse">
            <a:avLst/>
          </a:prstGeom>
          <a:solidFill>
            <a:srgbClr val="D80811"/>
          </a:solidFill>
          <a:ln w="12700">
            <a:solidFill>
              <a:srgbClr val="D80811"/>
            </a:solidFill>
            <a:prstDash val="solid"/>
          </a:ln>
        </p:spPr>
        <p:txBody>
          <a:bodyPr/>
          <a:lstStyle/>
          <a:p>
            <a:endParaRPr lang="sv-SE"/>
          </a:p>
        </p:txBody>
      </p:sp>
      <p:sp>
        <p:nvSpPr>
          <p:cNvPr id="7" name="Text 4"/>
          <p:cNvSpPr txBox="1"/>
          <p:nvPr/>
        </p:nvSpPr>
        <p:spPr>
          <a:xfrm>
            <a:off x="804672" y="2240280"/>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1</a:t>
            </a:r>
            <a:endParaRPr lang="en-US" sz="2040" dirty="0"/>
          </a:p>
        </p:txBody>
      </p:sp>
      <p:sp>
        <p:nvSpPr>
          <p:cNvPr id="8" name="Text 5"/>
          <p:cNvSpPr txBox="1"/>
          <p:nvPr/>
        </p:nvSpPr>
        <p:spPr>
          <a:xfrm>
            <a:off x="804672" y="2971800"/>
            <a:ext cx="1973504" cy="1280160"/>
          </a:xfrm>
          <a:prstGeom prst="rect">
            <a:avLst/>
          </a:prstGeom>
          <a:noFill/>
          <a:ln/>
        </p:spPr>
        <p:txBody>
          <a:bodyPr wrap="square" lIns="0" tIns="0" rIns="0" bIns="0" rtlCol="0" anchor="t"/>
          <a:lstStyle/>
          <a:p>
            <a:pPr marL="0" indent="0">
              <a:buNone/>
            </a:pPr>
            <a:r>
              <a:rPr lang="sv-SE" altLang="en-US" sz="1850" dirty="0">
                <a:solidFill>
                  <a:srgbClr val="1A1A1A"/>
                </a:solidFill>
                <a:latin typeface="Georgia" pitchFamily="34" charset="0"/>
                <a:ea typeface="Georgia" pitchFamily="34" charset="-122"/>
                <a:cs typeface="Georgia" pitchFamily="34" charset="-120"/>
              </a:rPr>
              <a:t>minst en part har </a:t>
            </a:r>
            <a:r>
              <a:rPr lang="sv-SE" altLang="en-US" sz="1850" b="1" dirty="0">
                <a:solidFill>
                  <a:srgbClr val="A50D1E"/>
                </a:solidFill>
                <a:latin typeface="Georgia" pitchFamily="34" charset="0"/>
                <a:ea typeface="Georgia" pitchFamily="34" charset="-122"/>
                <a:cs typeface="Georgia" pitchFamily="34" charset="-120"/>
              </a:rPr>
              <a:t>önskemål</a:t>
            </a:r>
            <a:r>
              <a:rPr lang="sv-SE" altLang="en-US" sz="1850" dirty="0">
                <a:solidFill>
                  <a:srgbClr val="1A1A1A"/>
                </a:solidFill>
                <a:latin typeface="Georgia" pitchFamily="34" charset="0"/>
                <a:ea typeface="Georgia" pitchFamily="34" charset="-122"/>
                <a:cs typeface="Georgia" pitchFamily="34" charset="-120"/>
              </a:rPr>
              <a:t> som känns för viktiga att släppa,</a:t>
            </a:r>
            <a:endParaRPr lang="sv-SE" sz="1850" dirty="0"/>
          </a:p>
        </p:txBody>
      </p:sp>
      <p:sp>
        <p:nvSpPr>
          <p:cNvPr id="9" name="Text 6"/>
          <p:cNvSpPr txBox="1"/>
          <p:nvPr/>
        </p:nvSpPr>
        <p:spPr>
          <a:xfrm>
            <a:off x="3034208" y="2788920"/>
            <a:ext cx="384048" cy="640080"/>
          </a:xfrm>
          <a:prstGeom prst="rect">
            <a:avLst/>
          </a:prstGeom>
          <a:noFill/>
          <a:ln/>
        </p:spPr>
        <p:txBody>
          <a:bodyPr wrap="square" lIns="0" tIns="0" rIns="0" bIns="0" rtlCol="0" anchor="ctr"/>
          <a:lstStyle/>
          <a:p>
            <a:pPr marL="0" indent="0" algn="ctr">
              <a:buNone/>
            </a:pPr>
            <a:r>
              <a:rPr lang="sv-SE" altLang="en-US" sz="4000" b="1" dirty="0">
                <a:solidFill>
                  <a:srgbClr val="D80811"/>
                </a:solidFill>
                <a:latin typeface="Roboto Condensed" pitchFamily="34" charset="0"/>
                <a:ea typeface="Roboto Condensed" pitchFamily="34" charset="-122"/>
                <a:cs typeface="Roboto Condensed" pitchFamily="34" charset="-120"/>
              </a:rPr>
              <a:t>›</a:t>
            </a:r>
            <a:endParaRPr lang="sv-SE" sz="4000" dirty="0"/>
          </a:p>
        </p:txBody>
      </p:sp>
      <p:sp>
        <p:nvSpPr>
          <p:cNvPr id="10" name="Shape 7"/>
          <p:cNvSpPr/>
          <p:nvPr/>
        </p:nvSpPr>
        <p:spPr>
          <a:xfrm>
            <a:off x="3418256" y="2011680"/>
            <a:ext cx="2485568" cy="2331720"/>
          </a:xfrm>
          <a:prstGeom prst="roundRect">
            <a:avLst>
              <a:gd name="adj" fmla="val 3922"/>
            </a:avLst>
          </a:prstGeom>
          <a:solidFill>
            <a:srgbClr val="F2F0EF"/>
          </a:solidFill>
          <a:ln w="12700">
            <a:solidFill>
              <a:srgbClr val="F2F0EF"/>
            </a:solidFill>
            <a:prstDash val="solid"/>
          </a:ln>
        </p:spPr>
        <p:txBody>
          <a:bodyPr/>
          <a:lstStyle/>
          <a:p>
            <a:endParaRPr lang="sv-SE"/>
          </a:p>
        </p:txBody>
      </p:sp>
      <p:sp>
        <p:nvSpPr>
          <p:cNvPr id="11" name="Shape 8"/>
          <p:cNvSpPr/>
          <p:nvPr/>
        </p:nvSpPr>
        <p:spPr>
          <a:xfrm>
            <a:off x="3674288" y="2240280"/>
            <a:ext cx="548640" cy="548640"/>
          </a:xfrm>
          <a:prstGeom prst="ellipse">
            <a:avLst/>
          </a:prstGeom>
          <a:solidFill>
            <a:srgbClr val="D80811"/>
          </a:solidFill>
          <a:ln w="12700">
            <a:solidFill>
              <a:srgbClr val="D80811"/>
            </a:solidFill>
            <a:prstDash val="solid"/>
          </a:ln>
        </p:spPr>
        <p:txBody>
          <a:bodyPr/>
          <a:lstStyle/>
          <a:p>
            <a:endParaRPr lang="sv-SE"/>
          </a:p>
        </p:txBody>
      </p:sp>
      <p:sp>
        <p:nvSpPr>
          <p:cNvPr id="12" name="Text 9"/>
          <p:cNvSpPr txBox="1"/>
          <p:nvPr/>
        </p:nvSpPr>
        <p:spPr>
          <a:xfrm>
            <a:off x="3674288" y="2240280"/>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2</a:t>
            </a:r>
            <a:endParaRPr lang="en-US" sz="2040" dirty="0"/>
          </a:p>
        </p:txBody>
      </p:sp>
      <p:sp>
        <p:nvSpPr>
          <p:cNvPr id="13" name="Text 10"/>
          <p:cNvSpPr txBox="1"/>
          <p:nvPr/>
        </p:nvSpPr>
        <p:spPr>
          <a:xfrm>
            <a:off x="3674288" y="2971800"/>
            <a:ext cx="1973504" cy="1280160"/>
          </a:xfrm>
          <a:prstGeom prst="rect">
            <a:avLst/>
          </a:prstGeom>
          <a:noFill/>
          <a:ln/>
        </p:spPr>
        <p:txBody>
          <a:bodyPr wrap="square" lIns="0" tIns="0" rIns="0" bIns="0" rtlCol="0" anchor="t"/>
          <a:lstStyle/>
          <a:p>
            <a:pPr marL="0" indent="0">
              <a:buNone/>
            </a:pPr>
            <a:r>
              <a:rPr lang="sv-SE" altLang="en-US" sz="1850" dirty="0">
                <a:solidFill>
                  <a:srgbClr val="1A1A1A"/>
                </a:solidFill>
                <a:latin typeface="Georgia" pitchFamily="34" charset="0"/>
                <a:ea typeface="Georgia" pitchFamily="34" charset="-122"/>
                <a:cs typeface="Georgia" pitchFamily="34" charset="-120"/>
              </a:rPr>
              <a:t>och upplever att någon annan </a:t>
            </a:r>
            <a:r>
              <a:rPr lang="sv-SE" altLang="en-US" sz="1850" b="1" dirty="0">
                <a:solidFill>
                  <a:srgbClr val="A50D1E"/>
                </a:solidFill>
                <a:latin typeface="Georgia" pitchFamily="34" charset="0"/>
                <a:ea typeface="Georgia" pitchFamily="34" charset="-122"/>
                <a:cs typeface="Georgia" pitchFamily="34" charset="-120"/>
              </a:rPr>
              <a:t>blockerar</a:t>
            </a:r>
            <a:r>
              <a:rPr lang="sv-SE" altLang="en-US" sz="1850" dirty="0">
                <a:solidFill>
                  <a:srgbClr val="1A1A1A"/>
                </a:solidFill>
                <a:latin typeface="Georgia" pitchFamily="34" charset="0"/>
                <a:ea typeface="Georgia" pitchFamily="34" charset="-122"/>
                <a:cs typeface="Georgia" pitchFamily="34" charset="-120"/>
              </a:rPr>
              <a:t> dem,</a:t>
            </a:r>
            <a:endParaRPr lang="sv-SE" sz="1850" dirty="0"/>
          </a:p>
        </p:txBody>
      </p:sp>
      <p:sp>
        <p:nvSpPr>
          <p:cNvPr id="14" name="Text 11"/>
          <p:cNvSpPr txBox="1"/>
          <p:nvPr/>
        </p:nvSpPr>
        <p:spPr>
          <a:xfrm>
            <a:off x="5903824" y="2788920"/>
            <a:ext cx="384048" cy="640080"/>
          </a:xfrm>
          <a:prstGeom prst="rect">
            <a:avLst/>
          </a:prstGeom>
          <a:noFill/>
          <a:ln/>
        </p:spPr>
        <p:txBody>
          <a:bodyPr wrap="square" lIns="0" tIns="0" rIns="0" bIns="0" rtlCol="0" anchor="ctr"/>
          <a:lstStyle/>
          <a:p>
            <a:pPr marL="0" indent="0" algn="ctr">
              <a:buNone/>
            </a:pPr>
            <a:r>
              <a:rPr lang="sv-SE" altLang="en-US" sz="4000" b="1" dirty="0">
                <a:solidFill>
                  <a:srgbClr val="D80811"/>
                </a:solidFill>
                <a:latin typeface="Roboto Condensed" pitchFamily="34" charset="0"/>
                <a:ea typeface="Roboto Condensed" pitchFamily="34" charset="-122"/>
                <a:cs typeface="Roboto Condensed" pitchFamily="34" charset="-120"/>
              </a:rPr>
              <a:t>›</a:t>
            </a:r>
            <a:endParaRPr lang="sv-SE" sz="4000" dirty="0"/>
          </a:p>
        </p:txBody>
      </p:sp>
      <p:sp>
        <p:nvSpPr>
          <p:cNvPr id="15" name="Shape 12"/>
          <p:cNvSpPr/>
          <p:nvPr/>
        </p:nvSpPr>
        <p:spPr>
          <a:xfrm>
            <a:off x="6287872" y="2011680"/>
            <a:ext cx="2485568" cy="2331720"/>
          </a:xfrm>
          <a:prstGeom prst="roundRect">
            <a:avLst>
              <a:gd name="adj" fmla="val 3922"/>
            </a:avLst>
          </a:prstGeom>
          <a:solidFill>
            <a:srgbClr val="F2F0EF"/>
          </a:solidFill>
          <a:ln w="12700">
            <a:solidFill>
              <a:srgbClr val="F2F0EF"/>
            </a:solidFill>
            <a:prstDash val="solid"/>
          </a:ln>
        </p:spPr>
        <p:txBody>
          <a:bodyPr/>
          <a:lstStyle/>
          <a:p>
            <a:endParaRPr lang="sv-SE"/>
          </a:p>
        </p:txBody>
      </p:sp>
      <p:sp>
        <p:nvSpPr>
          <p:cNvPr id="16" name="Shape 13"/>
          <p:cNvSpPr/>
          <p:nvPr/>
        </p:nvSpPr>
        <p:spPr>
          <a:xfrm>
            <a:off x="6543904" y="2240280"/>
            <a:ext cx="548640" cy="548640"/>
          </a:xfrm>
          <a:prstGeom prst="ellipse">
            <a:avLst/>
          </a:prstGeom>
          <a:solidFill>
            <a:srgbClr val="D80811"/>
          </a:solidFill>
          <a:ln w="12700">
            <a:solidFill>
              <a:srgbClr val="D80811"/>
            </a:solidFill>
            <a:prstDash val="solid"/>
          </a:ln>
        </p:spPr>
        <p:txBody>
          <a:bodyPr/>
          <a:lstStyle/>
          <a:p>
            <a:endParaRPr lang="sv-SE"/>
          </a:p>
        </p:txBody>
      </p:sp>
      <p:sp>
        <p:nvSpPr>
          <p:cNvPr id="17" name="Text 14"/>
          <p:cNvSpPr txBox="1"/>
          <p:nvPr/>
        </p:nvSpPr>
        <p:spPr>
          <a:xfrm>
            <a:off x="6543904" y="2240280"/>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3</a:t>
            </a:r>
            <a:endParaRPr lang="en-US" sz="2040" dirty="0"/>
          </a:p>
        </p:txBody>
      </p:sp>
      <p:sp>
        <p:nvSpPr>
          <p:cNvPr id="18" name="Text 15"/>
          <p:cNvSpPr txBox="1"/>
          <p:nvPr/>
        </p:nvSpPr>
        <p:spPr>
          <a:xfrm>
            <a:off x="6543904" y="2971800"/>
            <a:ext cx="1973504" cy="1280160"/>
          </a:xfrm>
          <a:prstGeom prst="rect">
            <a:avLst/>
          </a:prstGeom>
          <a:noFill/>
          <a:ln/>
        </p:spPr>
        <p:txBody>
          <a:bodyPr wrap="square" lIns="0" tIns="0" rIns="0" bIns="0" rtlCol="0" anchor="t"/>
          <a:lstStyle/>
          <a:p>
            <a:pPr marL="0" indent="0">
              <a:buNone/>
            </a:pPr>
            <a:r>
              <a:rPr lang="sv-SE" altLang="en-US" sz="1850" dirty="0">
                <a:solidFill>
                  <a:srgbClr val="1A1A1A"/>
                </a:solidFill>
                <a:latin typeface="Georgia" pitchFamily="34" charset="0"/>
                <a:ea typeface="Georgia" pitchFamily="34" charset="-122"/>
                <a:cs typeface="Georgia" pitchFamily="34" charset="-120"/>
              </a:rPr>
              <a:t>så att blockeringen väcker </a:t>
            </a:r>
            <a:r>
              <a:rPr lang="sv-SE" altLang="en-US" sz="1850" b="1" dirty="0">
                <a:solidFill>
                  <a:srgbClr val="A50D1E"/>
                </a:solidFill>
                <a:latin typeface="Georgia" pitchFamily="34" charset="0"/>
                <a:ea typeface="Georgia" pitchFamily="34" charset="-122"/>
                <a:cs typeface="Georgia" pitchFamily="34" charset="-120"/>
              </a:rPr>
              <a:t>frustration,</a:t>
            </a:r>
            <a:endParaRPr lang="sv-SE" sz="1850" dirty="0"/>
          </a:p>
        </p:txBody>
      </p:sp>
      <p:sp>
        <p:nvSpPr>
          <p:cNvPr id="19" name="Text 16"/>
          <p:cNvSpPr txBox="1"/>
          <p:nvPr/>
        </p:nvSpPr>
        <p:spPr>
          <a:xfrm>
            <a:off x="8773439" y="2788920"/>
            <a:ext cx="384048" cy="640080"/>
          </a:xfrm>
          <a:prstGeom prst="rect">
            <a:avLst/>
          </a:prstGeom>
          <a:noFill/>
          <a:ln/>
        </p:spPr>
        <p:txBody>
          <a:bodyPr wrap="square" lIns="0" tIns="0" rIns="0" bIns="0" rtlCol="0" anchor="ctr"/>
          <a:lstStyle/>
          <a:p>
            <a:pPr marL="0" indent="0" algn="ctr">
              <a:buNone/>
            </a:pPr>
            <a:r>
              <a:rPr lang="sv-SE" altLang="en-US" sz="4000" b="1" dirty="0">
                <a:solidFill>
                  <a:srgbClr val="D80811"/>
                </a:solidFill>
                <a:latin typeface="Roboto Condensed" pitchFamily="34" charset="0"/>
                <a:ea typeface="Roboto Condensed" pitchFamily="34" charset="-122"/>
                <a:cs typeface="Roboto Condensed" pitchFamily="34" charset="-120"/>
              </a:rPr>
              <a:t>›</a:t>
            </a:r>
            <a:endParaRPr lang="sv-SE" sz="4000" dirty="0"/>
          </a:p>
        </p:txBody>
      </p:sp>
      <p:sp>
        <p:nvSpPr>
          <p:cNvPr id="20" name="Shape 17"/>
          <p:cNvSpPr/>
          <p:nvPr/>
        </p:nvSpPr>
        <p:spPr>
          <a:xfrm>
            <a:off x="9157487" y="2011680"/>
            <a:ext cx="2485568" cy="2331720"/>
          </a:xfrm>
          <a:prstGeom prst="roundRect">
            <a:avLst>
              <a:gd name="adj" fmla="val 3922"/>
            </a:avLst>
          </a:prstGeom>
          <a:solidFill>
            <a:srgbClr val="F2F0EF"/>
          </a:solidFill>
          <a:ln w="12700">
            <a:solidFill>
              <a:srgbClr val="F2F0EF"/>
            </a:solidFill>
            <a:prstDash val="solid"/>
          </a:ln>
        </p:spPr>
        <p:txBody>
          <a:bodyPr/>
          <a:lstStyle/>
          <a:p>
            <a:endParaRPr lang="sv-SE"/>
          </a:p>
        </p:txBody>
      </p:sp>
      <p:sp>
        <p:nvSpPr>
          <p:cNvPr id="21" name="Shape 18"/>
          <p:cNvSpPr/>
          <p:nvPr/>
        </p:nvSpPr>
        <p:spPr>
          <a:xfrm>
            <a:off x="9413519" y="2240280"/>
            <a:ext cx="548640" cy="548640"/>
          </a:xfrm>
          <a:prstGeom prst="ellipse">
            <a:avLst/>
          </a:prstGeom>
          <a:solidFill>
            <a:srgbClr val="D80811"/>
          </a:solidFill>
          <a:ln w="12700">
            <a:solidFill>
              <a:srgbClr val="D80811"/>
            </a:solidFill>
            <a:prstDash val="solid"/>
          </a:ln>
        </p:spPr>
        <p:txBody>
          <a:bodyPr/>
          <a:lstStyle/>
          <a:p>
            <a:endParaRPr lang="sv-SE"/>
          </a:p>
        </p:txBody>
      </p:sp>
      <p:sp>
        <p:nvSpPr>
          <p:cNvPr id="22" name="Text 19"/>
          <p:cNvSpPr txBox="1"/>
          <p:nvPr/>
        </p:nvSpPr>
        <p:spPr>
          <a:xfrm>
            <a:off x="9413519" y="2240280"/>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4</a:t>
            </a:r>
            <a:endParaRPr lang="en-US" sz="2040" dirty="0"/>
          </a:p>
        </p:txBody>
      </p:sp>
      <p:sp>
        <p:nvSpPr>
          <p:cNvPr id="23" name="Text 20"/>
          <p:cNvSpPr txBox="1"/>
          <p:nvPr/>
        </p:nvSpPr>
        <p:spPr>
          <a:xfrm>
            <a:off x="9413519" y="2971800"/>
            <a:ext cx="1973504" cy="1280160"/>
          </a:xfrm>
          <a:prstGeom prst="rect">
            <a:avLst/>
          </a:prstGeom>
          <a:noFill/>
          <a:ln/>
        </p:spPr>
        <p:txBody>
          <a:bodyPr wrap="square" lIns="0" tIns="0" rIns="0" bIns="0" rtlCol="0" anchor="t"/>
          <a:lstStyle/>
          <a:p>
            <a:pPr marL="0" indent="0">
              <a:buNone/>
            </a:pPr>
            <a:r>
              <a:rPr lang="sv-SE" altLang="en-US" sz="1850" dirty="0">
                <a:solidFill>
                  <a:srgbClr val="1A1A1A"/>
                </a:solidFill>
                <a:latin typeface="Georgia" pitchFamily="34" charset="0"/>
                <a:ea typeface="Georgia" pitchFamily="34" charset="-122"/>
                <a:cs typeface="Georgia" pitchFamily="34" charset="-120"/>
              </a:rPr>
              <a:t>som driver minst en av parterna att </a:t>
            </a:r>
            <a:r>
              <a:rPr lang="sv-SE" altLang="en-US" sz="1850" b="1" dirty="0">
                <a:solidFill>
                  <a:srgbClr val="A50D1E"/>
                </a:solidFill>
                <a:latin typeface="Georgia" pitchFamily="34" charset="0"/>
                <a:ea typeface="Georgia" pitchFamily="34" charset="-122"/>
                <a:cs typeface="Georgia" pitchFamily="34" charset="-120"/>
              </a:rPr>
              <a:t>agera</a:t>
            </a:r>
            <a:r>
              <a:rPr lang="sv-SE" altLang="en-US" sz="1850" dirty="0">
                <a:solidFill>
                  <a:srgbClr val="1A1A1A"/>
                </a:solidFill>
                <a:latin typeface="Georgia" pitchFamily="34" charset="0"/>
                <a:ea typeface="Georgia" pitchFamily="34" charset="-122"/>
                <a:cs typeface="Georgia" pitchFamily="34" charset="-120"/>
              </a:rPr>
              <a:t> gentemot den andra.</a:t>
            </a:r>
            <a:endParaRPr lang="sv-SE" sz="1850" dirty="0"/>
          </a:p>
        </p:txBody>
      </p:sp>
      <p:sp>
        <p:nvSpPr>
          <p:cNvPr id="24" name="Shape 21"/>
          <p:cNvSpPr/>
          <p:nvPr/>
        </p:nvSpPr>
        <p:spPr>
          <a:xfrm>
            <a:off x="548640" y="4709160"/>
            <a:ext cx="11094415" cy="1325880"/>
          </a:xfrm>
          <a:prstGeom prst="roundRect">
            <a:avLst>
              <a:gd name="adj" fmla="val 6897"/>
            </a:avLst>
          </a:prstGeom>
          <a:solidFill>
            <a:srgbClr val="F8E0D8"/>
          </a:solidFill>
          <a:ln w="12700">
            <a:solidFill>
              <a:srgbClr val="F8E0D8"/>
            </a:solidFill>
            <a:prstDash val="solid"/>
          </a:ln>
        </p:spPr>
        <p:txBody>
          <a:bodyPr/>
          <a:lstStyle/>
          <a:p>
            <a:endParaRPr lang="sv-SE"/>
          </a:p>
        </p:txBody>
      </p:sp>
      <p:sp>
        <p:nvSpPr>
          <p:cNvPr id="25" name="Text 22"/>
          <p:cNvSpPr txBox="1"/>
          <p:nvPr/>
        </p:nvSpPr>
        <p:spPr>
          <a:xfrm>
            <a:off x="914400" y="4709160"/>
            <a:ext cx="10362895" cy="1325880"/>
          </a:xfrm>
          <a:prstGeom prst="rect">
            <a:avLst/>
          </a:prstGeom>
          <a:noFill/>
          <a:ln/>
        </p:spPr>
        <p:txBody>
          <a:bodyPr wrap="square" lIns="0" tIns="0" rIns="0" bIns="0" rtlCol="0" anchor="ctr"/>
          <a:lstStyle/>
          <a:p>
            <a:pPr marL="0" indent="0">
              <a:buNone/>
            </a:pPr>
            <a:r>
              <a:rPr lang="sv-SE" altLang="en-US" sz="1900" b="1" dirty="0">
                <a:solidFill>
                  <a:srgbClr val="1A1A1A"/>
                </a:solidFill>
                <a:latin typeface="Georgia" pitchFamily="34" charset="0"/>
                <a:ea typeface="Georgia" pitchFamily="34" charset="-122"/>
                <a:cs typeface="Georgia" pitchFamily="34" charset="-120"/>
              </a:rPr>
              <a:t>Frustrationen är energin som driver konflikten vidare. </a:t>
            </a:r>
            <a:r>
              <a:rPr lang="sv-SE" altLang="en-US" sz="1900" dirty="0">
                <a:solidFill>
                  <a:srgbClr val="1A1A1A"/>
                </a:solidFill>
                <a:latin typeface="Georgia" pitchFamily="34" charset="0"/>
                <a:ea typeface="Georgia" pitchFamily="34" charset="-122"/>
                <a:cs typeface="Georgia" pitchFamily="34" charset="-120"/>
              </a:rPr>
              <a:t>När de sätt vi prövat inte fungerar tar vi till andra medel. Det är så eskalation börjar.</a:t>
            </a:r>
            <a:endParaRPr lang="sv-SE"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2139696"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Tre nivåer</a:t>
            </a:r>
            <a:endParaRPr lang="sv-SE" sz="3000" dirty="0"/>
          </a:p>
        </p:txBody>
      </p:sp>
      <p:sp>
        <p:nvSpPr>
          <p:cNvPr id="4" name="Text 1"/>
          <p:cNvSpPr txBox="1"/>
          <p:nvPr/>
        </p:nvSpPr>
        <p:spPr>
          <a:xfrm>
            <a:off x="548640" y="1371600"/>
            <a:ext cx="9875520" cy="68580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Var vi letar efter orsaken styr vilka åtgärder som känns självklara.</a:t>
            </a:r>
            <a:endParaRPr lang="sv-SE" sz="1900" dirty="0"/>
          </a:p>
        </p:txBody>
      </p:sp>
      <p:sp>
        <p:nvSpPr>
          <p:cNvPr id="5" name="Shape 2"/>
          <p:cNvSpPr/>
          <p:nvPr/>
        </p:nvSpPr>
        <p:spPr>
          <a:xfrm>
            <a:off x="548640" y="2103120"/>
            <a:ext cx="3515258" cy="3749040"/>
          </a:xfrm>
          <a:prstGeom prst="roundRect">
            <a:avLst>
              <a:gd name="adj" fmla="val 2601"/>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822960" y="2359152"/>
            <a:ext cx="2966618" cy="411480"/>
          </a:xfrm>
          <a:prstGeom prst="rect">
            <a:avLst/>
          </a:prstGeom>
          <a:noFill/>
          <a:ln/>
        </p:spPr>
        <p:txBody>
          <a:bodyPr wrap="square" lIns="0" tIns="0" rIns="0" bIns="0" rtlCol="0" anchor="t"/>
          <a:lstStyle/>
          <a:p>
            <a:pPr marL="0" indent="0">
              <a:buNone/>
            </a:pPr>
            <a:r>
              <a:rPr lang="sv-SE" altLang="en-US" sz="2300" b="1" dirty="0">
                <a:solidFill>
                  <a:srgbClr val="005A5F"/>
                </a:solidFill>
                <a:latin typeface="Roboto Condensed" pitchFamily="34" charset="0"/>
                <a:ea typeface="Roboto Condensed" pitchFamily="34" charset="-122"/>
                <a:cs typeface="Roboto Condensed" pitchFamily="34" charset="-120"/>
              </a:rPr>
              <a:t>Individnivån</a:t>
            </a:r>
            <a:endParaRPr lang="sv-SE" sz="2300" dirty="0"/>
          </a:p>
        </p:txBody>
      </p:sp>
      <p:sp>
        <p:nvSpPr>
          <p:cNvPr id="7" name="Text 4"/>
          <p:cNvSpPr txBox="1"/>
          <p:nvPr/>
        </p:nvSpPr>
        <p:spPr>
          <a:xfrm>
            <a:off x="822960" y="2889504"/>
            <a:ext cx="2966618" cy="1819656"/>
          </a:xfrm>
          <a:prstGeom prst="rect">
            <a:avLst/>
          </a:prstGeom>
          <a:noFill/>
          <a:ln/>
        </p:spPr>
        <p:txBody>
          <a:bodyPr wrap="square" lIns="0" tIns="0" rIns="0" bIns="0" rtlCol="0" anchor="t"/>
          <a:lstStyle/>
          <a:p>
            <a:pPr marL="0" indent="0">
              <a:spcAft>
                <a:spcPts val="600"/>
              </a:spcAft>
              <a:buNone/>
            </a:pPr>
            <a:r>
              <a:rPr lang="sv-SE" altLang="en-US" sz="2000" dirty="0">
                <a:solidFill>
                  <a:srgbClr val="1A1A1A"/>
                </a:solidFill>
                <a:latin typeface="Georgia" pitchFamily="34" charset="0"/>
                <a:ea typeface="Georgia" pitchFamily="34" charset="-122"/>
                <a:cs typeface="Georgia" pitchFamily="34" charset="-120"/>
              </a:rPr>
              <a:t>Personlighet, beteendemönster och livssituation hos de inblandade.</a:t>
            </a:r>
            <a:endParaRPr lang="sv-SE" sz="2000" dirty="0"/>
          </a:p>
        </p:txBody>
      </p:sp>
      <p:sp>
        <p:nvSpPr>
          <p:cNvPr id="8" name="Shape 5"/>
          <p:cNvSpPr/>
          <p:nvPr/>
        </p:nvSpPr>
        <p:spPr>
          <a:xfrm>
            <a:off x="731520" y="4754880"/>
            <a:ext cx="3149498" cy="914400"/>
          </a:xfrm>
          <a:prstGeom prst="roundRect">
            <a:avLst>
              <a:gd name="adj" fmla="val 10000"/>
            </a:avLst>
          </a:prstGeom>
          <a:solidFill>
            <a:srgbClr val="FFFFFF"/>
          </a:solidFill>
          <a:ln w="12700">
            <a:solidFill>
              <a:srgbClr val="FFFFFF"/>
            </a:solidFill>
            <a:prstDash val="solid"/>
          </a:ln>
        </p:spPr>
        <p:txBody>
          <a:bodyPr/>
          <a:lstStyle/>
          <a:p>
            <a:endParaRPr lang="sv-SE"/>
          </a:p>
        </p:txBody>
      </p:sp>
      <p:sp>
        <p:nvSpPr>
          <p:cNvPr id="9" name="Text 6"/>
          <p:cNvSpPr txBox="1"/>
          <p:nvPr/>
        </p:nvSpPr>
        <p:spPr>
          <a:xfrm>
            <a:off x="896112" y="4846320"/>
            <a:ext cx="2820314" cy="731520"/>
          </a:xfrm>
          <a:prstGeom prst="rect">
            <a:avLst/>
          </a:prstGeom>
          <a:noFill/>
          <a:ln/>
        </p:spPr>
        <p:txBody>
          <a:bodyPr wrap="square" lIns="0" tIns="0" rIns="0" bIns="0" rtlCol="0" anchor="ctr"/>
          <a:lstStyle/>
          <a:p>
            <a:pPr marL="0" indent="0">
              <a:buNone/>
            </a:pPr>
            <a:r>
              <a:rPr lang="sv-SE" altLang="en-US" sz="1550" dirty="0">
                <a:solidFill>
                  <a:srgbClr val="4A4A4A"/>
                </a:solidFill>
                <a:latin typeface="Roboto Condensed" pitchFamily="34" charset="0"/>
                <a:ea typeface="Roboto Condensed" pitchFamily="34" charset="-122"/>
                <a:cs typeface="Roboto Condensed" pitchFamily="34" charset="-120"/>
              </a:rPr>
              <a:t>Åtgärder: samtal, återkoppling, gränser, omplacering.</a:t>
            </a:r>
            <a:endParaRPr lang="sv-SE" sz="1550" dirty="0"/>
          </a:p>
        </p:txBody>
      </p:sp>
      <p:sp>
        <p:nvSpPr>
          <p:cNvPr id="10" name="Shape 7"/>
          <p:cNvSpPr/>
          <p:nvPr/>
        </p:nvSpPr>
        <p:spPr>
          <a:xfrm>
            <a:off x="4338218" y="2103120"/>
            <a:ext cx="3515258" cy="3749040"/>
          </a:xfrm>
          <a:prstGeom prst="roundRect">
            <a:avLst>
              <a:gd name="adj" fmla="val 2601"/>
            </a:avLst>
          </a:prstGeom>
          <a:solidFill>
            <a:srgbClr val="F2F0EF"/>
          </a:solidFill>
          <a:ln w="12700">
            <a:solidFill>
              <a:srgbClr val="F2F0EF"/>
            </a:solidFill>
            <a:prstDash val="solid"/>
          </a:ln>
        </p:spPr>
        <p:txBody>
          <a:bodyPr/>
          <a:lstStyle/>
          <a:p>
            <a:endParaRPr lang="sv-SE"/>
          </a:p>
        </p:txBody>
      </p:sp>
      <p:sp>
        <p:nvSpPr>
          <p:cNvPr id="11" name="Text 8"/>
          <p:cNvSpPr txBox="1"/>
          <p:nvPr/>
        </p:nvSpPr>
        <p:spPr>
          <a:xfrm>
            <a:off x="4612538" y="2359152"/>
            <a:ext cx="2966618" cy="411480"/>
          </a:xfrm>
          <a:prstGeom prst="rect">
            <a:avLst/>
          </a:prstGeom>
          <a:noFill/>
          <a:ln/>
        </p:spPr>
        <p:txBody>
          <a:bodyPr wrap="square" lIns="0" tIns="0" rIns="0" bIns="0" rtlCol="0" anchor="t"/>
          <a:lstStyle/>
          <a:p>
            <a:pPr marL="0" indent="0">
              <a:buNone/>
            </a:pPr>
            <a:r>
              <a:rPr lang="sv-SE" altLang="en-US" sz="2300" b="1" dirty="0">
                <a:solidFill>
                  <a:srgbClr val="005A5F"/>
                </a:solidFill>
                <a:latin typeface="Roboto Condensed" pitchFamily="34" charset="0"/>
                <a:ea typeface="Roboto Condensed" pitchFamily="34" charset="-122"/>
                <a:cs typeface="Roboto Condensed" pitchFamily="34" charset="-120"/>
              </a:rPr>
              <a:t>Relationsnivån</a:t>
            </a:r>
            <a:endParaRPr lang="sv-SE" sz="2300" dirty="0"/>
          </a:p>
        </p:txBody>
      </p:sp>
      <p:sp>
        <p:nvSpPr>
          <p:cNvPr id="12" name="Text 9"/>
          <p:cNvSpPr txBox="1"/>
          <p:nvPr/>
        </p:nvSpPr>
        <p:spPr>
          <a:xfrm>
            <a:off x="4612538" y="2889504"/>
            <a:ext cx="2966618" cy="1819656"/>
          </a:xfrm>
          <a:prstGeom prst="rect">
            <a:avLst/>
          </a:prstGeom>
          <a:noFill/>
          <a:ln/>
        </p:spPr>
        <p:txBody>
          <a:bodyPr wrap="square" lIns="0" tIns="0" rIns="0" bIns="0" rtlCol="0" anchor="t"/>
          <a:lstStyle/>
          <a:p>
            <a:pPr marL="0" indent="0">
              <a:spcAft>
                <a:spcPts val="600"/>
              </a:spcAft>
              <a:buNone/>
            </a:pPr>
            <a:r>
              <a:rPr lang="sv-SE" altLang="en-US" sz="2000" dirty="0">
                <a:solidFill>
                  <a:srgbClr val="1A1A1A"/>
                </a:solidFill>
                <a:latin typeface="Georgia" pitchFamily="34" charset="0"/>
                <a:ea typeface="Georgia" pitchFamily="34" charset="-122"/>
                <a:cs typeface="Georgia" pitchFamily="34" charset="-120"/>
              </a:rPr>
              <a:t>Blockerade önskemål, kommunikationsproblem och en historia som gått snett. »Det är inte ens fel när två träter.«</a:t>
            </a:r>
            <a:endParaRPr lang="sv-SE" sz="2000" dirty="0"/>
          </a:p>
        </p:txBody>
      </p:sp>
      <p:sp>
        <p:nvSpPr>
          <p:cNvPr id="13" name="Shape 10"/>
          <p:cNvSpPr/>
          <p:nvPr/>
        </p:nvSpPr>
        <p:spPr>
          <a:xfrm>
            <a:off x="4521098" y="4754880"/>
            <a:ext cx="3149498" cy="914400"/>
          </a:xfrm>
          <a:prstGeom prst="roundRect">
            <a:avLst>
              <a:gd name="adj" fmla="val 10000"/>
            </a:avLst>
          </a:prstGeom>
          <a:solidFill>
            <a:srgbClr val="FFFFFF"/>
          </a:solidFill>
          <a:ln w="12700">
            <a:solidFill>
              <a:srgbClr val="FFFFFF"/>
            </a:solidFill>
            <a:prstDash val="solid"/>
          </a:ln>
        </p:spPr>
        <p:txBody>
          <a:bodyPr/>
          <a:lstStyle/>
          <a:p>
            <a:endParaRPr lang="sv-SE"/>
          </a:p>
        </p:txBody>
      </p:sp>
      <p:sp>
        <p:nvSpPr>
          <p:cNvPr id="14" name="Text 11"/>
          <p:cNvSpPr txBox="1"/>
          <p:nvPr/>
        </p:nvSpPr>
        <p:spPr>
          <a:xfrm>
            <a:off x="4685690" y="4846320"/>
            <a:ext cx="2820314" cy="731520"/>
          </a:xfrm>
          <a:prstGeom prst="rect">
            <a:avLst/>
          </a:prstGeom>
          <a:noFill/>
          <a:ln/>
        </p:spPr>
        <p:txBody>
          <a:bodyPr wrap="square" lIns="0" tIns="0" rIns="0" bIns="0" rtlCol="0" anchor="ctr"/>
          <a:lstStyle/>
          <a:p>
            <a:pPr marL="0" indent="0">
              <a:buNone/>
            </a:pPr>
            <a:r>
              <a:rPr lang="sv-SE" altLang="en-US" sz="1550" dirty="0">
                <a:solidFill>
                  <a:srgbClr val="4A4A4A"/>
                </a:solidFill>
                <a:latin typeface="Roboto Condensed" pitchFamily="34" charset="0"/>
                <a:ea typeface="Roboto Condensed" pitchFamily="34" charset="-122"/>
                <a:cs typeface="Roboto Condensed" pitchFamily="34" charset="-120"/>
              </a:rPr>
              <a:t>Åtgärder: reda ut sakfrågor, återupprätta respekt.</a:t>
            </a:r>
            <a:endParaRPr lang="sv-SE" sz="1550" dirty="0"/>
          </a:p>
        </p:txBody>
      </p:sp>
      <p:sp>
        <p:nvSpPr>
          <p:cNvPr id="15" name="Shape 12"/>
          <p:cNvSpPr/>
          <p:nvPr/>
        </p:nvSpPr>
        <p:spPr>
          <a:xfrm>
            <a:off x="8127797" y="2103120"/>
            <a:ext cx="3515258" cy="3749040"/>
          </a:xfrm>
          <a:prstGeom prst="roundRect">
            <a:avLst>
              <a:gd name="adj" fmla="val 2601"/>
            </a:avLst>
          </a:prstGeom>
          <a:solidFill>
            <a:srgbClr val="F2F0EF"/>
          </a:solidFill>
          <a:ln w="12700">
            <a:solidFill>
              <a:srgbClr val="F2F0EF"/>
            </a:solidFill>
            <a:prstDash val="solid"/>
          </a:ln>
        </p:spPr>
        <p:txBody>
          <a:bodyPr/>
          <a:lstStyle/>
          <a:p>
            <a:endParaRPr lang="sv-SE"/>
          </a:p>
        </p:txBody>
      </p:sp>
      <p:sp>
        <p:nvSpPr>
          <p:cNvPr id="16" name="Text 13"/>
          <p:cNvSpPr txBox="1"/>
          <p:nvPr/>
        </p:nvSpPr>
        <p:spPr>
          <a:xfrm>
            <a:off x="8402117" y="2359152"/>
            <a:ext cx="2966618" cy="411480"/>
          </a:xfrm>
          <a:prstGeom prst="rect">
            <a:avLst/>
          </a:prstGeom>
          <a:noFill/>
          <a:ln/>
        </p:spPr>
        <p:txBody>
          <a:bodyPr wrap="square" lIns="0" tIns="0" rIns="0" bIns="0" rtlCol="0" anchor="t"/>
          <a:lstStyle/>
          <a:p>
            <a:pPr marL="0" indent="0">
              <a:buNone/>
            </a:pPr>
            <a:r>
              <a:rPr lang="sv-SE" altLang="en-US" sz="2300" b="1" dirty="0">
                <a:solidFill>
                  <a:srgbClr val="005A5F"/>
                </a:solidFill>
                <a:latin typeface="Roboto Condensed" pitchFamily="34" charset="0"/>
                <a:ea typeface="Roboto Condensed" pitchFamily="34" charset="-122"/>
                <a:cs typeface="Roboto Condensed" pitchFamily="34" charset="-120"/>
              </a:rPr>
              <a:t>Systemnivån</a:t>
            </a:r>
            <a:endParaRPr lang="sv-SE" sz="2300" dirty="0"/>
          </a:p>
        </p:txBody>
      </p:sp>
      <p:sp>
        <p:nvSpPr>
          <p:cNvPr id="17" name="Text 14"/>
          <p:cNvSpPr txBox="1"/>
          <p:nvPr/>
        </p:nvSpPr>
        <p:spPr>
          <a:xfrm>
            <a:off x="8402117" y="2889504"/>
            <a:ext cx="2966618" cy="1819656"/>
          </a:xfrm>
          <a:prstGeom prst="rect">
            <a:avLst/>
          </a:prstGeom>
          <a:noFill/>
          <a:ln/>
        </p:spPr>
        <p:txBody>
          <a:bodyPr wrap="square" lIns="0" tIns="0" rIns="0" bIns="0" rtlCol="0" anchor="t"/>
          <a:lstStyle/>
          <a:p>
            <a:pPr marL="0" indent="0">
              <a:spcAft>
                <a:spcPts val="600"/>
              </a:spcAft>
              <a:buNone/>
            </a:pPr>
            <a:r>
              <a:rPr lang="sv-SE" altLang="en-US" sz="2000" dirty="0">
                <a:solidFill>
                  <a:srgbClr val="1A1A1A"/>
                </a:solidFill>
                <a:latin typeface="Georgia" pitchFamily="34" charset="0"/>
                <a:ea typeface="Georgia" pitchFamily="34" charset="-122"/>
                <a:cs typeface="Georgia" pitchFamily="34" charset="-120"/>
              </a:rPr>
              <a:t>Otydliga mål, oklara roller, svag ledning, brist på forum för problemlösning.</a:t>
            </a:r>
            <a:endParaRPr lang="sv-SE" sz="2000" dirty="0"/>
          </a:p>
        </p:txBody>
      </p:sp>
      <p:sp>
        <p:nvSpPr>
          <p:cNvPr id="18" name="Shape 15"/>
          <p:cNvSpPr/>
          <p:nvPr/>
        </p:nvSpPr>
        <p:spPr>
          <a:xfrm>
            <a:off x="8310677" y="4754880"/>
            <a:ext cx="3149498" cy="914400"/>
          </a:xfrm>
          <a:prstGeom prst="roundRect">
            <a:avLst>
              <a:gd name="adj" fmla="val 10000"/>
            </a:avLst>
          </a:prstGeom>
          <a:solidFill>
            <a:srgbClr val="FFFFFF"/>
          </a:solidFill>
          <a:ln w="12700">
            <a:solidFill>
              <a:srgbClr val="FFFFFF"/>
            </a:solidFill>
            <a:prstDash val="solid"/>
          </a:ln>
        </p:spPr>
        <p:txBody>
          <a:bodyPr/>
          <a:lstStyle/>
          <a:p>
            <a:endParaRPr lang="sv-SE"/>
          </a:p>
        </p:txBody>
      </p:sp>
      <p:sp>
        <p:nvSpPr>
          <p:cNvPr id="19" name="Text 16"/>
          <p:cNvSpPr txBox="1"/>
          <p:nvPr/>
        </p:nvSpPr>
        <p:spPr>
          <a:xfrm>
            <a:off x="8475269" y="4846320"/>
            <a:ext cx="2820314" cy="731520"/>
          </a:xfrm>
          <a:prstGeom prst="rect">
            <a:avLst/>
          </a:prstGeom>
          <a:noFill/>
          <a:ln/>
        </p:spPr>
        <p:txBody>
          <a:bodyPr wrap="square" lIns="0" tIns="0" rIns="0" bIns="0" rtlCol="0" anchor="ctr"/>
          <a:lstStyle/>
          <a:p>
            <a:pPr marL="0" indent="0">
              <a:buNone/>
            </a:pPr>
            <a:r>
              <a:rPr lang="sv-SE" altLang="en-US" sz="1550" dirty="0">
                <a:solidFill>
                  <a:srgbClr val="4A4A4A"/>
                </a:solidFill>
                <a:latin typeface="Roboto Condensed" pitchFamily="34" charset="0"/>
                <a:ea typeface="Roboto Condensed" pitchFamily="34" charset="-122"/>
                <a:cs typeface="Roboto Condensed" pitchFamily="34" charset="-120"/>
              </a:rPr>
              <a:t>Åtgärder: organisationsutveckling, klarhet om mål, roller och normer.</a:t>
            </a:r>
            <a:endParaRPr lang="sv-SE"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2457907"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ABC-modellen</a:t>
            </a:r>
            <a:endParaRPr lang="sv-SE" sz="3000" dirty="0"/>
          </a:p>
        </p:txBody>
      </p:sp>
      <p:sp>
        <p:nvSpPr>
          <p:cNvPr id="4" name="Shape 1"/>
          <p:cNvSpPr/>
          <p:nvPr/>
        </p:nvSpPr>
        <p:spPr>
          <a:xfrm flipH="1">
            <a:off x="1783080" y="2514600"/>
            <a:ext cx="1417320" cy="2331720"/>
          </a:xfrm>
          <a:prstGeom prst="line">
            <a:avLst/>
          </a:prstGeom>
          <a:noFill/>
          <a:ln w="28575">
            <a:solidFill>
              <a:srgbClr val="1A1A1A"/>
            </a:solidFill>
            <a:prstDash val="solid"/>
          </a:ln>
        </p:spPr>
        <p:txBody>
          <a:bodyPr/>
          <a:lstStyle/>
          <a:p>
            <a:endParaRPr lang="sv-SE"/>
          </a:p>
        </p:txBody>
      </p:sp>
      <p:sp>
        <p:nvSpPr>
          <p:cNvPr id="5" name="Shape 2"/>
          <p:cNvSpPr/>
          <p:nvPr/>
        </p:nvSpPr>
        <p:spPr>
          <a:xfrm>
            <a:off x="4114800" y="2514600"/>
            <a:ext cx="1417320" cy="2331720"/>
          </a:xfrm>
          <a:prstGeom prst="line">
            <a:avLst/>
          </a:prstGeom>
          <a:noFill/>
          <a:ln w="28575">
            <a:solidFill>
              <a:srgbClr val="1A1A1A"/>
            </a:solidFill>
            <a:prstDash val="solid"/>
          </a:ln>
        </p:spPr>
        <p:txBody>
          <a:bodyPr/>
          <a:lstStyle/>
          <a:p>
            <a:endParaRPr lang="sv-SE"/>
          </a:p>
        </p:txBody>
      </p:sp>
      <p:sp>
        <p:nvSpPr>
          <p:cNvPr id="6" name="Shape 3"/>
          <p:cNvSpPr/>
          <p:nvPr/>
        </p:nvSpPr>
        <p:spPr>
          <a:xfrm>
            <a:off x="2788920" y="5285232"/>
            <a:ext cx="1737360" cy="0"/>
          </a:xfrm>
          <a:prstGeom prst="line">
            <a:avLst/>
          </a:prstGeom>
          <a:noFill/>
          <a:ln w="28575">
            <a:solidFill>
              <a:srgbClr val="1A1A1A"/>
            </a:solidFill>
            <a:prstDash val="solid"/>
          </a:ln>
        </p:spPr>
        <p:txBody>
          <a:bodyPr/>
          <a:lstStyle/>
          <a:p>
            <a:endParaRPr lang="sv-SE"/>
          </a:p>
        </p:txBody>
      </p:sp>
      <p:sp>
        <p:nvSpPr>
          <p:cNvPr id="7" name="Shape 4"/>
          <p:cNvSpPr/>
          <p:nvPr/>
        </p:nvSpPr>
        <p:spPr>
          <a:xfrm>
            <a:off x="2606040" y="1645920"/>
            <a:ext cx="2103120" cy="868680"/>
          </a:xfrm>
          <a:prstGeom prst="roundRect">
            <a:avLst>
              <a:gd name="adj" fmla="val 10526"/>
            </a:avLst>
          </a:prstGeom>
          <a:solidFill>
            <a:srgbClr val="D80811"/>
          </a:solidFill>
          <a:ln w="12700">
            <a:solidFill>
              <a:srgbClr val="D80811"/>
            </a:solidFill>
            <a:prstDash val="solid"/>
          </a:ln>
        </p:spPr>
        <p:txBody>
          <a:bodyPr/>
          <a:lstStyle/>
          <a:p>
            <a:endParaRPr lang="sv-SE"/>
          </a:p>
        </p:txBody>
      </p:sp>
      <p:sp>
        <p:nvSpPr>
          <p:cNvPr id="8" name="Text 5"/>
          <p:cNvSpPr txBox="1"/>
          <p:nvPr/>
        </p:nvSpPr>
        <p:spPr>
          <a:xfrm>
            <a:off x="2606040" y="1645920"/>
            <a:ext cx="2103120" cy="868680"/>
          </a:xfrm>
          <a:prstGeom prst="rect">
            <a:avLst/>
          </a:prstGeom>
          <a:noFill/>
          <a:ln/>
        </p:spPr>
        <p:txBody>
          <a:bodyPr wrap="square" lIns="0" tIns="0" rIns="0" bIns="0" rtlCol="0" anchor="ctr"/>
          <a:lstStyle/>
          <a:p>
            <a:pPr marL="0" indent="0" algn="ctr">
              <a:buNone/>
            </a:pPr>
            <a:r>
              <a:rPr lang="sv-SE" altLang="en-US" sz="2400" b="1" dirty="0">
                <a:solidFill>
                  <a:srgbClr val="FFFFFF"/>
                </a:solidFill>
                <a:latin typeface="Roboto Condensed" pitchFamily="34" charset="0"/>
                <a:ea typeface="Roboto Condensed" pitchFamily="34" charset="-122"/>
                <a:cs typeface="Roboto Condensed" pitchFamily="34" charset="-120"/>
              </a:rPr>
              <a:t>A</a:t>
            </a:r>
            <a:endParaRPr lang="sv-SE" sz="2400" dirty="0"/>
          </a:p>
          <a:p>
            <a:pPr marL="0" indent="0" algn="ctr">
              <a:buNone/>
            </a:pPr>
            <a:r>
              <a:rPr lang="sv-SE" altLang="en-US" sz="1600" b="1" dirty="0">
                <a:solidFill>
                  <a:srgbClr val="FFFFFF"/>
                </a:solidFill>
                <a:latin typeface="Roboto Condensed" pitchFamily="34" charset="0"/>
                <a:ea typeface="Roboto Condensed" pitchFamily="34" charset="-122"/>
                <a:cs typeface="Roboto Condensed" pitchFamily="34" charset="-120"/>
              </a:rPr>
              <a:t>Attityder</a:t>
            </a:r>
            <a:endParaRPr lang="sv-SE" sz="2400" dirty="0"/>
          </a:p>
        </p:txBody>
      </p:sp>
      <p:sp>
        <p:nvSpPr>
          <p:cNvPr id="9" name="Shape 6"/>
          <p:cNvSpPr/>
          <p:nvPr/>
        </p:nvSpPr>
        <p:spPr>
          <a:xfrm>
            <a:off x="731520" y="4846320"/>
            <a:ext cx="2103120" cy="868680"/>
          </a:xfrm>
          <a:prstGeom prst="roundRect">
            <a:avLst>
              <a:gd name="adj" fmla="val 10526"/>
            </a:avLst>
          </a:prstGeom>
          <a:solidFill>
            <a:srgbClr val="00797F"/>
          </a:solidFill>
          <a:ln w="12700">
            <a:solidFill>
              <a:srgbClr val="00797F"/>
            </a:solidFill>
            <a:prstDash val="solid"/>
          </a:ln>
        </p:spPr>
        <p:txBody>
          <a:bodyPr/>
          <a:lstStyle/>
          <a:p>
            <a:endParaRPr lang="sv-SE"/>
          </a:p>
        </p:txBody>
      </p:sp>
      <p:sp>
        <p:nvSpPr>
          <p:cNvPr id="10" name="Text 7"/>
          <p:cNvSpPr txBox="1"/>
          <p:nvPr/>
        </p:nvSpPr>
        <p:spPr>
          <a:xfrm>
            <a:off x="731520" y="4846320"/>
            <a:ext cx="2103120" cy="868680"/>
          </a:xfrm>
          <a:prstGeom prst="rect">
            <a:avLst/>
          </a:prstGeom>
          <a:noFill/>
          <a:ln/>
        </p:spPr>
        <p:txBody>
          <a:bodyPr wrap="square" lIns="0" tIns="0" rIns="0" bIns="0" rtlCol="0" anchor="ctr"/>
          <a:lstStyle/>
          <a:p>
            <a:pPr marL="0" indent="0" algn="ctr">
              <a:buNone/>
            </a:pPr>
            <a:r>
              <a:rPr lang="sv-SE" altLang="en-US" sz="2400" b="1" dirty="0">
                <a:solidFill>
                  <a:srgbClr val="FFFFFF"/>
                </a:solidFill>
                <a:latin typeface="Roboto Condensed" pitchFamily="34" charset="0"/>
                <a:ea typeface="Roboto Condensed" pitchFamily="34" charset="-122"/>
                <a:cs typeface="Roboto Condensed" pitchFamily="34" charset="-120"/>
              </a:rPr>
              <a:t>B</a:t>
            </a:r>
            <a:endParaRPr lang="sv-SE" sz="2400" dirty="0"/>
          </a:p>
          <a:p>
            <a:pPr marL="0" indent="0" algn="ctr">
              <a:buNone/>
            </a:pPr>
            <a:r>
              <a:rPr lang="sv-SE" altLang="en-US" sz="1600" b="1" dirty="0">
                <a:solidFill>
                  <a:srgbClr val="FFFFFF"/>
                </a:solidFill>
                <a:latin typeface="Roboto Condensed" pitchFamily="34" charset="0"/>
                <a:ea typeface="Roboto Condensed" pitchFamily="34" charset="-122"/>
                <a:cs typeface="Roboto Condensed" pitchFamily="34" charset="-120"/>
              </a:rPr>
              <a:t>Beteende</a:t>
            </a:r>
            <a:endParaRPr lang="sv-SE" sz="2400" dirty="0"/>
          </a:p>
        </p:txBody>
      </p:sp>
      <p:sp>
        <p:nvSpPr>
          <p:cNvPr id="11" name="Shape 8"/>
          <p:cNvSpPr/>
          <p:nvPr/>
        </p:nvSpPr>
        <p:spPr>
          <a:xfrm>
            <a:off x="4480560" y="4846320"/>
            <a:ext cx="2103120" cy="868680"/>
          </a:xfrm>
          <a:prstGeom prst="roundRect">
            <a:avLst>
              <a:gd name="adj" fmla="val 10526"/>
            </a:avLst>
          </a:prstGeom>
          <a:solidFill>
            <a:srgbClr val="A50D1E"/>
          </a:solidFill>
          <a:ln w="12700">
            <a:solidFill>
              <a:srgbClr val="A50D1E"/>
            </a:solidFill>
            <a:prstDash val="solid"/>
          </a:ln>
        </p:spPr>
        <p:txBody>
          <a:bodyPr/>
          <a:lstStyle/>
          <a:p>
            <a:endParaRPr lang="sv-SE"/>
          </a:p>
        </p:txBody>
      </p:sp>
      <p:sp>
        <p:nvSpPr>
          <p:cNvPr id="12" name="Text 9"/>
          <p:cNvSpPr txBox="1"/>
          <p:nvPr/>
        </p:nvSpPr>
        <p:spPr>
          <a:xfrm>
            <a:off x="4480560" y="4846320"/>
            <a:ext cx="2103120" cy="868680"/>
          </a:xfrm>
          <a:prstGeom prst="rect">
            <a:avLst/>
          </a:prstGeom>
          <a:noFill/>
          <a:ln/>
        </p:spPr>
        <p:txBody>
          <a:bodyPr wrap="square" lIns="0" tIns="0" rIns="0" bIns="0" rtlCol="0" anchor="ctr"/>
          <a:lstStyle/>
          <a:p>
            <a:pPr marL="0" indent="0" algn="ctr">
              <a:buNone/>
            </a:pPr>
            <a:r>
              <a:rPr lang="sv-SE" altLang="en-US" sz="2400" b="1" dirty="0">
                <a:solidFill>
                  <a:srgbClr val="FFFFFF"/>
                </a:solidFill>
                <a:latin typeface="Roboto Condensed" pitchFamily="34" charset="0"/>
                <a:ea typeface="Roboto Condensed" pitchFamily="34" charset="-122"/>
                <a:cs typeface="Roboto Condensed" pitchFamily="34" charset="-120"/>
              </a:rPr>
              <a:t>C</a:t>
            </a:r>
            <a:endParaRPr lang="sv-SE" sz="2400" dirty="0"/>
          </a:p>
          <a:p>
            <a:pPr marL="0" indent="0" algn="ctr">
              <a:buNone/>
            </a:pPr>
            <a:r>
              <a:rPr lang="sv-SE" altLang="en-US" sz="1600" b="1" dirty="0">
                <a:solidFill>
                  <a:srgbClr val="FFFFFF"/>
                </a:solidFill>
                <a:latin typeface="Roboto Condensed" pitchFamily="34" charset="0"/>
                <a:ea typeface="Roboto Condensed" pitchFamily="34" charset="-122"/>
                <a:cs typeface="Roboto Condensed" pitchFamily="34" charset="-120"/>
              </a:rPr>
              <a:t>Motsättning</a:t>
            </a:r>
            <a:endParaRPr lang="sv-SE" sz="2400" dirty="0"/>
          </a:p>
        </p:txBody>
      </p:sp>
      <p:sp>
        <p:nvSpPr>
          <p:cNvPr id="13" name="Text 10"/>
          <p:cNvSpPr txBox="1"/>
          <p:nvPr/>
        </p:nvSpPr>
        <p:spPr>
          <a:xfrm>
            <a:off x="7040880" y="1554480"/>
            <a:ext cx="4572000" cy="365760"/>
          </a:xfrm>
          <a:prstGeom prst="rect">
            <a:avLst/>
          </a:prstGeom>
          <a:noFill/>
          <a:ln/>
        </p:spPr>
        <p:txBody>
          <a:bodyPr wrap="square" lIns="0" tIns="0" rIns="0" bIns="0" rtlCol="0" anchor="t"/>
          <a:lstStyle/>
          <a:p>
            <a:pPr marL="0" indent="0">
              <a:buNone/>
            </a:pPr>
            <a:r>
              <a:rPr lang="sv-SE" altLang="en-US" sz="2200" b="1" dirty="0">
                <a:solidFill>
                  <a:srgbClr val="A50D1E"/>
                </a:solidFill>
                <a:latin typeface="Roboto Condensed" pitchFamily="34" charset="0"/>
                <a:ea typeface="Roboto Condensed" pitchFamily="34" charset="-122"/>
                <a:cs typeface="Roboto Condensed" pitchFamily="34" charset="-120"/>
              </a:rPr>
              <a:t>A: Attityder</a:t>
            </a:r>
            <a:endParaRPr lang="sv-SE" sz="2200" dirty="0"/>
          </a:p>
        </p:txBody>
      </p:sp>
      <p:sp>
        <p:nvSpPr>
          <p:cNvPr id="14" name="Text 11"/>
          <p:cNvSpPr txBox="1"/>
          <p:nvPr/>
        </p:nvSpPr>
        <p:spPr>
          <a:xfrm>
            <a:off x="7040880" y="1965960"/>
            <a:ext cx="4599432" cy="10972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Det som pågår inom parterna: vad de tänker, känner och vill. I allvarliga konflikter blir berättelsen om den andre en fiendebild.</a:t>
            </a:r>
            <a:endParaRPr lang="sv-SE" sz="1650" dirty="0"/>
          </a:p>
        </p:txBody>
      </p:sp>
      <p:sp>
        <p:nvSpPr>
          <p:cNvPr id="15" name="Text 12"/>
          <p:cNvSpPr txBox="1"/>
          <p:nvPr/>
        </p:nvSpPr>
        <p:spPr>
          <a:xfrm>
            <a:off x="7040880" y="3017520"/>
            <a:ext cx="4572000" cy="365760"/>
          </a:xfrm>
          <a:prstGeom prst="rect">
            <a:avLst/>
          </a:prstGeom>
          <a:noFill/>
          <a:ln/>
        </p:spPr>
        <p:txBody>
          <a:bodyPr wrap="square" lIns="0" tIns="0" rIns="0" bIns="0" rtlCol="0" anchor="t"/>
          <a:lstStyle/>
          <a:p>
            <a:pPr marL="0" indent="0">
              <a:buNone/>
            </a:pPr>
            <a:r>
              <a:rPr lang="sv-SE" altLang="en-US" sz="2200" b="1" dirty="0">
                <a:solidFill>
                  <a:srgbClr val="005A5F"/>
                </a:solidFill>
                <a:latin typeface="Roboto Condensed" pitchFamily="34" charset="0"/>
                <a:ea typeface="Roboto Condensed" pitchFamily="34" charset="-122"/>
                <a:cs typeface="Roboto Condensed" pitchFamily="34" charset="-120"/>
              </a:rPr>
              <a:t>B: Beteende</a:t>
            </a:r>
            <a:endParaRPr lang="sv-SE" sz="2200" dirty="0"/>
          </a:p>
        </p:txBody>
      </p:sp>
      <p:sp>
        <p:nvSpPr>
          <p:cNvPr id="16" name="Text 13"/>
          <p:cNvSpPr txBox="1"/>
          <p:nvPr/>
        </p:nvSpPr>
        <p:spPr>
          <a:xfrm>
            <a:off x="7040880" y="3429000"/>
            <a:ext cx="4599432" cy="10972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Hur parterna agerar: ord, kroppsspråk, handlingar.</a:t>
            </a:r>
            <a:endParaRPr lang="sv-SE" sz="1650" dirty="0"/>
          </a:p>
        </p:txBody>
      </p:sp>
      <p:sp>
        <p:nvSpPr>
          <p:cNvPr id="17" name="Text 14"/>
          <p:cNvSpPr txBox="1"/>
          <p:nvPr/>
        </p:nvSpPr>
        <p:spPr>
          <a:xfrm>
            <a:off x="7040880" y="4160520"/>
            <a:ext cx="4572000" cy="365760"/>
          </a:xfrm>
          <a:prstGeom prst="rect">
            <a:avLst/>
          </a:prstGeom>
          <a:noFill/>
          <a:ln/>
        </p:spPr>
        <p:txBody>
          <a:bodyPr wrap="square" lIns="0" tIns="0" rIns="0" bIns="0" rtlCol="0" anchor="t"/>
          <a:lstStyle/>
          <a:p>
            <a:pPr marL="0" indent="0">
              <a:buNone/>
            </a:pPr>
            <a:r>
              <a:rPr lang="sv-SE" altLang="en-US" sz="2200" b="1" dirty="0">
                <a:solidFill>
                  <a:srgbClr val="7A0A16"/>
                </a:solidFill>
                <a:latin typeface="Roboto Condensed" pitchFamily="34" charset="0"/>
                <a:ea typeface="Roboto Condensed" pitchFamily="34" charset="-122"/>
                <a:cs typeface="Roboto Condensed" pitchFamily="34" charset="-120"/>
              </a:rPr>
              <a:t>C: Motsättning</a:t>
            </a:r>
            <a:endParaRPr lang="sv-SE" sz="2200" dirty="0"/>
          </a:p>
        </p:txBody>
      </p:sp>
      <p:sp>
        <p:nvSpPr>
          <p:cNvPr id="18" name="Text 15"/>
          <p:cNvSpPr txBox="1"/>
          <p:nvPr/>
        </p:nvSpPr>
        <p:spPr>
          <a:xfrm>
            <a:off x="7040880" y="4572000"/>
            <a:ext cx="4599432" cy="10972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Sakfrågorna: de blockerade önskemålen. Fördelning (går att dela), position (bara en kan få) eller ordning (vilka regler som ska gälla).</a:t>
            </a:r>
            <a:endParaRPr lang="sv-SE" sz="1650" dirty="0"/>
          </a:p>
        </p:txBody>
      </p:sp>
      <p:sp>
        <p:nvSpPr>
          <p:cNvPr id="19" name="Shape 16"/>
          <p:cNvSpPr/>
          <p:nvPr/>
        </p:nvSpPr>
        <p:spPr>
          <a:xfrm>
            <a:off x="7040880" y="5532120"/>
            <a:ext cx="4599432" cy="685800"/>
          </a:xfrm>
          <a:prstGeom prst="roundRect">
            <a:avLst>
              <a:gd name="adj" fmla="val 13333"/>
            </a:avLst>
          </a:prstGeom>
          <a:solidFill>
            <a:srgbClr val="F2F0EF"/>
          </a:solidFill>
          <a:ln w="12700">
            <a:solidFill>
              <a:srgbClr val="F2F0EF"/>
            </a:solidFill>
            <a:prstDash val="solid"/>
          </a:ln>
        </p:spPr>
        <p:txBody>
          <a:bodyPr/>
          <a:lstStyle/>
          <a:p>
            <a:endParaRPr lang="sv-SE"/>
          </a:p>
        </p:txBody>
      </p:sp>
      <p:sp>
        <p:nvSpPr>
          <p:cNvPr id="20" name="Text 17"/>
          <p:cNvSpPr txBox="1"/>
          <p:nvPr/>
        </p:nvSpPr>
        <p:spPr>
          <a:xfrm>
            <a:off x="7223760" y="5532120"/>
            <a:ext cx="4251960" cy="685800"/>
          </a:xfrm>
          <a:prstGeom prst="rect">
            <a:avLst/>
          </a:prstGeom>
          <a:noFill/>
          <a:ln/>
        </p:spPr>
        <p:txBody>
          <a:bodyPr wrap="square" lIns="0" tIns="0" rIns="0" bIns="0" rtlCol="0" anchor="ctr"/>
          <a:lstStyle/>
          <a:p>
            <a:pPr marL="0" indent="0">
              <a:buNone/>
            </a:pPr>
            <a:r>
              <a:rPr lang="sv-SE" altLang="en-US" sz="1700" b="1" dirty="0">
                <a:solidFill>
                  <a:srgbClr val="1A1A1A"/>
                </a:solidFill>
                <a:latin typeface="Georgia" pitchFamily="34" charset="0"/>
                <a:ea typeface="Georgia" pitchFamily="34" charset="-122"/>
                <a:cs typeface="Georgia" pitchFamily="34" charset="-120"/>
              </a:rPr>
              <a:t>Fråga inför varje konflikt: </a:t>
            </a:r>
            <a:r>
              <a:rPr lang="sv-SE" altLang="en-US" sz="1700" dirty="0">
                <a:solidFill>
                  <a:srgbClr val="1A1A1A"/>
                </a:solidFill>
                <a:latin typeface="Georgia" pitchFamily="34" charset="0"/>
                <a:ea typeface="Georgia" pitchFamily="34" charset="-122"/>
                <a:cs typeface="Georgia" pitchFamily="34" charset="-120"/>
              </a:rPr>
              <a:t>var ligger tyngdpunkten?</a:t>
            </a:r>
            <a:endParaRPr lang="sv-SE" sz="1700" dirty="0"/>
          </a:p>
        </p:txBody>
      </p:sp>
      <p:sp>
        <p:nvSpPr>
          <p:cNvPr id="21" name="Text 18"/>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Johan Galtung, 1960-talet. Indelningen av A- och C-hörnet efter Jordan (2006).</a:t>
            </a:r>
            <a:endParaRPr lang="sv-SE"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FALLEXEMPEL</a:t>
            </a:r>
            <a:endParaRPr lang="sv-SE" sz="1400" dirty="0"/>
          </a:p>
        </p:txBody>
      </p:sp>
      <p:sp>
        <p:nvSpPr>
          <p:cNvPr id="4" name="Text 1"/>
          <p:cNvSpPr txBox="1"/>
          <p:nvPr/>
        </p:nvSpPr>
        <p:spPr>
          <a:xfrm rot="21480000">
            <a:off x="548640" y="502920"/>
            <a:ext cx="3094330" cy="713232"/>
          </a:xfrm>
          <a:prstGeom prst="rect">
            <a:avLst/>
          </a:prstGeom>
          <a:solidFill>
            <a:srgbClr val="00797F"/>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Lasse och Ulrika</a:t>
            </a:r>
            <a:endParaRPr lang="sv-SE" sz="3000" dirty="0"/>
          </a:p>
        </p:txBody>
      </p:sp>
      <p:sp>
        <p:nvSpPr>
          <p:cNvPr id="5" name="Text 2"/>
          <p:cNvSpPr txBox="1"/>
          <p:nvPr/>
        </p:nvSpPr>
        <p:spPr>
          <a:xfrm>
            <a:off x="548640" y="1481328"/>
            <a:ext cx="1463040" cy="411480"/>
          </a:xfrm>
          <a:prstGeom prst="rect">
            <a:avLst/>
          </a:prstGeom>
          <a:noFill/>
          <a:ln/>
        </p:spPr>
        <p:txBody>
          <a:bodyPr wrap="square" lIns="0" tIns="0" rIns="0" bIns="0" rtlCol="0" anchor="ctr"/>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SAMMA FAKTA</a:t>
            </a:r>
            <a:endParaRPr lang="sv-SE" sz="1400" dirty="0"/>
          </a:p>
        </p:txBody>
      </p:sp>
      <p:sp>
        <p:nvSpPr>
          <p:cNvPr id="6" name="Shape 3"/>
          <p:cNvSpPr/>
          <p:nvPr/>
        </p:nvSpPr>
        <p:spPr>
          <a:xfrm>
            <a:off x="2057400" y="1481328"/>
            <a:ext cx="2018995" cy="411480"/>
          </a:xfrm>
          <a:prstGeom prst="roundRect">
            <a:avLst>
              <a:gd name="adj" fmla="val 22222"/>
            </a:avLst>
          </a:prstGeom>
          <a:solidFill>
            <a:srgbClr val="F2F0EF"/>
          </a:solidFill>
          <a:ln w="12700">
            <a:solidFill>
              <a:srgbClr val="F2F0EF"/>
            </a:solidFill>
            <a:prstDash val="solid"/>
          </a:ln>
        </p:spPr>
        <p:txBody>
          <a:bodyPr/>
          <a:lstStyle/>
          <a:p>
            <a:endParaRPr lang="sv-SE"/>
          </a:p>
        </p:txBody>
      </p:sp>
      <p:sp>
        <p:nvSpPr>
          <p:cNvPr id="7" name="Text 4"/>
          <p:cNvSpPr txBox="1"/>
          <p:nvPr/>
        </p:nvSpPr>
        <p:spPr>
          <a:xfrm>
            <a:off x="2057400" y="1481328"/>
            <a:ext cx="2018995" cy="411480"/>
          </a:xfrm>
          <a:prstGeom prst="rect">
            <a:avLst/>
          </a:prstGeom>
          <a:noFill/>
          <a:ln/>
        </p:spPr>
        <p:txBody>
          <a:bodyPr wrap="square" lIns="0" tIns="0" rIns="0" bIns="0" rtlCol="0" anchor="ctr"/>
          <a:lstStyle/>
          <a:p>
            <a:pPr marL="0" indent="0" algn="ctr">
              <a:buNone/>
            </a:pPr>
            <a:r>
              <a:rPr lang="sv-SE" altLang="en-US" sz="1650" dirty="0">
                <a:solidFill>
                  <a:srgbClr val="1A1A1A"/>
                </a:solidFill>
                <a:latin typeface="Roboto Condensed" pitchFamily="34" charset="0"/>
                <a:ea typeface="Roboto Condensed" pitchFamily="34" charset="-122"/>
                <a:cs typeface="Roboto Condensed" pitchFamily="34" charset="-120"/>
              </a:rPr>
              <a:t>Sena ankomster</a:t>
            </a:r>
            <a:endParaRPr lang="sv-SE" sz="1650" dirty="0"/>
          </a:p>
        </p:txBody>
      </p:sp>
      <p:sp>
        <p:nvSpPr>
          <p:cNvPr id="8" name="Shape 5"/>
          <p:cNvSpPr/>
          <p:nvPr/>
        </p:nvSpPr>
        <p:spPr>
          <a:xfrm>
            <a:off x="4213555" y="1481328"/>
            <a:ext cx="2799893" cy="411480"/>
          </a:xfrm>
          <a:prstGeom prst="roundRect">
            <a:avLst>
              <a:gd name="adj" fmla="val 22222"/>
            </a:avLst>
          </a:prstGeom>
          <a:solidFill>
            <a:srgbClr val="F2F0EF"/>
          </a:solidFill>
          <a:ln w="12700">
            <a:solidFill>
              <a:srgbClr val="F2F0EF"/>
            </a:solidFill>
            <a:prstDash val="solid"/>
          </a:ln>
        </p:spPr>
        <p:txBody>
          <a:bodyPr/>
          <a:lstStyle/>
          <a:p>
            <a:endParaRPr lang="sv-SE"/>
          </a:p>
        </p:txBody>
      </p:sp>
      <p:sp>
        <p:nvSpPr>
          <p:cNvPr id="9" name="Text 6"/>
          <p:cNvSpPr txBox="1"/>
          <p:nvPr/>
        </p:nvSpPr>
        <p:spPr>
          <a:xfrm>
            <a:off x="4213555" y="1481328"/>
            <a:ext cx="2799893" cy="411480"/>
          </a:xfrm>
          <a:prstGeom prst="rect">
            <a:avLst/>
          </a:prstGeom>
          <a:noFill/>
          <a:ln/>
        </p:spPr>
        <p:txBody>
          <a:bodyPr wrap="square" lIns="0" tIns="0" rIns="0" bIns="0" rtlCol="0" anchor="ctr"/>
          <a:lstStyle/>
          <a:p>
            <a:pPr marL="0" indent="0" algn="ctr">
              <a:buNone/>
            </a:pPr>
            <a:r>
              <a:rPr lang="sv-SE" altLang="en-US" sz="1650" dirty="0">
                <a:solidFill>
                  <a:srgbClr val="1A1A1A"/>
                </a:solidFill>
                <a:latin typeface="Roboto Condensed" pitchFamily="34" charset="0"/>
                <a:ea typeface="Roboto Condensed" pitchFamily="34" charset="-122"/>
                <a:cs typeface="Roboto Condensed" pitchFamily="34" charset="-120"/>
              </a:rPr>
              <a:t>Privata telefonsamtal</a:t>
            </a:r>
            <a:endParaRPr lang="sv-SE" sz="1650" dirty="0"/>
          </a:p>
        </p:txBody>
      </p:sp>
      <p:sp>
        <p:nvSpPr>
          <p:cNvPr id="10" name="Shape 7"/>
          <p:cNvSpPr/>
          <p:nvPr/>
        </p:nvSpPr>
        <p:spPr>
          <a:xfrm>
            <a:off x="7150608" y="1481328"/>
            <a:ext cx="4027018" cy="411480"/>
          </a:xfrm>
          <a:prstGeom prst="roundRect">
            <a:avLst>
              <a:gd name="adj" fmla="val 22222"/>
            </a:avLst>
          </a:prstGeom>
          <a:solidFill>
            <a:srgbClr val="F2F0EF"/>
          </a:solidFill>
          <a:ln w="12700">
            <a:solidFill>
              <a:srgbClr val="F2F0EF"/>
            </a:solidFill>
            <a:prstDash val="solid"/>
          </a:ln>
        </p:spPr>
        <p:txBody>
          <a:bodyPr/>
          <a:lstStyle/>
          <a:p>
            <a:endParaRPr lang="sv-SE"/>
          </a:p>
        </p:txBody>
      </p:sp>
      <p:sp>
        <p:nvSpPr>
          <p:cNvPr id="11" name="Text 8"/>
          <p:cNvSpPr txBox="1"/>
          <p:nvPr/>
        </p:nvSpPr>
        <p:spPr>
          <a:xfrm>
            <a:off x="7150608" y="1481328"/>
            <a:ext cx="4027018" cy="411480"/>
          </a:xfrm>
          <a:prstGeom prst="rect">
            <a:avLst/>
          </a:prstGeom>
          <a:noFill/>
          <a:ln/>
        </p:spPr>
        <p:txBody>
          <a:bodyPr wrap="square" lIns="0" tIns="0" rIns="0" bIns="0" rtlCol="0" anchor="ctr"/>
          <a:lstStyle/>
          <a:p>
            <a:pPr marL="0" indent="0" algn="ctr">
              <a:buNone/>
            </a:pPr>
            <a:r>
              <a:rPr lang="sv-SE" altLang="en-US" sz="1650" dirty="0">
                <a:solidFill>
                  <a:srgbClr val="1A1A1A"/>
                </a:solidFill>
                <a:latin typeface="Roboto Condensed" pitchFamily="34" charset="0"/>
                <a:ea typeface="Roboto Condensed" pitchFamily="34" charset="-122"/>
                <a:cs typeface="Roboto Condensed" pitchFamily="34" charset="-120"/>
              </a:rPr>
              <a:t>Låg aktivitet på planeringsdagar</a:t>
            </a:r>
            <a:endParaRPr lang="sv-SE" sz="1650" dirty="0"/>
          </a:p>
        </p:txBody>
      </p:sp>
      <p:sp>
        <p:nvSpPr>
          <p:cNvPr id="12" name="Shape 9"/>
          <p:cNvSpPr/>
          <p:nvPr/>
        </p:nvSpPr>
        <p:spPr>
          <a:xfrm>
            <a:off x="548640" y="2148840"/>
            <a:ext cx="5387188" cy="3017520"/>
          </a:xfrm>
          <a:prstGeom prst="roundRect">
            <a:avLst>
              <a:gd name="adj" fmla="val 3030"/>
            </a:avLst>
          </a:prstGeom>
          <a:solidFill>
            <a:srgbClr val="E6F5F6"/>
          </a:solidFill>
          <a:ln w="12700">
            <a:solidFill>
              <a:srgbClr val="E6F5F6"/>
            </a:solidFill>
            <a:prstDash val="solid"/>
          </a:ln>
        </p:spPr>
        <p:txBody>
          <a:bodyPr/>
          <a:lstStyle/>
          <a:p>
            <a:endParaRPr lang="sv-SE"/>
          </a:p>
        </p:txBody>
      </p:sp>
      <p:sp>
        <p:nvSpPr>
          <p:cNvPr id="13" name="Shape 10"/>
          <p:cNvSpPr/>
          <p:nvPr/>
        </p:nvSpPr>
        <p:spPr>
          <a:xfrm>
            <a:off x="6255868" y="2148840"/>
            <a:ext cx="5387188" cy="3017520"/>
          </a:xfrm>
          <a:prstGeom prst="roundRect">
            <a:avLst>
              <a:gd name="adj" fmla="val 3030"/>
            </a:avLst>
          </a:prstGeom>
          <a:solidFill>
            <a:srgbClr val="FFEBC2"/>
          </a:solidFill>
          <a:ln w="12700">
            <a:solidFill>
              <a:srgbClr val="FFEBC2"/>
            </a:solidFill>
            <a:prstDash val="solid"/>
          </a:ln>
        </p:spPr>
        <p:txBody>
          <a:bodyPr/>
          <a:lstStyle/>
          <a:p>
            <a:endParaRPr lang="sv-SE"/>
          </a:p>
        </p:txBody>
      </p:sp>
      <p:sp>
        <p:nvSpPr>
          <p:cNvPr id="14" name="Text 11"/>
          <p:cNvSpPr txBox="1"/>
          <p:nvPr/>
        </p:nvSpPr>
        <p:spPr>
          <a:xfrm>
            <a:off x="868680" y="2423160"/>
            <a:ext cx="474710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Lasses berättelse</a:t>
            </a:r>
            <a:endParaRPr lang="sv-SE" sz="2400" dirty="0"/>
          </a:p>
        </p:txBody>
      </p:sp>
      <p:sp>
        <p:nvSpPr>
          <p:cNvPr id="15" name="Text 12"/>
          <p:cNvSpPr txBox="1"/>
          <p:nvPr/>
        </p:nvSpPr>
        <p:spPr>
          <a:xfrm>
            <a:off x="868680" y="2971800"/>
            <a:ext cx="4747108" cy="2011680"/>
          </a:xfrm>
          <a:prstGeom prst="rect">
            <a:avLst/>
          </a:prstGeom>
          <a:noFill/>
          <a:ln/>
        </p:spPr>
        <p:txBody>
          <a:bodyPr wrap="square" lIns="0" tIns="0" rIns="0" bIns="0" rtlCol="0" anchor="t"/>
          <a:lstStyle/>
          <a:p>
            <a:pPr marL="0" indent="0">
              <a:buNone/>
            </a:pPr>
            <a:r>
              <a:rPr lang="sv-SE" altLang="en-US" sz="2000" dirty="0">
                <a:solidFill>
                  <a:srgbClr val="1A1A1A"/>
                </a:solidFill>
                <a:latin typeface="Georgia" pitchFamily="34" charset="0"/>
                <a:ea typeface="Georgia" pitchFamily="34" charset="-122"/>
                <a:cs typeface="Georgia" pitchFamily="34" charset="-120"/>
              </a:rPr>
              <a:t>Enhetschef i socialförvaltningen, 45. Driver ett spännande utvecklingsprojekt med en ny arbetsmodell, för bättre service till medborgarna. Ser bristande engagemang som ett hot mot visionen.</a:t>
            </a:r>
            <a:endParaRPr lang="sv-SE" sz="2000" dirty="0"/>
          </a:p>
        </p:txBody>
      </p:sp>
      <p:sp>
        <p:nvSpPr>
          <p:cNvPr id="16" name="Text 13"/>
          <p:cNvSpPr txBox="1"/>
          <p:nvPr/>
        </p:nvSpPr>
        <p:spPr>
          <a:xfrm>
            <a:off x="6575908" y="2423160"/>
            <a:ext cx="474710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Ulrikas berättelse</a:t>
            </a:r>
            <a:endParaRPr lang="sv-SE" sz="2400" dirty="0"/>
          </a:p>
        </p:txBody>
      </p:sp>
      <p:sp>
        <p:nvSpPr>
          <p:cNvPr id="17" name="Text 14"/>
          <p:cNvSpPr txBox="1"/>
          <p:nvPr/>
        </p:nvSpPr>
        <p:spPr>
          <a:xfrm>
            <a:off x="6575908" y="2971800"/>
            <a:ext cx="4747108" cy="2011680"/>
          </a:xfrm>
          <a:prstGeom prst="rect">
            <a:avLst/>
          </a:prstGeom>
          <a:noFill/>
          <a:ln/>
        </p:spPr>
        <p:txBody>
          <a:bodyPr wrap="square" lIns="0" tIns="0" rIns="0" bIns="0" rtlCol="0" anchor="t"/>
          <a:lstStyle/>
          <a:p>
            <a:pPr marL="0" indent="0">
              <a:buNone/>
            </a:pPr>
            <a:r>
              <a:rPr lang="sv-SE" altLang="en-US" sz="2000" dirty="0">
                <a:solidFill>
                  <a:srgbClr val="1A1A1A"/>
                </a:solidFill>
                <a:latin typeface="Georgia" pitchFamily="34" charset="0"/>
                <a:ea typeface="Georgia" pitchFamily="34" charset="-122"/>
                <a:cs typeface="Georgia" pitchFamily="34" charset="-120"/>
              </a:rPr>
              <a:t>Medarbetare, 38, trebarnsmamma mitt i en jobbig skilsmässa med ekonomiska problem. Kämpar för att barnen inte ska komma i kläm och för att klara arbetsdagen. Ser en okänslig chef som hackar på petitesser.</a:t>
            </a:r>
            <a:endParaRPr lang="sv-SE" sz="2000" dirty="0"/>
          </a:p>
        </p:txBody>
      </p:sp>
      <p:sp>
        <p:nvSpPr>
          <p:cNvPr id="18" name="Text 15"/>
          <p:cNvSpPr txBox="1"/>
          <p:nvPr/>
        </p:nvSpPr>
        <p:spPr>
          <a:xfrm>
            <a:off x="548640" y="5440680"/>
            <a:ext cx="11094415" cy="548640"/>
          </a:xfrm>
          <a:prstGeom prst="rect">
            <a:avLst/>
          </a:prstGeom>
          <a:noFill/>
          <a:ln/>
        </p:spPr>
        <p:txBody>
          <a:bodyPr wrap="square" lIns="0" tIns="0" rIns="0" bIns="0" rtlCol="0" anchor="t"/>
          <a:lstStyle/>
          <a:p>
            <a:pPr marL="0" indent="0">
              <a:buNone/>
            </a:pPr>
            <a:r>
              <a:rPr lang="sv-SE" altLang="en-US" sz="2600" b="1" dirty="0">
                <a:solidFill>
                  <a:srgbClr val="A50D1E"/>
                </a:solidFill>
                <a:latin typeface="Roboto Condensed" pitchFamily="34" charset="0"/>
                <a:ea typeface="Roboto Condensed" pitchFamily="34" charset="-122"/>
                <a:cs typeface="Roboto Condensed" pitchFamily="34" charset="-120"/>
              </a:rPr>
              <a:t>Vilket hörn i triangeln behöver de börja i?</a:t>
            </a:r>
            <a:endParaRPr lang="sv-SE"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VAD FORSKNINGEN LÄGGER TILL</a:t>
            </a:r>
            <a:endParaRPr lang="sv-SE" sz="1400" dirty="0"/>
          </a:p>
        </p:txBody>
      </p:sp>
      <p:sp>
        <p:nvSpPr>
          <p:cNvPr id="4" name="Text 1"/>
          <p:cNvSpPr txBox="1"/>
          <p:nvPr/>
        </p:nvSpPr>
        <p:spPr>
          <a:xfrm rot="21480000">
            <a:off x="548640" y="502920"/>
            <a:ext cx="3571646"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Fyra slags konflikt</a:t>
            </a:r>
            <a:endParaRPr lang="sv-SE" sz="3000" dirty="0"/>
          </a:p>
        </p:txBody>
      </p:sp>
      <p:sp>
        <p:nvSpPr>
          <p:cNvPr id="5" name="Shape 2"/>
          <p:cNvSpPr/>
          <p:nvPr/>
        </p:nvSpPr>
        <p:spPr>
          <a:xfrm>
            <a:off x="548640" y="1600200"/>
            <a:ext cx="2602154" cy="338328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777240" y="1783080"/>
            <a:ext cx="2144954" cy="411480"/>
          </a:xfrm>
          <a:prstGeom prst="rect">
            <a:avLst/>
          </a:prstGeom>
          <a:noFill/>
          <a:ln/>
        </p:spPr>
        <p:txBody>
          <a:bodyPr wrap="square" lIns="0" tIns="0" rIns="0" bIns="0" rtlCol="0" anchor="t"/>
          <a:lstStyle/>
          <a:p>
            <a:pPr marL="0" indent="0">
              <a:buNone/>
            </a:pPr>
            <a:r>
              <a:rPr lang="sv-SE" altLang="en-US" sz="2300" b="1" dirty="0">
                <a:solidFill>
                  <a:srgbClr val="005A5F"/>
                </a:solidFill>
                <a:latin typeface="Roboto Condensed" pitchFamily="34" charset="0"/>
                <a:ea typeface="Roboto Condensed" pitchFamily="34" charset="-122"/>
                <a:cs typeface="Roboto Condensed" pitchFamily="34" charset="-120"/>
              </a:rPr>
              <a:t>Sakkonflikt</a:t>
            </a:r>
            <a:endParaRPr lang="sv-SE" sz="2300" dirty="0"/>
          </a:p>
        </p:txBody>
      </p:sp>
      <p:sp>
        <p:nvSpPr>
          <p:cNvPr id="7" name="Text 4"/>
          <p:cNvSpPr txBox="1"/>
          <p:nvPr/>
        </p:nvSpPr>
        <p:spPr>
          <a:xfrm>
            <a:off x="777240" y="2212848"/>
            <a:ext cx="2144954" cy="365760"/>
          </a:xfrm>
          <a:prstGeom prst="rect">
            <a:avLst/>
          </a:prstGeom>
          <a:noFill/>
          <a:ln/>
        </p:spPr>
        <p:txBody>
          <a:bodyPr wrap="square" lIns="0" tIns="0" rIns="0" bIns="0" rtlCol="0" anchor="t"/>
          <a:lstStyle/>
          <a:p>
            <a:pPr marL="0" indent="0">
              <a:buNone/>
            </a:pPr>
            <a:r>
              <a:rPr lang="sv-SE" altLang="en-US" sz="1600" i="1" dirty="0">
                <a:solidFill>
                  <a:srgbClr val="4A4A4A"/>
                </a:solidFill>
                <a:latin typeface="Georgia" pitchFamily="34" charset="0"/>
                <a:ea typeface="Georgia" pitchFamily="34" charset="-122"/>
                <a:cs typeface="Georgia" pitchFamily="34" charset="-120"/>
              </a:rPr>
              <a:t>»Vad ska vi göra?«</a:t>
            </a:r>
            <a:endParaRPr lang="sv-SE" sz="1600" dirty="0"/>
          </a:p>
        </p:txBody>
      </p:sp>
      <p:sp>
        <p:nvSpPr>
          <p:cNvPr id="8" name="Text 5"/>
          <p:cNvSpPr txBox="1"/>
          <p:nvPr/>
        </p:nvSpPr>
        <p:spPr>
          <a:xfrm>
            <a:off x="777240" y="2651760"/>
            <a:ext cx="2144954" cy="822960"/>
          </a:xfrm>
          <a:prstGeom prst="rect">
            <a:avLst/>
          </a:prstGeom>
          <a:noFill/>
          <a:ln/>
        </p:spPr>
        <p:txBody>
          <a:bodyPr wrap="square" lIns="0" tIns="0" rIns="0" bIns="0" rtlCol="0" anchor="ctr"/>
          <a:lstStyle/>
          <a:p>
            <a:pPr marL="0" indent="0">
              <a:buNone/>
            </a:pPr>
            <a:r>
              <a:rPr lang="sv-SE" altLang="en-US" sz="5400" b="1" dirty="0">
                <a:solidFill>
                  <a:srgbClr val="005A5F"/>
                </a:solidFill>
                <a:latin typeface="Roboto Condensed" pitchFamily="34" charset="0"/>
                <a:ea typeface="Roboto Condensed" pitchFamily="34" charset="-122"/>
                <a:cs typeface="Roboto Condensed" pitchFamily="34" charset="-120"/>
              </a:rPr>
              <a:t>−0,09</a:t>
            </a:r>
            <a:endParaRPr lang="sv-SE" sz="5400" dirty="0"/>
          </a:p>
        </p:txBody>
      </p:sp>
      <p:sp>
        <p:nvSpPr>
          <p:cNvPr id="9" name="Text 6"/>
          <p:cNvSpPr txBox="1"/>
          <p:nvPr/>
        </p:nvSpPr>
        <p:spPr>
          <a:xfrm>
            <a:off x="777240" y="3520440"/>
            <a:ext cx="2144954" cy="256032"/>
          </a:xfrm>
          <a:prstGeom prst="rect">
            <a:avLst/>
          </a:prstGeom>
          <a:noFill/>
          <a:ln/>
        </p:spPr>
        <p:txBody>
          <a:bodyPr wrap="square" lIns="0" tIns="0" rIns="0" bIns="0" rtlCol="0" anchor="t"/>
          <a:lstStyle/>
          <a:p>
            <a:pPr marL="0" indent="0">
              <a:buNone/>
            </a:pPr>
            <a:r>
              <a:rPr lang="sv-SE" altLang="en-US" sz="1200" b="1" kern="0" spc="100" dirty="0">
                <a:solidFill>
                  <a:srgbClr val="4A4A4A"/>
                </a:solidFill>
                <a:latin typeface="Roboto Condensed" pitchFamily="34" charset="0"/>
                <a:ea typeface="Roboto Condensed" pitchFamily="34" charset="-122"/>
                <a:cs typeface="Roboto Condensed" pitchFamily="34" charset="-120"/>
              </a:rPr>
              <a:t>SAMBAND MED PRESTATION</a:t>
            </a:r>
            <a:endParaRPr lang="sv-SE" sz="1200" dirty="0"/>
          </a:p>
        </p:txBody>
      </p:sp>
      <p:sp>
        <p:nvSpPr>
          <p:cNvPr id="10" name="Text 7"/>
          <p:cNvSpPr txBox="1"/>
          <p:nvPr/>
        </p:nvSpPr>
        <p:spPr>
          <a:xfrm>
            <a:off x="777240" y="3886200"/>
            <a:ext cx="2144954" cy="100584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Oenighet om idéer och lösningar. Närmast det Jordan kallar tvist.</a:t>
            </a:r>
            <a:endParaRPr lang="sv-SE" sz="1550" dirty="0"/>
          </a:p>
        </p:txBody>
      </p:sp>
      <p:sp>
        <p:nvSpPr>
          <p:cNvPr id="11" name="Shape 8"/>
          <p:cNvSpPr/>
          <p:nvPr/>
        </p:nvSpPr>
        <p:spPr>
          <a:xfrm>
            <a:off x="3379394" y="1600200"/>
            <a:ext cx="2602154" cy="338328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12" name="Text 9"/>
          <p:cNvSpPr txBox="1"/>
          <p:nvPr/>
        </p:nvSpPr>
        <p:spPr>
          <a:xfrm>
            <a:off x="3607994" y="1783080"/>
            <a:ext cx="2144954" cy="411480"/>
          </a:xfrm>
          <a:prstGeom prst="rect">
            <a:avLst/>
          </a:prstGeom>
          <a:noFill/>
          <a:ln/>
        </p:spPr>
        <p:txBody>
          <a:bodyPr wrap="square" lIns="0" tIns="0" rIns="0" bIns="0" rtlCol="0" anchor="t"/>
          <a:lstStyle/>
          <a:p>
            <a:pPr marL="0" indent="0">
              <a:buNone/>
            </a:pPr>
            <a:r>
              <a:rPr lang="sv-SE" altLang="en-US" sz="2300" b="1" dirty="0">
                <a:solidFill>
                  <a:srgbClr val="A50D1E"/>
                </a:solidFill>
                <a:latin typeface="Roboto Condensed" pitchFamily="34" charset="0"/>
                <a:ea typeface="Roboto Condensed" pitchFamily="34" charset="-122"/>
                <a:cs typeface="Roboto Condensed" pitchFamily="34" charset="-120"/>
              </a:rPr>
              <a:t>Relationskonflikt</a:t>
            </a:r>
            <a:endParaRPr lang="sv-SE" sz="2300" dirty="0"/>
          </a:p>
        </p:txBody>
      </p:sp>
      <p:sp>
        <p:nvSpPr>
          <p:cNvPr id="13" name="Text 10"/>
          <p:cNvSpPr txBox="1"/>
          <p:nvPr/>
        </p:nvSpPr>
        <p:spPr>
          <a:xfrm>
            <a:off x="3607994" y="2212848"/>
            <a:ext cx="2144954" cy="365760"/>
          </a:xfrm>
          <a:prstGeom prst="rect">
            <a:avLst/>
          </a:prstGeom>
          <a:noFill/>
          <a:ln/>
        </p:spPr>
        <p:txBody>
          <a:bodyPr wrap="square" lIns="0" tIns="0" rIns="0" bIns="0" rtlCol="0" anchor="t"/>
          <a:lstStyle/>
          <a:p>
            <a:pPr marL="0" indent="0">
              <a:buNone/>
            </a:pPr>
            <a:r>
              <a:rPr lang="sv-SE" altLang="en-US" sz="1600" i="1" dirty="0">
                <a:solidFill>
                  <a:srgbClr val="4A4A4A"/>
                </a:solidFill>
                <a:latin typeface="Georgia" pitchFamily="34" charset="0"/>
                <a:ea typeface="Georgia" pitchFamily="34" charset="-122"/>
                <a:cs typeface="Georgia" pitchFamily="34" charset="-120"/>
              </a:rPr>
              <a:t>»Du är problemet.«</a:t>
            </a:r>
            <a:endParaRPr lang="sv-SE" sz="1600" dirty="0"/>
          </a:p>
        </p:txBody>
      </p:sp>
      <p:sp>
        <p:nvSpPr>
          <p:cNvPr id="14" name="Text 11"/>
          <p:cNvSpPr txBox="1"/>
          <p:nvPr/>
        </p:nvSpPr>
        <p:spPr>
          <a:xfrm>
            <a:off x="3607994" y="2651760"/>
            <a:ext cx="2144954" cy="822960"/>
          </a:xfrm>
          <a:prstGeom prst="rect">
            <a:avLst/>
          </a:prstGeom>
          <a:noFill/>
          <a:ln/>
        </p:spPr>
        <p:txBody>
          <a:bodyPr wrap="square" lIns="0" tIns="0" rIns="0" bIns="0" rtlCol="0" anchor="ctr"/>
          <a:lstStyle/>
          <a:p>
            <a:pPr marL="0" indent="0">
              <a:buNone/>
            </a:pPr>
            <a:r>
              <a:rPr lang="sv-SE" altLang="en-US" sz="5400" b="1" dirty="0">
                <a:solidFill>
                  <a:srgbClr val="A50D1E"/>
                </a:solidFill>
                <a:latin typeface="Roboto Condensed" pitchFamily="34" charset="0"/>
                <a:ea typeface="Roboto Condensed" pitchFamily="34" charset="-122"/>
                <a:cs typeface="Roboto Condensed" pitchFamily="34" charset="-120"/>
              </a:rPr>
              <a:t>−0,28</a:t>
            </a:r>
            <a:endParaRPr lang="sv-SE" sz="5400" dirty="0"/>
          </a:p>
        </p:txBody>
      </p:sp>
      <p:sp>
        <p:nvSpPr>
          <p:cNvPr id="15" name="Text 12"/>
          <p:cNvSpPr txBox="1"/>
          <p:nvPr/>
        </p:nvSpPr>
        <p:spPr>
          <a:xfrm>
            <a:off x="3607994" y="3520440"/>
            <a:ext cx="2144954" cy="256032"/>
          </a:xfrm>
          <a:prstGeom prst="rect">
            <a:avLst/>
          </a:prstGeom>
          <a:noFill/>
          <a:ln/>
        </p:spPr>
        <p:txBody>
          <a:bodyPr wrap="square" lIns="0" tIns="0" rIns="0" bIns="0" rtlCol="0" anchor="t"/>
          <a:lstStyle/>
          <a:p>
            <a:pPr marL="0" indent="0">
              <a:buNone/>
            </a:pPr>
            <a:r>
              <a:rPr lang="sv-SE" altLang="en-US" sz="1200" b="1" kern="0" spc="100" dirty="0">
                <a:solidFill>
                  <a:srgbClr val="4A4A4A"/>
                </a:solidFill>
                <a:latin typeface="Roboto Condensed" pitchFamily="34" charset="0"/>
                <a:ea typeface="Roboto Condensed" pitchFamily="34" charset="-122"/>
                <a:cs typeface="Roboto Condensed" pitchFamily="34" charset="-120"/>
              </a:rPr>
              <a:t>SAMBAND MED PRESTATION</a:t>
            </a:r>
            <a:endParaRPr lang="sv-SE" sz="1200" dirty="0"/>
          </a:p>
        </p:txBody>
      </p:sp>
      <p:sp>
        <p:nvSpPr>
          <p:cNvPr id="16" name="Text 13"/>
          <p:cNvSpPr txBox="1"/>
          <p:nvPr/>
        </p:nvSpPr>
        <p:spPr>
          <a:xfrm>
            <a:off x="3607994" y="3886200"/>
            <a:ext cx="2144954" cy="100584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Personlig friktion och irritation. Tar inte slut när sakfrågan löses.</a:t>
            </a:r>
            <a:endParaRPr lang="sv-SE" sz="1550" dirty="0"/>
          </a:p>
        </p:txBody>
      </p:sp>
      <p:sp>
        <p:nvSpPr>
          <p:cNvPr id="17" name="Shape 14"/>
          <p:cNvSpPr/>
          <p:nvPr/>
        </p:nvSpPr>
        <p:spPr>
          <a:xfrm>
            <a:off x="6210148" y="1600200"/>
            <a:ext cx="2602154" cy="338328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18" name="Text 15"/>
          <p:cNvSpPr txBox="1"/>
          <p:nvPr/>
        </p:nvSpPr>
        <p:spPr>
          <a:xfrm>
            <a:off x="6438748" y="1783080"/>
            <a:ext cx="2144954" cy="411480"/>
          </a:xfrm>
          <a:prstGeom prst="rect">
            <a:avLst/>
          </a:prstGeom>
          <a:noFill/>
          <a:ln/>
        </p:spPr>
        <p:txBody>
          <a:bodyPr wrap="square" lIns="0" tIns="0" rIns="0" bIns="0" rtlCol="0" anchor="t"/>
          <a:lstStyle/>
          <a:p>
            <a:pPr marL="0" indent="0">
              <a:buNone/>
            </a:pPr>
            <a:r>
              <a:rPr lang="sv-SE" altLang="en-US" sz="2300" b="1" dirty="0">
                <a:solidFill>
                  <a:srgbClr val="A50D1E"/>
                </a:solidFill>
                <a:latin typeface="Roboto Condensed" pitchFamily="34" charset="0"/>
                <a:ea typeface="Roboto Condensed" pitchFamily="34" charset="-122"/>
                <a:cs typeface="Roboto Condensed" pitchFamily="34" charset="-120"/>
              </a:rPr>
              <a:t>Processkonflikt</a:t>
            </a:r>
            <a:endParaRPr lang="sv-SE" sz="2300" dirty="0"/>
          </a:p>
        </p:txBody>
      </p:sp>
      <p:sp>
        <p:nvSpPr>
          <p:cNvPr id="19" name="Text 16"/>
          <p:cNvSpPr txBox="1"/>
          <p:nvPr/>
        </p:nvSpPr>
        <p:spPr>
          <a:xfrm>
            <a:off x="6438748" y="2212848"/>
            <a:ext cx="2144954" cy="365760"/>
          </a:xfrm>
          <a:prstGeom prst="rect">
            <a:avLst/>
          </a:prstGeom>
          <a:noFill/>
          <a:ln/>
        </p:spPr>
        <p:txBody>
          <a:bodyPr wrap="square" lIns="0" tIns="0" rIns="0" bIns="0" rtlCol="0" anchor="t"/>
          <a:lstStyle/>
          <a:p>
            <a:pPr marL="0" indent="0">
              <a:buNone/>
            </a:pPr>
            <a:r>
              <a:rPr lang="sv-SE" altLang="en-US" sz="1600" i="1" dirty="0">
                <a:solidFill>
                  <a:srgbClr val="4A4A4A"/>
                </a:solidFill>
                <a:latin typeface="Georgia" pitchFamily="34" charset="0"/>
                <a:ea typeface="Georgia" pitchFamily="34" charset="-122"/>
                <a:cs typeface="Georgia" pitchFamily="34" charset="-120"/>
              </a:rPr>
              <a:t>»Vem gör vad?«</a:t>
            </a:r>
            <a:endParaRPr lang="sv-SE" sz="1600" dirty="0"/>
          </a:p>
        </p:txBody>
      </p:sp>
      <p:sp>
        <p:nvSpPr>
          <p:cNvPr id="20" name="Text 17"/>
          <p:cNvSpPr txBox="1"/>
          <p:nvPr/>
        </p:nvSpPr>
        <p:spPr>
          <a:xfrm>
            <a:off x="6438748" y="2651760"/>
            <a:ext cx="2144954" cy="822960"/>
          </a:xfrm>
          <a:prstGeom prst="rect">
            <a:avLst/>
          </a:prstGeom>
          <a:noFill/>
          <a:ln/>
        </p:spPr>
        <p:txBody>
          <a:bodyPr wrap="square" lIns="0" tIns="0" rIns="0" bIns="0" rtlCol="0" anchor="ctr"/>
          <a:lstStyle/>
          <a:p>
            <a:pPr marL="0" indent="0">
              <a:buNone/>
            </a:pPr>
            <a:r>
              <a:rPr lang="sv-SE" altLang="en-US" sz="5400" b="1" dirty="0">
                <a:solidFill>
                  <a:srgbClr val="A50D1E"/>
                </a:solidFill>
                <a:latin typeface="Roboto Condensed" pitchFamily="34" charset="0"/>
                <a:ea typeface="Roboto Condensed" pitchFamily="34" charset="-122"/>
                <a:cs typeface="Roboto Condensed" pitchFamily="34" charset="-120"/>
              </a:rPr>
              <a:t>−0,33</a:t>
            </a:r>
            <a:endParaRPr lang="sv-SE" sz="5400" dirty="0"/>
          </a:p>
        </p:txBody>
      </p:sp>
      <p:sp>
        <p:nvSpPr>
          <p:cNvPr id="21" name="Text 18"/>
          <p:cNvSpPr txBox="1"/>
          <p:nvPr/>
        </p:nvSpPr>
        <p:spPr>
          <a:xfrm>
            <a:off x="6438748" y="3520440"/>
            <a:ext cx="2144954" cy="256032"/>
          </a:xfrm>
          <a:prstGeom prst="rect">
            <a:avLst/>
          </a:prstGeom>
          <a:noFill/>
          <a:ln/>
        </p:spPr>
        <p:txBody>
          <a:bodyPr wrap="square" lIns="0" tIns="0" rIns="0" bIns="0" rtlCol="0" anchor="t"/>
          <a:lstStyle/>
          <a:p>
            <a:pPr marL="0" indent="0">
              <a:buNone/>
            </a:pPr>
            <a:r>
              <a:rPr lang="sv-SE" altLang="en-US" sz="1200" b="1" kern="0" spc="100" dirty="0">
                <a:solidFill>
                  <a:srgbClr val="4A4A4A"/>
                </a:solidFill>
                <a:latin typeface="Roboto Condensed" pitchFamily="34" charset="0"/>
                <a:ea typeface="Roboto Condensed" pitchFamily="34" charset="-122"/>
                <a:cs typeface="Roboto Condensed" pitchFamily="34" charset="-120"/>
              </a:rPr>
              <a:t>SAMBAND MED PRESTATION</a:t>
            </a:r>
            <a:endParaRPr lang="sv-SE" sz="1200" dirty="0"/>
          </a:p>
        </p:txBody>
      </p:sp>
      <p:sp>
        <p:nvSpPr>
          <p:cNvPr id="22" name="Text 19"/>
          <p:cNvSpPr txBox="1"/>
          <p:nvPr/>
        </p:nvSpPr>
        <p:spPr>
          <a:xfrm>
            <a:off x="6438748" y="3886200"/>
            <a:ext cx="2144954" cy="100584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Oenighet om roller, ansvar, tidsfrister och arbetsfördelning.</a:t>
            </a:r>
            <a:endParaRPr lang="sv-SE" sz="1550" dirty="0"/>
          </a:p>
        </p:txBody>
      </p:sp>
      <p:sp>
        <p:nvSpPr>
          <p:cNvPr id="23" name="Shape 20"/>
          <p:cNvSpPr/>
          <p:nvPr/>
        </p:nvSpPr>
        <p:spPr>
          <a:xfrm>
            <a:off x="9040901" y="1600200"/>
            <a:ext cx="2602154" cy="338328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24" name="Text 21"/>
          <p:cNvSpPr txBox="1"/>
          <p:nvPr/>
        </p:nvSpPr>
        <p:spPr>
          <a:xfrm>
            <a:off x="9269501" y="1783080"/>
            <a:ext cx="2144954" cy="411480"/>
          </a:xfrm>
          <a:prstGeom prst="rect">
            <a:avLst/>
          </a:prstGeom>
          <a:noFill/>
          <a:ln/>
        </p:spPr>
        <p:txBody>
          <a:bodyPr wrap="square" lIns="0" tIns="0" rIns="0" bIns="0" rtlCol="0" anchor="t"/>
          <a:lstStyle/>
          <a:p>
            <a:pPr marL="0" indent="0">
              <a:buNone/>
            </a:pPr>
            <a:r>
              <a:rPr lang="sv-SE" altLang="en-US" sz="2300" b="1" dirty="0">
                <a:solidFill>
                  <a:srgbClr val="7A0A16"/>
                </a:solidFill>
                <a:latin typeface="Roboto Condensed" pitchFamily="34" charset="0"/>
                <a:ea typeface="Roboto Condensed" pitchFamily="34" charset="-122"/>
                <a:cs typeface="Roboto Condensed" pitchFamily="34" charset="-120"/>
              </a:rPr>
              <a:t>Statuskonflikt</a:t>
            </a:r>
            <a:endParaRPr lang="sv-SE" sz="2300" dirty="0"/>
          </a:p>
        </p:txBody>
      </p:sp>
      <p:sp>
        <p:nvSpPr>
          <p:cNvPr id="25" name="Text 22"/>
          <p:cNvSpPr txBox="1"/>
          <p:nvPr/>
        </p:nvSpPr>
        <p:spPr>
          <a:xfrm>
            <a:off x="9269501" y="2212848"/>
            <a:ext cx="2144954" cy="365760"/>
          </a:xfrm>
          <a:prstGeom prst="rect">
            <a:avLst/>
          </a:prstGeom>
          <a:noFill/>
          <a:ln/>
        </p:spPr>
        <p:txBody>
          <a:bodyPr wrap="square" lIns="0" tIns="0" rIns="0" bIns="0" rtlCol="0" anchor="t"/>
          <a:lstStyle/>
          <a:p>
            <a:pPr marL="0" indent="0">
              <a:buNone/>
            </a:pPr>
            <a:r>
              <a:rPr lang="sv-SE" altLang="en-US" sz="1600" i="1" dirty="0">
                <a:solidFill>
                  <a:srgbClr val="4A4A4A"/>
                </a:solidFill>
                <a:latin typeface="Georgia" pitchFamily="34" charset="0"/>
                <a:ea typeface="Georgia" pitchFamily="34" charset="-122"/>
                <a:cs typeface="Georgia" pitchFamily="34" charset="-120"/>
              </a:rPr>
              <a:t>»Vem bestämmer?«</a:t>
            </a:r>
            <a:endParaRPr lang="sv-SE" sz="1600" dirty="0"/>
          </a:p>
        </p:txBody>
      </p:sp>
      <p:sp>
        <p:nvSpPr>
          <p:cNvPr id="26" name="Text 23"/>
          <p:cNvSpPr txBox="1"/>
          <p:nvPr/>
        </p:nvSpPr>
        <p:spPr>
          <a:xfrm>
            <a:off x="9269501" y="2651760"/>
            <a:ext cx="2144954" cy="822960"/>
          </a:xfrm>
          <a:prstGeom prst="rect">
            <a:avLst/>
          </a:prstGeom>
          <a:noFill/>
          <a:ln/>
        </p:spPr>
        <p:txBody>
          <a:bodyPr wrap="square" lIns="0" tIns="0" rIns="0" bIns="0" rtlCol="0" anchor="ctr"/>
          <a:lstStyle/>
          <a:p>
            <a:pPr marL="0" indent="0">
              <a:buNone/>
            </a:pPr>
            <a:r>
              <a:rPr lang="sv-SE" altLang="en-US" sz="5400" b="1" dirty="0">
                <a:solidFill>
                  <a:srgbClr val="7A0A16"/>
                </a:solidFill>
                <a:latin typeface="Roboto Condensed" pitchFamily="34" charset="0"/>
                <a:ea typeface="Roboto Condensed" pitchFamily="34" charset="-122"/>
                <a:cs typeface="Roboto Condensed" pitchFamily="34" charset="-120"/>
              </a:rPr>
              <a:t>−0,38</a:t>
            </a:r>
            <a:endParaRPr lang="sv-SE" sz="5400" dirty="0"/>
          </a:p>
        </p:txBody>
      </p:sp>
      <p:sp>
        <p:nvSpPr>
          <p:cNvPr id="27" name="Text 24"/>
          <p:cNvSpPr txBox="1"/>
          <p:nvPr/>
        </p:nvSpPr>
        <p:spPr>
          <a:xfrm>
            <a:off x="9269501" y="3520440"/>
            <a:ext cx="2144954" cy="256032"/>
          </a:xfrm>
          <a:prstGeom prst="rect">
            <a:avLst/>
          </a:prstGeom>
          <a:noFill/>
          <a:ln/>
        </p:spPr>
        <p:txBody>
          <a:bodyPr wrap="square" lIns="0" tIns="0" rIns="0" bIns="0" rtlCol="0" anchor="t"/>
          <a:lstStyle/>
          <a:p>
            <a:pPr marL="0" indent="0">
              <a:buNone/>
            </a:pPr>
            <a:r>
              <a:rPr lang="sv-SE" altLang="en-US" sz="1200" b="1" kern="0" spc="100" dirty="0">
                <a:solidFill>
                  <a:srgbClr val="4A4A4A"/>
                </a:solidFill>
                <a:latin typeface="Roboto Condensed" pitchFamily="34" charset="0"/>
                <a:ea typeface="Roboto Condensed" pitchFamily="34" charset="-122"/>
                <a:cs typeface="Roboto Condensed" pitchFamily="34" charset="-120"/>
              </a:rPr>
              <a:t>SAMBAND MED PRESTATION</a:t>
            </a:r>
            <a:endParaRPr lang="sv-SE" sz="1200" dirty="0"/>
          </a:p>
        </p:txBody>
      </p:sp>
      <p:sp>
        <p:nvSpPr>
          <p:cNvPr id="28" name="Text 25"/>
          <p:cNvSpPr txBox="1"/>
          <p:nvPr/>
        </p:nvSpPr>
        <p:spPr>
          <a:xfrm>
            <a:off x="9269501" y="3886200"/>
            <a:ext cx="2144954" cy="100584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Dragkamp om inflytande och respekt. Siffran bygger på bara 15 urval.</a:t>
            </a:r>
            <a:endParaRPr lang="sv-SE" sz="1550" dirty="0"/>
          </a:p>
        </p:txBody>
      </p:sp>
      <p:sp>
        <p:nvSpPr>
          <p:cNvPr id="29" name="Shape 26"/>
          <p:cNvSpPr/>
          <p:nvPr/>
        </p:nvSpPr>
        <p:spPr>
          <a:xfrm>
            <a:off x="548640" y="5166360"/>
            <a:ext cx="11094415" cy="1051560"/>
          </a:xfrm>
          <a:prstGeom prst="roundRect">
            <a:avLst>
              <a:gd name="adj" fmla="val 8696"/>
            </a:avLst>
          </a:prstGeom>
          <a:solidFill>
            <a:srgbClr val="E6F5F6"/>
          </a:solidFill>
          <a:ln w="12700">
            <a:solidFill>
              <a:srgbClr val="E6F5F6"/>
            </a:solidFill>
            <a:prstDash val="solid"/>
          </a:ln>
        </p:spPr>
        <p:txBody>
          <a:bodyPr/>
          <a:lstStyle/>
          <a:p>
            <a:endParaRPr lang="sv-SE"/>
          </a:p>
        </p:txBody>
      </p:sp>
      <p:sp>
        <p:nvSpPr>
          <p:cNvPr id="30" name="Text 27"/>
          <p:cNvSpPr txBox="1"/>
          <p:nvPr/>
        </p:nvSpPr>
        <p:spPr>
          <a:xfrm>
            <a:off x="914400" y="5166360"/>
            <a:ext cx="10362895" cy="1051560"/>
          </a:xfrm>
          <a:prstGeom prst="rect">
            <a:avLst/>
          </a:prstGeom>
          <a:noFill/>
          <a:ln/>
        </p:spPr>
        <p:txBody>
          <a:bodyPr wrap="square" lIns="0" tIns="0" rIns="0" bIns="0" rtlCol="0" anchor="ctr"/>
          <a:lstStyle/>
          <a:p>
            <a:pPr marL="0" indent="0">
              <a:buNone/>
            </a:pPr>
            <a:r>
              <a:rPr lang="sv-SE" altLang="en-US" sz="1850" b="1" dirty="0">
                <a:solidFill>
                  <a:srgbClr val="1A1A1A"/>
                </a:solidFill>
                <a:latin typeface="Georgia" pitchFamily="34" charset="0"/>
                <a:ea typeface="Georgia" pitchFamily="34" charset="-122"/>
                <a:cs typeface="Georgia" pitchFamily="34" charset="-120"/>
              </a:rPr>
              <a:t>Ingen konflikttyp är gratis. </a:t>
            </a:r>
            <a:r>
              <a:rPr lang="sv-SE" altLang="en-US" sz="1850" dirty="0">
                <a:solidFill>
                  <a:srgbClr val="1A1A1A"/>
                </a:solidFill>
                <a:latin typeface="Georgia" pitchFamily="34" charset="0"/>
                <a:ea typeface="Georgia" pitchFamily="34" charset="-122"/>
                <a:cs typeface="Georgia" pitchFamily="34" charset="-120"/>
              </a:rPr>
              <a:t>Saklig oenighet hänger minst ihop med sämre prestation, men går ändå ihop med lägre tillit och trivsel. Den kan bära sig när tryggheten är hög och tonen saklig.</a:t>
            </a:r>
            <a:endParaRPr lang="sv-SE" sz="1850" dirty="0"/>
          </a:p>
        </p:txBody>
      </p:sp>
      <p:sp>
        <p:nvSpPr>
          <p:cNvPr id="31" name="Text 28"/>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Yuan, Yin &amp; Sun (2026), metaanalys av 268 urval. Skala: 0 = inget samband, −1 = fullständigt negativt. Villkoren: de Wit m.fl. (2012); Bradley m.fl. (2012); Weingart m.fl. (2015).</a:t>
            </a:r>
            <a:endParaRPr lang="sv-SE"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3730752"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Mänskliga grundbehov</a:t>
            </a:r>
            <a:endParaRPr lang="sv-SE" sz="3000" dirty="0"/>
          </a:p>
        </p:txBody>
      </p:sp>
      <p:sp>
        <p:nvSpPr>
          <p:cNvPr id="4" name="Text 1"/>
          <p:cNvSpPr txBox="1"/>
          <p:nvPr/>
        </p:nvSpPr>
        <p:spPr>
          <a:xfrm>
            <a:off x="548640" y="1371600"/>
            <a:ext cx="9875520" cy="68580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Bakom krav och ståndpunkter finns ofta behov. Att se behovet gör motpartens agerande begripligt, även när vi tycker att hen har fel i sak.</a:t>
            </a:r>
            <a:endParaRPr lang="sv-SE" sz="1900" dirty="0"/>
          </a:p>
        </p:txBody>
      </p:sp>
      <p:sp>
        <p:nvSpPr>
          <p:cNvPr id="5" name="Shape 2"/>
          <p:cNvSpPr/>
          <p:nvPr/>
        </p:nvSpPr>
        <p:spPr>
          <a:xfrm>
            <a:off x="548640" y="228600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6" name="Shape 3"/>
          <p:cNvSpPr/>
          <p:nvPr/>
        </p:nvSpPr>
        <p:spPr>
          <a:xfrm>
            <a:off x="731520" y="2441448"/>
            <a:ext cx="146304" cy="146304"/>
          </a:xfrm>
          <a:prstGeom prst="ellipse">
            <a:avLst/>
          </a:prstGeom>
          <a:solidFill>
            <a:srgbClr val="D80811"/>
          </a:solidFill>
          <a:ln w="12700">
            <a:solidFill>
              <a:srgbClr val="D80811"/>
            </a:solidFill>
            <a:prstDash val="solid"/>
          </a:ln>
        </p:spPr>
        <p:txBody>
          <a:bodyPr/>
          <a:lstStyle/>
          <a:p>
            <a:endParaRPr lang="sv-SE"/>
          </a:p>
        </p:txBody>
      </p:sp>
      <p:sp>
        <p:nvSpPr>
          <p:cNvPr id="7" name="Text 4"/>
          <p:cNvSpPr txBox="1"/>
          <p:nvPr/>
        </p:nvSpPr>
        <p:spPr>
          <a:xfrm>
            <a:off x="1005840" y="228600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Känna förtroende för andra människor</a:t>
            </a:r>
            <a:endParaRPr lang="sv-SE" sz="1700" dirty="0"/>
          </a:p>
        </p:txBody>
      </p:sp>
      <p:sp>
        <p:nvSpPr>
          <p:cNvPr id="8" name="Shape 5"/>
          <p:cNvSpPr/>
          <p:nvPr/>
        </p:nvSpPr>
        <p:spPr>
          <a:xfrm>
            <a:off x="6233008" y="228600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9" name="Shape 6"/>
          <p:cNvSpPr/>
          <p:nvPr/>
        </p:nvSpPr>
        <p:spPr>
          <a:xfrm>
            <a:off x="6415888" y="2441448"/>
            <a:ext cx="146304" cy="146304"/>
          </a:xfrm>
          <a:prstGeom prst="ellipse">
            <a:avLst/>
          </a:prstGeom>
          <a:solidFill>
            <a:srgbClr val="D80811"/>
          </a:solidFill>
          <a:ln w="12700">
            <a:solidFill>
              <a:srgbClr val="D80811"/>
            </a:solidFill>
            <a:prstDash val="solid"/>
          </a:ln>
        </p:spPr>
        <p:txBody>
          <a:bodyPr/>
          <a:lstStyle/>
          <a:p>
            <a:endParaRPr lang="sv-SE"/>
          </a:p>
        </p:txBody>
      </p:sp>
      <p:sp>
        <p:nvSpPr>
          <p:cNvPr id="10" name="Text 7"/>
          <p:cNvSpPr txBox="1"/>
          <p:nvPr/>
        </p:nvSpPr>
        <p:spPr>
          <a:xfrm>
            <a:off x="6690208" y="228600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Ha en rimlig arbetsbörda</a:t>
            </a:r>
            <a:endParaRPr lang="sv-SE" sz="1700" dirty="0"/>
          </a:p>
        </p:txBody>
      </p:sp>
      <p:sp>
        <p:nvSpPr>
          <p:cNvPr id="11" name="Shape 8"/>
          <p:cNvSpPr/>
          <p:nvPr/>
        </p:nvSpPr>
        <p:spPr>
          <a:xfrm>
            <a:off x="548640" y="283464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12" name="Shape 9"/>
          <p:cNvSpPr/>
          <p:nvPr/>
        </p:nvSpPr>
        <p:spPr>
          <a:xfrm>
            <a:off x="731520" y="2990088"/>
            <a:ext cx="146304" cy="146304"/>
          </a:xfrm>
          <a:prstGeom prst="ellipse">
            <a:avLst/>
          </a:prstGeom>
          <a:solidFill>
            <a:srgbClr val="D80811"/>
          </a:solidFill>
          <a:ln w="12700">
            <a:solidFill>
              <a:srgbClr val="D80811"/>
            </a:solidFill>
            <a:prstDash val="solid"/>
          </a:ln>
        </p:spPr>
        <p:txBody>
          <a:bodyPr/>
          <a:lstStyle/>
          <a:p>
            <a:endParaRPr lang="sv-SE"/>
          </a:p>
        </p:txBody>
      </p:sp>
      <p:sp>
        <p:nvSpPr>
          <p:cNvPr id="13" name="Text 10"/>
          <p:cNvSpPr txBox="1"/>
          <p:nvPr/>
        </p:nvSpPr>
        <p:spPr>
          <a:xfrm>
            <a:off x="1005840" y="283464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Känna att man blir respekterad</a:t>
            </a:r>
            <a:endParaRPr lang="sv-SE" sz="1700" dirty="0"/>
          </a:p>
        </p:txBody>
      </p:sp>
      <p:sp>
        <p:nvSpPr>
          <p:cNvPr id="14" name="Shape 11"/>
          <p:cNvSpPr/>
          <p:nvPr/>
        </p:nvSpPr>
        <p:spPr>
          <a:xfrm>
            <a:off x="6233008" y="283464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15" name="Shape 12"/>
          <p:cNvSpPr/>
          <p:nvPr/>
        </p:nvSpPr>
        <p:spPr>
          <a:xfrm>
            <a:off x="6415888" y="2990088"/>
            <a:ext cx="146304" cy="146304"/>
          </a:xfrm>
          <a:prstGeom prst="ellipse">
            <a:avLst/>
          </a:prstGeom>
          <a:solidFill>
            <a:srgbClr val="D80811"/>
          </a:solidFill>
          <a:ln w="12700">
            <a:solidFill>
              <a:srgbClr val="D80811"/>
            </a:solidFill>
            <a:prstDash val="solid"/>
          </a:ln>
        </p:spPr>
        <p:txBody>
          <a:bodyPr/>
          <a:lstStyle/>
          <a:p>
            <a:endParaRPr lang="sv-SE"/>
          </a:p>
        </p:txBody>
      </p:sp>
      <p:sp>
        <p:nvSpPr>
          <p:cNvPr id="16" name="Text 13"/>
          <p:cNvSpPr txBox="1"/>
          <p:nvPr/>
        </p:nvSpPr>
        <p:spPr>
          <a:xfrm>
            <a:off x="6690208" y="283464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Kunna utföra arbetsuppgifterna smidigt</a:t>
            </a:r>
            <a:endParaRPr lang="sv-SE" sz="1700" dirty="0"/>
          </a:p>
        </p:txBody>
      </p:sp>
      <p:sp>
        <p:nvSpPr>
          <p:cNvPr id="17" name="Shape 14"/>
          <p:cNvSpPr/>
          <p:nvPr/>
        </p:nvSpPr>
        <p:spPr>
          <a:xfrm>
            <a:off x="548640" y="338328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18" name="Shape 15"/>
          <p:cNvSpPr/>
          <p:nvPr/>
        </p:nvSpPr>
        <p:spPr>
          <a:xfrm>
            <a:off x="731520" y="3538728"/>
            <a:ext cx="146304" cy="146304"/>
          </a:xfrm>
          <a:prstGeom prst="ellipse">
            <a:avLst/>
          </a:prstGeom>
          <a:solidFill>
            <a:srgbClr val="D80811"/>
          </a:solidFill>
          <a:ln w="12700">
            <a:solidFill>
              <a:srgbClr val="D80811"/>
            </a:solidFill>
            <a:prstDash val="solid"/>
          </a:ln>
        </p:spPr>
        <p:txBody>
          <a:bodyPr/>
          <a:lstStyle/>
          <a:p>
            <a:endParaRPr lang="sv-SE"/>
          </a:p>
        </p:txBody>
      </p:sp>
      <p:sp>
        <p:nvSpPr>
          <p:cNvPr id="19" name="Text 16"/>
          <p:cNvSpPr txBox="1"/>
          <p:nvPr/>
        </p:nvSpPr>
        <p:spPr>
          <a:xfrm>
            <a:off x="1005840" y="338328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Känna att det finns rättvisa</a:t>
            </a:r>
            <a:endParaRPr lang="sv-SE" sz="1700" dirty="0"/>
          </a:p>
        </p:txBody>
      </p:sp>
      <p:sp>
        <p:nvSpPr>
          <p:cNvPr id="20" name="Shape 17"/>
          <p:cNvSpPr/>
          <p:nvPr/>
        </p:nvSpPr>
        <p:spPr>
          <a:xfrm>
            <a:off x="6233008" y="338328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21" name="Shape 18"/>
          <p:cNvSpPr/>
          <p:nvPr/>
        </p:nvSpPr>
        <p:spPr>
          <a:xfrm>
            <a:off x="6415888" y="3538728"/>
            <a:ext cx="146304" cy="146304"/>
          </a:xfrm>
          <a:prstGeom prst="ellipse">
            <a:avLst/>
          </a:prstGeom>
          <a:solidFill>
            <a:srgbClr val="D80811"/>
          </a:solidFill>
          <a:ln w="12700">
            <a:solidFill>
              <a:srgbClr val="D80811"/>
            </a:solidFill>
            <a:prstDash val="solid"/>
          </a:ln>
        </p:spPr>
        <p:txBody>
          <a:bodyPr/>
          <a:lstStyle/>
          <a:p>
            <a:endParaRPr lang="sv-SE"/>
          </a:p>
        </p:txBody>
      </p:sp>
      <p:sp>
        <p:nvSpPr>
          <p:cNvPr id="22" name="Text 19"/>
          <p:cNvSpPr txBox="1"/>
          <p:nvPr/>
        </p:nvSpPr>
        <p:spPr>
          <a:xfrm>
            <a:off x="6690208" y="338328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Frihet att bestämma över egen tillvaro</a:t>
            </a:r>
            <a:endParaRPr lang="sv-SE" sz="1700" dirty="0"/>
          </a:p>
        </p:txBody>
      </p:sp>
      <p:sp>
        <p:nvSpPr>
          <p:cNvPr id="23" name="Shape 20"/>
          <p:cNvSpPr/>
          <p:nvPr/>
        </p:nvSpPr>
        <p:spPr>
          <a:xfrm>
            <a:off x="548640" y="393192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24" name="Shape 21"/>
          <p:cNvSpPr/>
          <p:nvPr/>
        </p:nvSpPr>
        <p:spPr>
          <a:xfrm>
            <a:off x="731520" y="4087368"/>
            <a:ext cx="146304" cy="146304"/>
          </a:xfrm>
          <a:prstGeom prst="ellipse">
            <a:avLst/>
          </a:prstGeom>
          <a:solidFill>
            <a:srgbClr val="D80811"/>
          </a:solidFill>
          <a:ln w="12700">
            <a:solidFill>
              <a:srgbClr val="D80811"/>
            </a:solidFill>
            <a:prstDash val="solid"/>
          </a:ln>
        </p:spPr>
        <p:txBody>
          <a:bodyPr/>
          <a:lstStyle/>
          <a:p>
            <a:endParaRPr lang="sv-SE"/>
          </a:p>
        </p:txBody>
      </p:sp>
      <p:sp>
        <p:nvSpPr>
          <p:cNvPr id="25" name="Text 22"/>
          <p:cNvSpPr txBox="1"/>
          <p:nvPr/>
        </p:nvSpPr>
        <p:spPr>
          <a:xfrm>
            <a:off x="1005840" y="393192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Bli sedd och bekräftad som värdefull och kompetent</a:t>
            </a:r>
            <a:endParaRPr lang="sv-SE" sz="1700" dirty="0"/>
          </a:p>
        </p:txBody>
      </p:sp>
      <p:sp>
        <p:nvSpPr>
          <p:cNvPr id="26" name="Shape 23"/>
          <p:cNvSpPr/>
          <p:nvPr/>
        </p:nvSpPr>
        <p:spPr>
          <a:xfrm>
            <a:off x="6233008" y="393192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27" name="Shape 24"/>
          <p:cNvSpPr/>
          <p:nvPr/>
        </p:nvSpPr>
        <p:spPr>
          <a:xfrm>
            <a:off x="6415888" y="4087368"/>
            <a:ext cx="146304" cy="146304"/>
          </a:xfrm>
          <a:prstGeom prst="ellipse">
            <a:avLst/>
          </a:prstGeom>
          <a:solidFill>
            <a:srgbClr val="D80811"/>
          </a:solidFill>
          <a:ln w="12700">
            <a:solidFill>
              <a:srgbClr val="D80811"/>
            </a:solidFill>
            <a:prstDash val="solid"/>
          </a:ln>
        </p:spPr>
        <p:txBody>
          <a:bodyPr/>
          <a:lstStyle/>
          <a:p>
            <a:endParaRPr lang="sv-SE"/>
          </a:p>
        </p:txBody>
      </p:sp>
      <p:sp>
        <p:nvSpPr>
          <p:cNvPr id="28" name="Text 25"/>
          <p:cNvSpPr txBox="1"/>
          <p:nvPr/>
        </p:nvSpPr>
        <p:spPr>
          <a:xfrm>
            <a:off x="6690208" y="393192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Möjlighet att få stimulans och utvecklas</a:t>
            </a:r>
            <a:endParaRPr lang="sv-SE" sz="1700" dirty="0"/>
          </a:p>
        </p:txBody>
      </p:sp>
      <p:sp>
        <p:nvSpPr>
          <p:cNvPr id="29" name="Shape 26"/>
          <p:cNvSpPr/>
          <p:nvPr/>
        </p:nvSpPr>
        <p:spPr>
          <a:xfrm>
            <a:off x="548640" y="448056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30" name="Shape 27"/>
          <p:cNvSpPr/>
          <p:nvPr/>
        </p:nvSpPr>
        <p:spPr>
          <a:xfrm>
            <a:off x="731520" y="4636008"/>
            <a:ext cx="146304" cy="146304"/>
          </a:xfrm>
          <a:prstGeom prst="ellipse">
            <a:avLst/>
          </a:prstGeom>
          <a:solidFill>
            <a:srgbClr val="D80811"/>
          </a:solidFill>
          <a:ln w="12700">
            <a:solidFill>
              <a:srgbClr val="D80811"/>
            </a:solidFill>
            <a:prstDash val="solid"/>
          </a:ln>
        </p:spPr>
        <p:txBody>
          <a:bodyPr/>
          <a:lstStyle/>
          <a:p>
            <a:endParaRPr lang="sv-SE"/>
          </a:p>
        </p:txBody>
      </p:sp>
      <p:sp>
        <p:nvSpPr>
          <p:cNvPr id="31" name="Text 28"/>
          <p:cNvSpPr txBox="1"/>
          <p:nvPr/>
        </p:nvSpPr>
        <p:spPr>
          <a:xfrm>
            <a:off x="1005840" y="448056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Känna samhörighet</a:t>
            </a:r>
            <a:endParaRPr lang="sv-SE" sz="1700" dirty="0"/>
          </a:p>
        </p:txBody>
      </p:sp>
      <p:sp>
        <p:nvSpPr>
          <p:cNvPr id="32" name="Shape 29"/>
          <p:cNvSpPr/>
          <p:nvPr/>
        </p:nvSpPr>
        <p:spPr>
          <a:xfrm>
            <a:off x="6233008" y="448056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33" name="Shape 30"/>
          <p:cNvSpPr/>
          <p:nvPr/>
        </p:nvSpPr>
        <p:spPr>
          <a:xfrm>
            <a:off x="6415888" y="4636008"/>
            <a:ext cx="146304" cy="146304"/>
          </a:xfrm>
          <a:prstGeom prst="ellipse">
            <a:avLst/>
          </a:prstGeom>
          <a:solidFill>
            <a:srgbClr val="D80811"/>
          </a:solidFill>
          <a:ln w="12700">
            <a:solidFill>
              <a:srgbClr val="D80811"/>
            </a:solidFill>
            <a:prstDash val="solid"/>
          </a:ln>
        </p:spPr>
        <p:txBody>
          <a:bodyPr/>
          <a:lstStyle/>
          <a:p>
            <a:endParaRPr lang="sv-SE"/>
          </a:p>
        </p:txBody>
      </p:sp>
      <p:sp>
        <p:nvSpPr>
          <p:cNvPr id="34" name="Text 31"/>
          <p:cNvSpPr txBox="1"/>
          <p:nvPr/>
        </p:nvSpPr>
        <p:spPr>
          <a:xfrm>
            <a:off x="6690208" y="448056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Kunna skydda andra från skada</a:t>
            </a:r>
            <a:endParaRPr lang="sv-SE" sz="1700" dirty="0"/>
          </a:p>
        </p:txBody>
      </p:sp>
      <p:sp>
        <p:nvSpPr>
          <p:cNvPr id="35" name="Shape 32"/>
          <p:cNvSpPr/>
          <p:nvPr/>
        </p:nvSpPr>
        <p:spPr>
          <a:xfrm>
            <a:off x="548640" y="502920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36" name="Shape 33"/>
          <p:cNvSpPr/>
          <p:nvPr/>
        </p:nvSpPr>
        <p:spPr>
          <a:xfrm>
            <a:off x="731520" y="5184648"/>
            <a:ext cx="146304" cy="146304"/>
          </a:xfrm>
          <a:prstGeom prst="ellipse">
            <a:avLst/>
          </a:prstGeom>
          <a:solidFill>
            <a:srgbClr val="D80811"/>
          </a:solidFill>
          <a:ln w="12700">
            <a:solidFill>
              <a:srgbClr val="D80811"/>
            </a:solidFill>
            <a:prstDash val="solid"/>
          </a:ln>
        </p:spPr>
        <p:txBody>
          <a:bodyPr/>
          <a:lstStyle/>
          <a:p>
            <a:endParaRPr lang="sv-SE"/>
          </a:p>
        </p:txBody>
      </p:sp>
      <p:sp>
        <p:nvSpPr>
          <p:cNvPr id="37" name="Text 34"/>
          <p:cNvSpPr txBox="1"/>
          <p:nvPr/>
        </p:nvSpPr>
        <p:spPr>
          <a:xfrm>
            <a:off x="1005840" y="502920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Sammanhang, begriplighet, klarhet om förutsättningar</a:t>
            </a:r>
            <a:endParaRPr lang="sv-SE" sz="1700" dirty="0"/>
          </a:p>
        </p:txBody>
      </p:sp>
      <p:sp>
        <p:nvSpPr>
          <p:cNvPr id="38" name="Shape 35"/>
          <p:cNvSpPr/>
          <p:nvPr/>
        </p:nvSpPr>
        <p:spPr>
          <a:xfrm>
            <a:off x="6233008" y="502920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39" name="Shape 36"/>
          <p:cNvSpPr/>
          <p:nvPr/>
        </p:nvSpPr>
        <p:spPr>
          <a:xfrm>
            <a:off x="6415888" y="5184648"/>
            <a:ext cx="146304" cy="146304"/>
          </a:xfrm>
          <a:prstGeom prst="ellipse">
            <a:avLst/>
          </a:prstGeom>
          <a:solidFill>
            <a:srgbClr val="D80811"/>
          </a:solidFill>
          <a:ln w="12700">
            <a:solidFill>
              <a:srgbClr val="D80811"/>
            </a:solidFill>
            <a:prstDash val="solid"/>
          </a:ln>
        </p:spPr>
        <p:txBody>
          <a:bodyPr/>
          <a:lstStyle/>
          <a:p>
            <a:endParaRPr lang="sv-SE"/>
          </a:p>
        </p:txBody>
      </p:sp>
      <p:sp>
        <p:nvSpPr>
          <p:cNvPr id="40" name="Text 37"/>
          <p:cNvSpPr txBox="1"/>
          <p:nvPr/>
        </p:nvSpPr>
        <p:spPr>
          <a:xfrm>
            <a:off x="6690208" y="502920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Känna att arbetet är meningsfullt och håller kvalitet</a:t>
            </a:r>
            <a:endParaRPr lang="sv-SE" sz="1700" dirty="0"/>
          </a:p>
        </p:txBody>
      </p:sp>
      <p:sp>
        <p:nvSpPr>
          <p:cNvPr id="41" name="Shape 38"/>
          <p:cNvSpPr/>
          <p:nvPr/>
        </p:nvSpPr>
        <p:spPr>
          <a:xfrm>
            <a:off x="548640" y="557784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42" name="Shape 39"/>
          <p:cNvSpPr/>
          <p:nvPr/>
        </p:nvSpPr>
        <p:spPr>
          <a:xfrm>
            <a:off x="731520" y="5733288"/>
            <a:ext cx="146304" cy="146304"/>
          </a:xfrm>
          <a:prstGeom prst="ellipse">
            <a:avLst/>
          </a:prstGeom>
          <a:solidFill>
            <a:srgbClr val="D80811"/>
          </a:solidFill>
          <a:ln w="12700">
            <a:solidFill>
              <a:srgbClr val="D80811"/>
            </a:solidFill>
            <a:prstDash val="solid"/>
          </a:ln>
        </p:spPr>
        <p:txBody>
          <a:bodyPr/>
          <a:lstStyle/>
          <a:p>
            <a:endParaRPr lang="sv-SE"/>
          </a:p>
        </p:txBody>
      </p:sp>
      <p:sp>
        <p:nvSpPr>
          <p:cNvPr id="43" name="Text 40"/>
          <p:cNvSpPr txBox="1"/>
          <p:nvPr/>
        </p:nvSpPr>
        <p:spPr>
          <a:xfrm>
            <a:off x="1005840" y="557784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Trygghet, till exempel ekonomisk</a:t>
            </a:r>
            <a:endParaRPr lang="sv-SE" sz="1700" dirty="0"/>
          </a:p>
        </p:txBody>
      </p:sp>
      <p:sp>
        <p:nvSpPr>
          <p:cNvPr id="44" name="Shape 41"/>
          <p:cNvSpPr/>
          <p:nvPr/>
        </p:nvSpPr>
        <p:spPr>
          <a:xfrm>
            <a:off x="6233008" y="5577840"/>
            <a:ext cx="5410048" cy="457200"/>
          </a:xfrm>
          <a:prstGeom prst="roundRect">
            <a:avLst>
              <a:gd name="adj" fmla="val 20000"/>
            </a:avLst>
          </a:prstGeom>
          <a:solidFill>
            <a:srgbClr val="F2F0EF"/>
          </a:solidFill>
          <a:ln w="12700">
            <a:solidFill>
              <a:srgbClr val="F2F0EF"/>
            </a:solidFill>
            <a:prstDash val="solid"/>
          </a:ln>
        </p:spPr>
        <p:txBody>
          <a:bodyPr/>
          <a:lstStyle/>
          <a:p>
            <a:endParaRPr lang="sv-SE"/>
          </a:p>
        </p:txBody>
      </p:sp>
      <p:sp>
        <p:nvSpPr>
          <p:cNvPr id="45" name="Shape 42"/>
          <p:cNvSpPr/>
          <p:nvPr/>
        </p:nvSpPr>
        <p:spPr>
          <a:xfrm>
            <a:off x="6415888" y="5733288"/>
            <a:ext cx="146304" cy="146304"/>
          </a:xfrm>
          <a:prstGeom prst="ellipse">
            <a:avLst/>
          </a:prstGeom>
          <a:solidFill>
            <a:srgbClr val="D80811"/>
          </a:solidFill>
          <a:ln w="12700">
            <a:solidFill>
              <a:srgbClr val="D80811"/>
            </a:solidFill>
            <a:prstDash val="solid"/>
          </a:ln>
        </p:spPr>
        <p:txBody>
          <a:bodyPr/>
          <a:lstStyle/>
          <a:p>
            <a:endParaRPr lang="sv-SE"/>
          </a:p>
        </p:txBody>
      </p:sp>
      <p:sp>
        <p:nvSpPr>
          <p:cNvPr id="46" name="Text 43"/>
          <p:cNvSpPr txBox="1"/>
          <p:nvPr/>
        </p:nvSpPr>
        <p:spPr>
          <a:xfrm>
            <a:off x="6690208" y="5577840"/>
            <a:ext cx="4861408" cy="457200"/>
          </a:xfrm>
          <a:prstGeom prst="rect">
            <a:avLst/>
          </a:prstGeom>
          <a:noFill/>
          <a:ln/>
        </p:spPr>
        <p:txBody>
          <a:bodyPr wrap="square" lIns="0" tIns="0" rIns="0" bIns="0" rtlCol="0" anchor="ctr"/>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Känna självrespekt</a:t>
            </a:r>
            <a:endParaRPr lang="sv-SE"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50D1E"/>
        </a:solidFill>
        <a:effectLst/>
      </p:bgPr>
    </p:bg>
    <p:spTree>
      <p:nvGrpSpPr>
        <p:cNvPr id="1" name=""/>
        <p:cNvGrpSpPr/>
        <p:nvPr/>
      </p:nvGrpSpPr>
      <p:grpSpPr>
        <a:xfrm>
          <a:off x="0" y="0"/>
          <a:ext cx="0" cy="0"/>
          <a:chOff x="0" y="0"/>
          <a:chExt cx="0" cy="0"/>
        </a:xfrm>
      </p:grpSpPr>
      <p:sp>
        <p:nvSpPr>
          <p:cNvPr id="4" name="Text 2"/>
          <p:cNvSpPr txBox="1"/>
          <p:nvPr/>
        </p:nvSpPr>
        <p:spPr>
          <a:xfrm>
            <a:off x="548640" y="822960"/>
            <a:ext cx="6675120" cy="365760"/>
          </a:xfrm>
          <a:prstGeom prst="rect">
            <a:avLst/>
          </a:prstGeom>
          <a:noFill/>
          <a:ln/>
        </p:spPr>
        <p:txBody>
          <a:bodyPr wrap="square" lIns="0" tIns="0" rIns="0" bIns="0" rtlCol="0" anchor="t"/>
          <a:lstStyle/>
          <a:p>
            <a:pPr marL="0" indent="0">
              <a:buNone/>
            </a:pPr>
            <a:r>
              <a:rPr lang="sv-SE" altLang="en-US" sz="1600" b="1" kern="0" spc="300" dirty="0">
                <a:solidFill>
                  <a:srgbClr val="FFFFFF"/>
                </a:solidFill>
                <a:latin typeface="Roboto Condensed" pitchFamily="34" charset="0"/>
                <a:ea typeface="Roboto Condensed" pitchFamily="34" charset="-122"/>
                <a:cs typeface="Roboto Condensed" pitchFamily="34" charset="-120"/>
              </a:rPr>
              <a:t>REFLEKTION 1 · SKRIV I CHATTEN</a:t>
            </a:r>
            <a:endParaRPr lang="sv-SE" sz="1600" dirty="0"/>
          </a:p>
        </p:txBody>
      </p:sp>
      <p:sp>
        <p:nvSpPr>
          <p:cNvPr id="5" name="Text 3"/>
          <p:cNvSpPr txBox="1"/>
          <p:nvPr/>
        </p:nvSpPr>
        <p:spPr>
          <a:xfrm>
            <a:off x="548640" y="1371600"/>
            <a:ext cx="6675120" cy="1371600"/>
          </a:xfrm>
          <a:prstGeom prst="rect">
            <a:avLst/>
          </a:prstGeom>
          <a:noFill/>
          <a:ln/>
        </p:spPr>
        <p:txBody>
          <a:bodyPr wrap="square" lIns="0" tIns="0" rIns="0" bIns="0" rtlCol="0" anchor="t"/>
          <a:lstStyle/>
          <a:p>
            <a:pPr marL="0" indent="0">
              <a:buNone/>
            </a:pPr>
            <a:r>
              <a:rPr lang="sv-SE" altLang="en-US" sz="4000" b="1" dirty="0">
                <a:solidFill>
                  <a:srgbClr val="FFFFFF"/>
                </a:solidFill>
                <a:latin typeface="Roboto Condensed" pitchFamily="34" charset="0"/>
                <a:ea typeface="Roboto Condensed" pitchFamily="34" charset="-122"/>
                <a:cs typeface="Roboto Condensed" pitchFamily="34" charset="-120"/>
              </a:rPr>
              <a:t>Tänk på en konflikt du sett på en arbetsplats.</a:t>
            </a:r>
            <a:endParaRPr lang="sv-SE" sz="4000" dirty="0"/>
          </a:p>
        </p:txBody>
      </p:sp>
      <p:sp>
        <p:nvSpPr>
          <p:cNvPr id="6" name="Shape 4"/>
          <p:cNvSpPr/>
          <p:nvPr/>
        </p:nvSpPr>
        <p:spPr>
          <a:xfrm>
            <a:off x="548640" y="3063240"/>
            <a:ext cx="502920" cy="502920"/>
          </a:xfrm>
          <a:prstGeom prst="ellipse">
            <a:avLst/>
          </a:prstGeom>
          <a:solidFill>
            <a:srgbClr val="D80811"/>
          </a:solidFill>
          <a:ln w="12700">
            <a:solidFill>
              <a:srgbClr val="D80811"/>
            </a:solidFill>
            <a:prstDash val="solid"/>
          </a:ln>
        </p:spPr>
        <p:txBody>
          <a:bodyPr/>
          <a:lstStyle/>
          <a:p>
            <a:endParaRPr lang="sv-SE"/>
          </a:p>
        </p:txBody>
      </p:sp>
      <p:sp>
        <p:nvSpPr>
          <p:cNvPr id="7" name="Text 5"/>
          <p:cNvSpPr txBox="1"/>
          <p:nvPr/>
        </p:nvSpPr>
        <p:spPr>
          <a:xfrm>
            <a:off x="548640" y="3063240"/>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Roboto Condensed" pitchFamily="34" charset="0"/>
                <a:ea typeface="Roboto Condensed" pitchFamily="34" charset="-122"/>
                <a:cs typeface="Roboto Condensed" pitchFamily="34" charset="-120"/>
              </a:rPr>
              <a:t>1</a:t>
            </a:r>
            <a:endParaRPr lang="en-US" sz="1870" dirty="0"/>
          </a:p>
        </p:txBody>
      </p:sp>
      <p:sp>
        <p:nvSpPr>
          <p:cNvPr id="8" name="Text 6"/>
          <p:cNvSpPr txBox="1"/>
          <p:nvPr/>
        </p:nvSpPr>
        <p:spPr>
          <a:xfrm>
            <a:off x="1280160" y="3044952"/>
            <a:ext cx="6675120" cy="914400"/>
          </a:xfrm>
          <a:prstGeom prst="rect">
            <a:avLst/>
          </a:prstGeom>
          <a:noFill/>
          <a:ln/>
        </p:spPr>
        <p:txBody>
          <a:bodyPr wrap="square" lIns="0" tIns="0" rIns="0" bIns="0" rtlCol="0" anchor="t"/>
          <a:lstStyle/>
          <a:p>
            <a:pPr marL="0" indent="0">
              <a:buNone/>
            </a:pPr>
            <a:r>
              <a:rPr lang="sv-SE" altLang="en-US" sz="2300" dirty="0">
                <a:solidFill>
                  <a:srgbClr val="FFFFFF"/>
                </a:solidFill>
                <a:latin typeface="Georgia" pitchFamily="34" charset="0"/>
                <a:ea typeface="Georgia" pitchFamily="34" charset="-122"/>
                <a:cs typeface="Georgia" pitchFamily="34" charset="-120"/>
              </a:rPr>
              <a:t>I vilket hörn av triangeln låg tyngdpunkten: A, B eller C?</a:t>
            </a:r>
            <a:endParaRPr lang="sv-SE" sz="2300" dirty="0"/>
          </a:p>
        </p:txBody>
      </p:sp>
      <p:sp>
        <p:nvSpPr>
          <p:cNvPr id="9" name="Shape 7"/>
          <p:cNvSpPr/>
          <p:nvPr/>
        </p:nvSpPr>
        <p:spPr>
          <a:xfrm>
            <a:off x="548640" y="4160520"/>
            <a:ext cx="502920" cy="502920"/>
          </a:xfrm>
          <a:prstGeom prst="ellipse">
            <a:avLst/>
          </a:prstGeom>
          <a:solidFill>
            <a:srgbClr val="D80811"/>
          </a:solidFill>
          <a:ln w="12700">
            <a:solidFill>
              <a:srgbClr val="D80811"/>
            </a:solidFill>
            <a:prstDash val="solid"/>
          </a:ln>
        </p:spPr>
        <p:txBody>
          <a:bodyPr/>
          <a:lstStyle/>
          <a:p>
            <a:endParaRPr lang="sv-SE"/>
          </a:p>
        </p:txBody>
      </p:sp>
      <p:sp>
        <p:nvSpPr>
          <p:cNvPr id="10" name="Text 8"/>
          <p:cNvSpPr txBox="1"/>
          <p:nvPr/>
        </p:nvSpPr>
        <p:spPr>
          <a:xfrm>
            <a:off x="548640" y="4160520"/>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Roboto Condensed" pitchFamily="34" charset="0"/>
                <a:ea typeface="Roboto Condensed" pitchFamily="34" charset="-122"/>
                <a:cs typeface="Roboto Condensed" pitchFamily="34" charset="-120"/>
              </a:rPr>
              <a:t>2</a:t>
            </a:r>
            <a:endParaRPr lang="en-US" sz="1870" dirty="0"/>
          </a:p>
        </p:txBody>
      </p:sp>
      <p:sp>
        <p:nvSpPr>
          <p:cNvPr id="11" name="Text 9"/>
          <p:cNvSpPr txBox="1"/>
          <p:nvPr/>
        </p:nvSpPr>
        <p:spPr>
          <a:xfrm>
            <a:off x="1280160" y="4142232"/>
            <a:ext cx="6675120" cy="914400"/>
          </a:xfrm>
          <a:prstGeom prst="rect">
            <a:avLst/>
          </a:prstGeom>
          <a:noFill/>
          <a:ln/>
        </p:spPr>
        <p:txBody>
          <a:bodyPr wrap="square" lIns="0" tIns="0" rIns="0" bIns="0" rtlCol="0" anchor="t"/>
          <a:lstStyle/>
          <a:p>
            <a:pPr marL="0" indent="0">
              <a:buNone/>
            </a:pPr>
            <a:r>
              <a:rPr lang="sv-SE" altLang="en-US" sz="2300" dirty="0">
                <a:solidFill>
                  <a:srgbClr val="FFFFFF"/>
                </a:solidFill>
                <a:latin typeface="Georgia" pitchFamily="34" charset="0"/>
                <a:ea typeface="Georgia" pitchFamily="34" charset="-122"/>
                <a:cs typeface="Georgia" pitchFamily="34" charset="-120"/>
              </a:rPr>
              <a:t>Vilket grundbehov tror du var blockerat för den andra parten?</a:t>
            </a:r>
            <a:endParaRPr lang="sv-SE" sz="2300" dirty="0"/>
          </a:p>
        </p:txBody>
      </p:sp>
      <p:sp>
        <p:nvSpPr>
          <p:cNvPr id="12" name="Text 10"/>
          <p:cNvSpPr txBox="1"/>
          <p:nvPr/>
        </p:nvSpPr>
        <p:spPr>
          <a:xfrm>
            <a:off x="548640" y="5989320"/>
            <a:ext cx="6675120" cy="365760"/>
          </a:xfrm>
          <a:prstGeom prst="rect">
            <a:avLst/>
          </a:prstGeom>
          <a:noFill/>
          <a:ln/>
        </p:spPr>
        <p:txBody>
          <a:bodyPr wrap="square" lIns="0" tIns="0" rIns="0" bIns="0" rtlCol="0" anchor="t"/>
          <a:lstStyle/>
          <a:p>
            <a:pPr marL="0" indent="0">
              <a:buNone/>
            </a:pPr>
            <a:r>
              <a:rPr lang="sv-SE" altLang="en-US" sz="1700" dirty="0">
                <a:solidFill>
                  <a:srgbClr val="FFFFFF"/>
                </a:solidFill>
                <a:latin typeface="Roboto Condensed" pitchFamily="34" charset="0"/>
                <a:ea typeface="Roboto Condensed" pitchFamily="34" charset="-122"/>
                <a:cs typeface="Roboto Condensed" pitchFamily="34" charset="-120"/>
              </a:rPr>
              <a:t>Inga namn. 3 minuter.</a:t>
            </a:r>
            <a:endParaRPr lang="sv-SE" sz="1700" dirty="0"/>
          </a:p>
        </p:txBody>
      </p:sp>
      <p:sp>
        <p:nvSpPr>
          <p:cNvPr id="13" name="ABC-triangel"/>
          <p:cNvSpPr/>
          <p:nvPr/>
        </p:nvSpPr>
        <p:spPr>
          <a:xfrm>
            <a:off x="7635240" y="777240"/>
            <a:ext cx="4846320" cy="4846320"/>
          </a:xfrm>
          <a:prstGeom prst="ellipse">
            <a:avLst/>
          </a:prstGeom>
          <a:solidFill>
            <a:srgbClr val="D8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H="1">
            <a:off x="9144000" y="2468880"/>
            <a:ext cx="640080" cy="160020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332720" y="2468880"/>
            <a:ext cx="640080" cy="160020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829800" y="4498848"/>
            <a:ext cx="457200" cy="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372600" y="1600200"/>
            <a:ext cx="1371600" cy="868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A50D1E"/>
                </a:solidFill>
                <a:latin typeface="Roboto Condensed"/>
              </a:rPr>
              <a:t>A</a:t>
            </a:r>
          </a:p>
          <a:p>
            <a:pPr algn="ctr"/>
            <a:r>
              <a:rPr sz="1500" b="1">
                <a:solidFill>
                  <a:srgbClr val="1A1A1A"/>
                </a:solidFill>
                <a:latin typeface="Roboto Condensed"/>
              </a:rPr>
              <a:t>Attityder</a:t>
            </a:r>
          </a:p>
        </p:txBody>
      </p:sp>
      <p:sp>
        <p:nvSpPr>
          <p:cNvPr id="18" name="Rounded Rectangle 17"/>
          <p:cNvSpPr/>
          <p:nvPr/>
        </p:nvSpPr>
        <p:spPr>
          <a:xfrm>
            <a:off x="8458200" y="4069080"/>
            <a:ext cx="1371600" cy="868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A50D1E"/>
                </a:solidFill>
                <a:latin typeface="Roboto Condensed"/>
              </a:rPr>
              <a:t>B</a:t>
            </a:r>
          </a:p>
          <a:p>
            <a:pPr algn="ctr"/>
            <a:r>
              <a:rPr sz="1500" b="1">
                <a:solidFill>
                  <a:srgbClr val="1A1A1A"/>
                </a:solidFill>
                <a:latin typeface="Roboto Condensed"/>
              </a:rPr>
              <a:t>Beteende</a:t>
            </a:r>
          </a:p>
        </p:txBody>
      </p:sp>
      <p:sp>
        <p:nvSpPr>
          <p:cNvPr id="19" name="Rounded Rectangle 18"/>
          <p:cNvSpPr/>
          <p:nvPr/>
        </p:nvSpPr>
        <p:spPr>
          <a:xfrm>
            <a:off x="10287000" y="4069080"/>
            <a:ext cx="1371600" cy="868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A50D1E"/>
                </a:solidFill>
                <a:latin typeface="Roboto Condensed"/>
              </a:rPr>
              <a:t>C</a:t>
            </a:r>
          </a:p>
          <a:p>
            <a:pPr algn="ctr"/>
            <a:r>
              <a:rPr sz="1500" b="1">
                <a:solidFill>
                  <a:srgbClr val="1A1A1A"/>
                </a:solidFill>
                <a:latin typeface="Roboto Condensed"/>
              </a:rPr>
              <a:t>Motsättning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80811"/>
        </a:solidFill>
        <a:effectLst/>
      </p:bgPr>
    </p:bg>
    <p:spTree>
      <p:nvGrpSpPr>
        <p:cNvPr id="1" name=""/>
        <p:cNvGrpSpPr/>
        <p:nvPr/>
      </p:nvGrpSpPr>
      <p:grpSpPr>
        <a:xfrm>
          <a:off x="0" y="0"/>
          <a:ext cx="0" cy="0"/>
          <a:chOff x="0" y="0"/>
          <a:chExt cx="0" cy="0"/>
        </a:xfrm>
      </p:grpSpPr>
      <p:sp>
        <p:nvSpPr>
          <p:cNvPr id="2" name="Shape 0"/>
          <p:cNvSpPr/>
          <p:nvPr/>
        </p:nvSpPr>
        <p:spPr>
          <a:xfrm>
            <a:off x="7223760" y="822960"/>
            <a:ext cx="6035040" cy="6035040"/>
          </a:xfrm>
          <a:prstGeom prst="ellipse">
            <a:avLst/>
          </a:prstGeom>
          <a:solidFill>
            <a:srgbClr val="A50D1E"/>
          </a:solidFill>
          <a:ln w="12700">
            <a:solidFill>
              <a:srgbClr val="A50D1E"/>
            </a:solidFill>
            <a:prstDash val="solid"/>
          </a:ln>
        </p:spPr>
        <p:txBody>
          <a:bodyPr/>
          <a:lstStyle/>
          <a:p>
            <a:endParaRPr lang="sv-SE"/>
          </a:p>
        </p:txBody>
      </p:sp>
      <p:sp>
        <p:nvSpPr>
          <p:cNvPr id="3" name="Text 1"/>
          <p:cNvSpPr txBox="1"/>
          <p:nvPr/>
        </p:nvSpPr>
        <p:spPr>
          <a:xfrm>
            <a:off x="7223760" y="822960"/>
            <a:ext cx="6035040" cy="6035040"/>
          </a:xfrm>
          <a:prstGeom prst="rect">
            <a:avLst/>
          </a:prstGeom>
          <a:noFill/>
          <a:ln/>
        </p:spPr>
        <p:txBody>
          <a:bodyPr wrap="square" lIns="0" tIns="0" rIns="0" bIns="0" rtlCol="0" anchor="ctr"/>
          <a:lstStyle/>
          <a:p>
            <a:pPr marL="0" indent="0" algn="ctr">
              <a:buNone/>
            </a:pPr>
            <a:r>
              <a:rPr lang="en-US" sz="30000" b="1" dirty="0">
                <a:solidFill>
                  <a:srgbClr val="F8E0D8"/>
                </a:solidFill>
                <a:latin typeface="Roboto Condensed" pitchFamily="34" charset="0"/>
                <a:ea typeface="Roboto Condensed" pitchFamily="34" charset="-122"/>
                <a:cs typeface="Roboto Condensed" pitchFamily="34" charset="-120"/>
              </a:rPr>
              <a:t>2</a:t>
            </a:r>
            <a:endParaRPr lang="en-US" sz="300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marL="0" indent="0">
              <a:buNone/>
            </a:pPr>
            <a:r>
              <a:rPr lang="sv-SE" altLang="en-US" sz="1800" b="1" kern="0" spc="300" dirty="0">
                <a:solidFill>
                  <a:srgbClr val="FFFFFF"/>
                </a:solidFill>
                <a:latin typeface="Roboto Condensed" pitchFamily="34" charset="0"/>
                <a:ea typeface="Roboto Condensed" pitchFamily="34" charset="-122"/>
                <a:cs typeface="Roboto Condensed" pitchFamily="34" charset="-120"/>
              </a:rPr>
              <a:t>DEL 2</a:t>
            </a:r>
            <a:endParaRPr lang="sv-SE" sz="1800" dirty="0"/>
          </a:p>
        </p:txBody>
      </p:sp>
      <p:sp>
        <p:nvSpPr>
          <p:cNvPr id="5" name="Text 3"/>
          <p:cNvSpPr txBox="1"/>
          <p:nvPr/>
        </p:nvSpPr>
        <p:spPr>
          <a:xfrm>
            <a:off x="548640" y="2560320"/>
            <a:ext cx="6583680" cy="1737360"/>
          </a:xfrm>
          <a:prstGeom prst="rect">
            <a:avLst/>
          </a:prstGeom>
          <a:noFill/>
          <a:ln/>
        </p:spPr>
        <p:txBody>
          <a:bodyPr wrap="square" lIns="0" tIns="0" rIns="0" bIns="0" rtlCol="0" anchor="t"/>
          <a:lstStyle/>
          <a:p>
            <a:pPr marL="0" indent="0">
              <a:buNone/>
            </a:pPr>
            <a:r>
              <a:rPr lang="sv-SE" altLang="en-US" sz="5400" b="1" dirty="0">
                <a:solidFill>
                  <a:srgbClr val="FFFFFF"/>
                </a:solidFill>
                <a:latin typeface="Roboto Condensed" pitchFamily="34" charset="0"/>
                <a:ea typeface="Roboto Condensed" pitchFamily="34" charset="-122"/>
                <a:cs typeface="Roboto Condensed" pitchFamily="34" charset="-120"/>
              </a:rPr>
              <a:t>Konflikters eskalation</a:t>
            </a:r>
            <a:endParaRPr lang="sv-SE" sz="5400" dirty="0"/>
          </a:p>
        </p:txBody>
      </p:sp>
      <p:sp>
        <p:nvSpPr>
          <p:cNvPr id="6" name="Text 4"/>
          <p:cNvSpPr txBox="1"/>
          <p:nvPr/>
        </p:nvSpPr>
        <p:spPr>
          <a:xfrm>
            <a:off x="548640" y="3611880"/>
            <a:ext cx="6217920" cy="1463040"/>
          </a:xfrm>
          <a:prstGeom prst="rect">
            <a:avLst/>
          </a:prstGeom>
          <a:noFill/>
          <a:ln/>
        </p:spPr>
        <p:txBody>
          <a:bodyPr wrap="square" lIns="0" tIns="0" rIns="0" bIns="0" rtlCol="0" anchor="t"/>
          <a:lstStyle/>
          <a:p>
            <a:pPr marL="0" indent="0">
              <a:buNone/>
            </a:pPr>
            <a:r>
              <a:rPr lang="sv-SE" altLang="en-US" sz="2200" dirty="0">
                <a:solidFill>
                  <a:srgbClr val="FFFFFF"/>
                </a:solidFill>
                <a:latin typeface="Georgia" pitchFamily="34" charset="0"/>
                <a:ea typeface="Georgia" pitchFamily="34" charset="-122"/>
                <a:cs typeface="Georgia" pitchFamily="34" charset="-120"/>
              </a:rPr>
              <a:t>Glasls konflikttrappa, vilken åtgärd som passar var och vart man vänder sig.</a:t>
            </a:r>
            <a:endParaRPr lang="sv-SE"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3889858"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Glasls konflikttrappa</a:t>
            </a:r>
            <a:endParaRPr lang="sv-SE" sz="3000" dirty="0"/>
          </a:p>
        </p:txBody>
      </p:sp>
      <p:sp>
        <p:nvSpPr>
          <p:cNvPr id="4" name="Shape 1"/>
          <p:cNvSpPr/>
          <p:nvPr/>
        </p:nvSpPr>
        <p:spPr>
          <a:xfrm>
            <a:off x="548640" y="4434840"/>
            <a:ext cx="1170432" cy="1234440"/>
          </a:xfrm>
          <a:prstGeom prst="rect">
            <a:avLst/>
          </a:prstGeom>
          <a:solidFill>
            <a:srgbClr val="005A5F"/>
          </a:solidFill>
          <a:ln w="12700">
            <a:solidFill>
              <a:srgbClr val="005A5F"/>
            </a:solidFill>
            <a:prstDash val="solid"/>
          </a:ln>
        </p:spPr>
        <p:txBody>
          <a:bodyPr/>
          <a:lstStyle/>
          <a:p>
            <a:endParaRPr lang="sv-SE"/>
          </a:p>
        </p:txBody>
      </p:sp>
      <p:sp>
        <p:nvSpPr>
          <p:cNvPr id="5" name="Text 2"/>
          <p:cNvSpPr txBox="1"/>
          <p:nvPr/>
        </p:nvSpPr>
        <p:spPr>
          <a:xfrm>
            <a:off x="640080" y="4507992"/>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1</a:t>
            </a:r>
            <a:endParaRPr lang="sv-SE" sz="2200" dirty="0"/>
          </a:p>
        </p:txBody>
      </p:sp>
      <p:sp>
        <p:nvSpPr>
          <p:cNvPr id="6" name="Text 3"/>
          <p:cNvSpPr txBox="1"/>
          <p:nvPr/>
        </p:nvSpPr>
        <p:spPr>
          <a:xfrm>
            <a:off x="640080" y="4892040"/>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Hårdnande ståndpunkter</a:t>
            </a:r>
            <a:endParaRPr lang="sv-SE" sz="1300" dirty="0"/>
          </a:p>
        </p:txBody>
      </p:sp>
      <p:sp>
        <p:nvSpPr>
          <p:cNvPr id="7" name="Shape 4"/>
          <p:cNvSpPr/>
          <p:nvPr/>
        </p:nvSpPr>
        <p:spPr>
          <a:xfrm>
            <a:off x="1788566" y="4105656"/>
            <a:ext cx="1170432" cy="1563624"/>
          </a:xfrm>
          <a:prstGeom prst="rect">
            <a:avLst/>
          </a:prstGeom>
          <a:solidFill>
            <a:srgbClr val="005A5F"/>
          </a:solidFill>
          <a:ln w="12700">
            <a:solidFill>
              <a:srgbClr val="005A5F"/>
            </a:solidFill>
            <a:prstDash val="solid"/>
          </a:ln>
        </p:spPr>
        <p:txBody>
          <a:bodyPr/>
          <a:lstStyle/>
          <a:p>
            <a:endParaRPr lang="sv-SE"/>
          </a:p>
        </p:txBody>
      </p:sp>
      <p:sp>
        <p:nvSpPr>
          <p:cNvPr id="8" name="Text 5"/>
          <p:cNvSpPr txBox="1"/>
          <p:nvPr/>
        </p:nvSpPr>
        <p:spPr>
          <a:xfrm>
            <a:off x="1880006" y="4178808"/>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2</a:t>
            </a:r>
            <a:endParaRPr lang="sv-SE" sz="2200" dirty="0"/>
          </a:p>
        </p:txBody>
      </p:sp>
      <p:sp>
        <p:nvSpPr>
          <p:cNvPr id="9" name="Text 6"/>
          <p:cNvSpPr txBox="1"/>
          <p:nvPr/>
        </p:nvSpPr>
        <p:spPr>
          <a:xfrm>
            <a:off x="1880006" y="4562856"/>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Polarisering och debatt</a:t>
            </a:r>
            <a:endParaRPr lang="sv-SE" sz="1300" dirty="0"/>
          </a:p>
        </p:txBody>
      </p:sp>
      <p:sp>
        <p:nvSpPr>
          <p:cNvPr id="10" name="Shape 7"/>
          <p:cNvSpPr/>
          <p:nvPr/>
        </p:nvSpPr>
        <p:spPr>
          <a:xfrm>
            <a:off x="3028493" y="3776472"/>
            <a:ext cx="1170432" cy="1892808"/>
          </a:xfrm>
          <a:prstGeom prst="rect">
            <a:avLst/>
          </a:prstGeom>
          <a:solidFill>
            <a:srgbClr val="005A5F"/>
          </a:solidFill>
          <a:ln w="12700">
            <a:solidFill>
              <a:srgbClr val="005A5F"/>
            </a:solidFill>
            <a:prstDash val="solid"/>
          </a:ln>
        </p:spPr>
        <p:txBody>
          <a:bodyPr/>
          <a:lstStyle/>
          <a:p>
            <a:endParaRPr lang="sv-SE"/>
          </a:p>
        </p:txBody>
      </p:sp>
      <p:sp>
        <p:nvSpPr>
          <p:cNvPr id="11" name="Text 8"/>
          <p:cNvSpPr txBox="1"/>
          <p:nvPr/>
        </p:nvSpPr>
        <p:spPr>
          <a:xfrm>
            <a:off x="3119933" y="3849624"/>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3</a:t>
            </a:r>
            <a:endParaRPr lang="sv-SE" sz="2200" dirty="0"/>
          </a:p>
        </p:txBody>
      </p:sp>
      <p:sp>
        <p:nvSpPr>
          <p:cNvPr id="12" name="Text 9"/>
          <p:cNvSpPr txBox="1"/>
          <p:nvPr/>
        </p:nvSpPr>
        <p:spPr>
          <a:xfrm>
            <a:off x="3119933" y="4233672"/>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Handling i stället för ord</a:t>
            </a:r>
            <a:endParaRPr lang="sv-SE" sz="1300" dirty="0"/>
          </a:p>
        </p:txBody>
      </p:sp>
      <p:sp>
        <p:nvSpPr>
          <p:cNvPr id="13" name="Shape 10"/>
          <p:cNvSpPr/>
          <p:nvPr/>
        </p:nvSpPr>
        <p:spPr>
          <a:xfrm>
            <a:off x="4268419" y="3447288"/>
            <a:ext cx="1170432" cy="2221992"/>
          </a:xfrm>
          <a:prstGeom prst="rect">
            <a:avLst/>
          </a:prstGeom>
          <a:solidFill>
            <a:srgbClr val="B00818"/>
          </a:solidFill>
          <a:ln w="12700">
            <a:solidFill>
              <a:srgbClr val="B00818"/>
            </a:solidFill>
            <a:prstDash val="solid"/>
          </a:ln>
        </p:spPr>
        <p:txBody>
          <a:bodyPr/>
          <a:lstStyle/>
          <a:p>
            <a:endParaRPr lang="sv-SE"/>
          </a:p>
        </p:txBody>
      </p:sp>
      <p:sp>
        <p:nvSpPr>
          <p:cNvPr id="14" name="Text 11"/>
          <p:cNvSpPr txBox="1"/>
          <p:nvPr/>
        </p:nvSpPr>
        <p:spPr>
          <a:xfrm>
            <a:off x="4359859" y="3520440"/>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4</a:t>
            </a:r>
            <a:endParaRPr lang="sv-SE" sz="2200" dirty="0"/>
          </a:p>
        </p:txBody>
      </p:sp>
      <p:sp>
        <p:nvSpPr>
          <p:cNvPr id="15" name="Text 12"/>
          <p:cNvSpPr txBox="1"/>
          <p:nvPr/>
        </p:nvSpPr>
        <p:spPr>
          <a:xfrm>
            <a:off x="4359859" y="3904488"/>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Värnad image och koalitioner</a:t>
            </a:r>
            <a:endParaRPr lang="sv-SE" sz="1300" dirty="0"/>
          </a:p>
        </p:txBody>
      </p:sp>
      <p:sp>
        <p:nvSpPr>
          <p:cNvPr id="16" name="Shape 13"/>
          <p:cNvSpPr/>
          <p:nvPr/>
        </p:nvSpPr>
        <p:spPr>
          <a:xfrm>
            <a:off x="5508346" y="3118104"/>
            <a:ext cx="1170432" cy="2551176"/>
          </a:xfrm>
          <a:prstGeom prst="rect">
            <a:avLst/>
          </a:prstGeom>
          <a:solidFill>
            <a:srgbClr val="B00818"/>
          </a:solidFill>
          <a:ln w="12700">
            <a:solidFill>
              <a:srgbClr val="B00818"/>
            </a:solidFill>
            <a:prstDash val="solid"/>
          </a:ln>
        </p:spPr>
        <p:txBody>
          <a:bodyPr/>
          <a:lstStyle/>
          <a:p>
            <a:endParaRPr lang="sv-SE"/>
          </a:p>
        </p:txBody>
      </p:sp>
      <p:sp>
        <p:nvSpPr>
          <p:cNvPr id="17" name="Text 14"/>
          <p:cNvSpPr txBox="1"/>
          <p:nvPr/>
        </p:nvSpPr>
        <p:spPr>
          <a:xfrm>
            <a:off x="5599786" y="3191256"/>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5</a:t>
            </a:r>
            <a:endParaRPr lang="sv-SE" sz="2200" dirty="0"/>
          </a:p>
        </p:txBody>
      </p:sp>
      <p:sp>
        <p:nvSpPr>
          <p:cNvPr id="18" name="Text 15"/>
          <p:cNvSpPr txBox="1"/>
          <p:nvPr/>
        </p:nvSpPr>
        <p:spPr>
          <a:xfrm>
            <a:off x="5599786" y="3575304"/>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Ansiktsförlust</a:t>
            </a:r>
            <a:endParaRPr lang="sv-SE" sz="1300" dirty="0"/>
          </a:p>
        </p:txBody>
      </p:sp>
      <p:sp>
        <p:nvSpPr>
          <p:cNvPr id="19" name="Shape 16"/>
          <p:cNvSpPr/>
          <p:nvPr/>
        </p:nvSpPr>
        <p:spPr>
          <a:xfrm>
            <a:off x="6748272" y="2788920"/>
            <a:ext cx="1170432" cy="2880360"/>
          </a:xfrm>
          <a:prstGeom prst="rect">
            <a:avLst/>
          </a:prstGeom>
          <a:solidFill>
            <a:srgbClr val="B00818"/>
          </a:solidFill>
          <a:ln w="12700">
            <a:solidFill>
              <a:srgbClr val="B00818"/>
            </a:solidFill>
            <a:prstDash val="solid"/>
          </a:ln>
        </p:spPr>
        <p:txBody>
          <a:bodyPr/>
          <a:lstStyle/>
          <a:p>
            <a:endParaRPr lang="sv-SE"/>
          </a:p>
        </p:txBody>
      </p:sp>
      <p:sp>
        <p:nvSpPr>
          <p:cNvPr id="20" name="Text 17"/>
          <p:cNvSpPr txBox="1"/>
          <p:nvPr/>
        </p:nvSpPr>
        <p:spPr>
          <a:xfrm>
            <a:off x="6839712" y="2862072"/>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6</a:t>
            </a:r>
            <a:endParaRPr lang="sv-SE" sz="2200" dirty="0"/>
          </a:p>
        </p:txBody>
      </p:sp>
      <p:sp>
        <p:nvSpPr>
          <p:cNvPr id="21" name="Text 18"/>
          <p:cNvSpPr txBox="1"/>
          <p:nvPr/>
        </p:nvSpPr>
        <p:spPr>
          <a:xfrm>
            <a:off x="6839712" y="3246120"/>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Strategiska hot</a:t>
            </a:r>
            <a:endParaRPr lang="sv-SE" sz="1300" dirty="0"/>
          </a:p>
        </p:txBody>
      </p:sp>
      <p:sp>
        <p:nvSpPr>
          <p:cNvPr id="22" name="Shape 19"/>
          <p:cNvSpPr/>
          <p:nvPr/>
        </p:nvSpPr>
        <p:spPr>
          <a:xfrm>
            <a:off x="7988198" y="2459736"/>
            <a:ext cx="1170432" cy="3209544"/>
          </a:xfrm>
          <a:prstGeom prst="rect">
            <a:avLst/>
          </a:prstGeom>
          <a:solidFill>
            <a:srgbClr val="7A0A16"/>
          </a:solidFill>
          <a:ln w="12700">
            <a:solidFill>
              <a:srgbClr val="7A0A16"/>
            </a:solidFill>
            <a:prstDash val="solid"/>
          </a:ln>
        </p:spPr>
        <p:txBody>
          <a:bodyPr/>
          <a:lstStyle/>
          <a:p>
            <a:endParaRPr lang="sv-SE"/>
          </a:p>
        </p:txBody>
      </p:sp>
      <p:sp>
        <p:nvSpPr>
          <p:cNvPr id="23" name="Text 20"/>
          <p:cNvSpPr txBox="1"/>
          <p:nvPr/>
        </p:nvSpPr>
        <p:spPr>
          <a:xfrm>
            <a:off x="8079638" y="2532888"/>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7</a:t>
            </a:r>
            <a:endParaRPr lang="sv-SE" sz="2200" dirty="0"/>
          </a:p>
        </p:txBody>
      </p:sp>
      <p:sp>
        <p:nvSpPr>
          <p:cNvPr id="24" name="Text 21"/>
          <p:cNvSpPr txBox="1"/>
          <p:nvPr/>
        </p:nvSpPr>
        <p:spPr>
          <a:xfrm>
            <a:off x="8079638" y="2916936"/>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Begränsade förintelseslag</a:t>
            </a:r>
            <a:endParaRPr lang="sv-SE" sz="1300" dirty="0"/>
          </a:p>
        </p:txBody>
      </p:sp>
      <p:sp>
        <p:nvSpPr>
          <p:cNvPr id="25" name="Shape 22"/>
          <p:cNvSpPr/>
          <p:nvPr/>
        </p:nvSpPr>
        <p:spPr>
          <a:xfrm>
            <a:off x="9228125" y="2130552"/>
            <a:ext cx="1170432" cy="3538728"/>
          </a:xfrm>
          <a:prstGeom prst="rect">
            <a:avLst/>
          </a:prstGeom>
          <a:solidFill>
            <a:srgbClr val="7A0A16"/>
          </a:solidFill>
          <a:ln w="12700">
            <a:solidFill>
              <a:srgbClr val="7A0A16"/>
            </a:solidFill>
            <a:prstDash val="solid"/>
          </a:ln>
        </p:spPr>
        <p:txBody>
          <a:bodyPr/>
          <a:lstStyle/>
          <a:p>
            <a:endParaRPr lang="sv-SE"/>
          </a:p>
        </p:txBody>
      </p:sp>
      <p:sp>
        <p:nvSpPr>
          <p:cNvPr id="26" name="Text 23"/>
          <p:cNvSpPr txBox="1"/>
          <p:nvPr/>
        </p:nvSpPr>
        <p:spPr>
          <a:xfrm>
            <a:off x="9319565" y="2203704"/>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8</a:t>
            </a:r>
            <a:endParaRPr lang="sv-SE" sz="2200" dirty="0"/>
          </a:p>
        </p:txBody>
      </p:sp>
      <p:sp>
        <p:nvSpPr>
          <p:cNvPr id="27" name="Text 24"/>
          <p:cNvSpPr txBox="1"/>
          <p:nvPr/>
        </p:nvSpPr>
        <p:spPr>
          <a:xfrm>
            <a:off x="9319565" y="2587752"/>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Attack mot nervcentra</a:t>
            </a:r>
            <a:endParaRPr lang="sv-SE" sz="1300" dirty="0"/>
          </a:p>
        </p:txBody>
      </p:sp>
      <p:sp>
        <p:nvSpPr>
          <p:cNvPr id="28" name="Shape 25"/>
          <p:cNvSpPr/>
          <p:nvPr/>
        </p:nvSpPr>
        <p:spPr>
          <a:xfrm>
            <a:off x="10468051" y="1801368"/>
            <a:ext cx="1170432" cy="3867912"/>
          </a:xfrm>
          <a:prstGeom prst="rect">
            <a:avLst/>
          </a:prstGeom>
          <a:solidFill>
            <a:srgbClr val="7A0A16"/>
          </a:solidFill>
          <a:ln w="12700">
            <a:solidFill>
              <a:srgbClr val="7A0A16"/>
            </a:solidFill>
            <a:prstDash val="solid"/>
          </a:ln>
        </p:spPr>
        <p:txBody>
          <a:bodyPr/>
          <a:lstStyle/>
          <a:p>
            <a:endParaRPr lang="sv-SE"/>
          </a:p>
        </p:txBody>
      </p:sp>
      <p:sp>
        <p:nvSpPr>
          <p:cNvPr id="29" name="Text 26"/>
          <p:cNvSpPr txBox="1"/>
          <p:nvPr/>
        </p:nvSpPr>
        <p:spPr>
          <a:xfrm>
            <a:off x="10559491" y="1874520"/>
            <a:ext cx="987552" cy="365760"/>
          </a:xfrm>
          <a:prstGeom prst="rect">
            <a:avLst/>
          </a:prstGeom>
          <a:noFill/>
          <a:ln/>
        </p:spPr>
        <p:txBody>
          <a:bodyPr wrap="square" lIns="0" tIns="0" rIns="0" bIns="0" rtlCol="0" anchor="t"/>
          <a:lstStyle/>
          <a:p>
            <a:pPr marL="0" indent="0">
              <a:buNone/>
            </a:pPr>
            <a:r>
              <a:rPr lang="sv-SE" altLang="en-US" sz="2200" b="1" dirty="0">
                <a:solidFill>
                  <a:srgbClr val="FFFFFF"/>
                </a:solidFill>
                <a:latin typeface="Roboto Condensed" pitchFamily="34" charset="0"/>
                <a:ea typeface="Roboto Condensed" pitchFamily="34" charset="-122"/>
                <a:cs typeface="Roboto Condensed" pitchFamily="34" charset="-120"/>
              </a:rPr>
              <a:t>9</a:t>
            </a:r>
            <a:endParaRPr lang="sv-SE" sz="2200" dirty="0"/>
          </a:p>
        </p:txBody>
      </p:sp>
      <p:sp>
        <p:nvSpPr>
          <p:cNvPr id="30" name="Text 27"/>
          <p:cNvSpPr txBox="1"/>
          <p:nvPr/>
        </p:nvSpPr>
        <p:spPr>
          <a:xfrm>
            <a:off x="10559491" y="2258568"/>
            <a:ext cx="1005840" cy="731520"/>
          </a:xfrm>
          <a:prstGeom prst="rect">
            <a:avLst/>
          </a:prstGeom>
          <a:noFill/>
          <a:ln/>
        </p:spPr>
        <p:txBody>
          <a:bodyPr wrap="square" lIns="0" tIns="0" rIns="0" bIns="0" rtlCol="0" anchor="t"/>
          <a:lstStyle/>
          <a:p>
            <a:pPr marL="0" indent="0">
              <a:buNone/>
            </a:pPr>
            <a:r>
              <a:rPr lang="sv-SE" altLang="en-US" sz="1300" dirty="0">
                <a:solidFill>
                  <a:srgbClr val="FFFFFF"/>
                </a:solidFill>
                <a:latin typeface="Roboto Condensed" pitchFamily="34" charset="0"/>
                <a:ea typeface="Roboto Condensed" pitchFamily="34" charset="-122"/>
                <a:cs typeface="Roboto Condensed" pitchFamily="34" charset="-120"/>
              </a:rPr>
              <a:t>Total förintelse</a:t>
            </a:r>
            <a:endParaRPr lang="sv-SE" sz="1300" dirty="0"/>
          </a:p>
        </p:txBody>
      </p:sp>
      <p:sp>
        <p:nvSpPr>
          <p:cNvPr id="31" name="Shape 28"/>
          <p:cNvSpPr/>
          <p:nvPr/>
        </p:nvSpPr>
        <p:spPr>
          <a:xfrm>
            <a:off x="548640" y="5742432"/>
            <a:ext cx="3650285" cy="45720"/>
          </a:xfrm>
          <a:prstGeom prst="rect">
            <a:avLst/>
          </a:prstGeom>
          <a:solidFill>
            <a:srgbClr val="005A5F"/>
          </a:solidFill>
          <a:ln w="12700">
            <a:solidFill>
              <a:srgbClr val="005A5F"/>
            </a:solidFill>
            <a:prstDash val="solid"/>
          </a:ln>
        </p:spPr>
        <p:txBody>
          <a:bodyPr/>
          <a:lstStyle/>
          <a:p>
            <a:endParaRPr lang="sv-SE"/>
          </a:p>
        </p:txBody>
      </p:sp>
      <p:sp>
        <p:nvSpPr>
          <p:cNvPr id="32" name="Text 29"/>
          <p:cNvSpPr txBox="1"/>
          <p:nvPr/>
        </p:nvSpPr>
        <p:spPr>
          <a:xfrm>
            <a:off x="548640" y="5833872"/>
            <a:ext cx="3657600" cy="365760"/>
          </a:xfrm>
          <a:prstGeom prst="rect">
            <a:avLst/>
          </a:prstGeom>
          <a:noFill/>
          <a:ln/>
        </p:spPr>
        <p:txBody>
          <a:bodyPr wrap="square" lIns="0" tIns="0" rIns="0" bIns="0" rtlCol="0" anchor="t"/>
          <a:lstStyle/>
          <a:p>
            <a:pPr marL="0" indent="0">
              <a:buNone/>
            </a:pPr>
            <a:r>
              <a:rPr lang="sv-SE" altLang="en-US" sz="1800" b="1" dirty="0">
                <a:solidFill>
                  <a:srgbClr val="005A5F"/>
                </a:solidFill>
                <a:latin typeface="Roboto Condensed" pitchFamily="34" charset="0"/>
                <a:ea typeface="Roboto Condensed" pitchFamily="34" charset="-122"/>
                <a:cs typeface="Roboto Condensed" pitchFamily="34" charset="-120"/>
              </a:rPr>
              <a:t>Fas 1 · Vinna–vinna</a:t>
            </a:r>
            <a:endParaRPr lang="sv-SE" sz="1800" dirty="0"/>
          </a:p>
        </p:txBody>
      </p:sp>
      <p:sp>
        <p:nvSpPr>
          <p:cNvPr id="33" name="Shape 30"/>
          <p:cNvSpPr/>
          <p:nvPr/>
        </p:nvSpPr>
        <p:spPr>
          <a:xfrm>
            <a:off x="4268419" y="5742432"/>
            <a:ext cx="3650285" cy="45720"/>
          </a:xfrm>
          <a:prstGeom prst="rect">
            <a:avLst/>
          </a:prstGeom>
          <a:solidFill>
            <a:srgbClr val="B00818"/>
          </a:solidFill>
          <a:ln w="12700">
            <a:solidFill>
              <a:srgbClr val="B00818"/>
            </a:solidFill>
            <a:prstDash val="solid"/>
          </a:ln>
        </p:spPr>
        <p:txBody>
          <a:bodyPr/>
          <a:lstStyle/>
          <a:p>
            <a:endParaRPr lang="sv-SE"/>
          </a:p>
        </p:txBody>
      </p:sp>
      <p:sp>
        <p:nvSpPr>
          <p:cNvPr id="34" name="Text 31"/>
          <p:cNvSpPr txBox="1"/>
          <p:nvPr/>
        </p:nvSpPr>
        <p:spPr>
          <a:xfrm>
            <a:off x="4268419" y="5833872"/>
            <a:ext cx="3657600" cy="365760"/>
          </a:xfrm>
          <a:prstGeom prst="rect">
            <a:avLst/>
          </a:prstGeom>
          <a:noFill/>
          <a:ln/>
        </p:spPr>
        <p:txBody>
          <a:bodyPr wrap="square" lIns="0" tIns="0" rIns="0" bIns="0" rtlCol="0" anchor="t"/>
          <a:lstStyle/>
          <a:p>
            <a:pPr marL="0" indent="0">
              <a:buNone/>
            </a:pPr>
            <a:r>
              <a:rPr lang="sv-SE" altLang="en-US" sz="1800" b="1" dirty="0">
                <a:solidFill>
                  <a:srgbClr val="B00818"/>
                </a:solidFill>
                <a:latin typeface="Roboto Condensed" pitchFamily="34" charset="0"/>
                <a:ea typeface="Roboto Condensed" pitchFamily="34" charset="-122"/>
                <a:cs typeface="Roboto Condensed" pitchFamily="34" charset="-120"/>
              </a:rPr>
              <a:t>Fas 2 · Vinna–förlora</a:t>
            </a:r>
            <a:endParaRPr lang="sv-SE" sz="1800" dirty="0"/>
          </a:p>
        </p:txBody>
      </p:sp>
      <p:sp>
        <p:nvSpPr>
          <p:cNvPr id="35" name="Shape 32"/>
          <p:cNvSpPr/>
          <p:nvPr/>
        </p:nvSpPr>
        <p:spPr>
          <a:xfrm>
            <a:off x="7988198" y="5742432"/>
            <a:ext cx="3650285" cy="45720"/>
          </a:xfrm>
          <a:prstGeom prst="rect">
            <a:avLst/>
          </a:prstGeom>
          <a:solidFill>
            <a:srgbClr val="7A0A16"/>
          </a:solidFill>
          <a:ln w="12700">
            <a:solidFill>
              <a:srgbClr val="7A0A16"/>
            </a:solidFill>
            <a:prstDash val="solid"/>
          </a:ln>
        </p:spPr>
        <p:txBody>
          <a:bodyPr/>
          <a:lstStyle/>
          <a:p>
            <a:endParaRPr lang="sv-SE"/>
          </a:p>
        </p:txBody>
      </p:sp>
      <p:sp>
        <p:nvSpPr>
          <p:cNvPr id="36" name="Text 33"/>
          <p:cNvSpPr txBox="1"/>
          <p:nvPr/>
        </p:nvSpPr>
        <p:spPr>
          <a:xfrm>
            <a:off x="7988198" y="5833872"/>
            <a:ext cx="3657600" cy="365760"/>
          </a:xfrm>
          <a:prstGeom prst="rect">
            <a:avLst/>
          </a:prstGeom>
          <a:noFill/>
          <a:ln/>
        </p:spPr>
        <p:txBody>
          <a:bodyPr wrap="square" lIns="0" tIns="0" rIns="0" bIns="0" rtlCol="0" anchor="t"/>
          <a:lstStyle/>
          <a:p>
            <a:pPr marL="0" indent="0">
              <a:buNone/>
            </a:pPr>
            <a:r>
              <a:rPr lang="sv-SE" altLang="en-US" sz="1800" b="1" dirty="0">
                <a:solidFill>
                  <a:srgbClr val="7A0A16"/>
                </a:solidFill>
                <a:latin typeface="Roboto Condensed" pitchFamily="34" charset="0"/>
                <a:ea typeface="Roboto Condensed" pitchFamily="34" charset="-122"/>
                <a:cs typeface="Roboto Condensed" pitchFamily="34" charset="-120"/>
              </a:rPr>
              <a:t>Fas 3 · Förlora–förlora</a:t>
            </a:r>
            <a:endParaRPr lang="sv-SE" sz="1800" dirty="0"/>
          </a:p>
        </p:txBody>
      </p:sp>
      <p:sp>
        <p:nvSpPr>
          <p:cNvPr id="37" name="Text 34"/>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Glasl (1982, 1997). En erfarenhetsbaserad karta från Glasls arbete med konflikter, inte en statistiskt prövad modell.</a:t>
            </a:r>
            <a:endParaRPr lang="sv-SE"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5003597"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Fyra trösklar att känna igen</a:t>
            </a:r>
            <a:endParaRPr lang="sv-SE" sz="3000" dirty="0"/>
          </a:p>
        </p:txBody>
      </p:sp>
      <p:sp>
        <p:nvSpPr>
          <p:cNvPr id="4" name="Text 1"/>
          <p:cNvSpPr txBox="1"/>
          <p:nvPr/>
        </p:nvSpPr>
        <p:spPr>
          <a:xfrm>
            <a:off x="548640" y="1371600"/>
            <a:ext cx="9875520" cy="68580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Varje steg har en tröskel. Den som känner igen den kan välja att inte kliva över.</a:t>
            </a:r>
            <a:endParaRPr lang="sv-SE" sz="1900" dirty="0"/>
          </a:p>
        </p:txBody>
      </p:sp>
      <p:sp>
        <p:nvSpPr>
          <p:cNvPr id="5" name="Shape 2"/>
          <p:cNvSpPr/>
          <p:nvPr/>
        </p:nvSpPr>
        <p:spPr>
          <a:xfrm>
            <a:off x="548640" y="2148840"/>
            <a:ext cx="2602154" cy="301752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777240" y="2331720"/>
            <a:ext cx="2144954" cy="274320"/>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STEG 1 TILL 2</a:t>
            </a:r>
            <a:endParaRPr lang="sv-SE" sz="1400" dirty="0"/>
          </a:p>
        </p:txBody>
      </p:sp>
      <p:sp>
        <p:nvSpPr>
          <p:cNvPr id="7" name="Text 4"/>
          <p:cNvSpPr txBox="1"/>
          <p:nvPr/>
        </p:nvSpPr>
        <p:spPr>
          <a:xfrm>
            <a:off x="777240" y="2670048"/>
            <a:ext cx="2144954"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Knep i stället för argument</a:t>
            </a:r>
            <a:endParaRPr lang="sv-SE" sz="2200" dirty="0"/>
          </a:p>
        </p:txBody>
      </p:sp>
      <p:sp>
        <p:nvSpPr>
          <p:cNvPr id="8" name="Text 5"/>
          <p:cNvSpPr txBox="1"/>
          <p:nvPr/>
        </p:nvSpPr>
        <p:spPr>
          <a:xfrm>
            <a:off x="777240" y="3520440"/>
            <a:ext cx="2144954" cy="15544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Någon slutar tro på ärlig argumentation: överdrifter, hänvisningar till auktoriteter, försök att reta upp den andre.</a:t>
            </a:r>
            <a:endParaRPr lang="sv-SE" sz="1650" dirty="0"/>
          </a:p>
        </p:txBody>
      </p:sp>
      <p:sp>
        <p:nvSpPr>
          <p:cNvPr id="9" name="Shape 6"/>
          <p:cNvSpPr/>
          <p:nvPr/>
        </p:nvSpPr>
        <p:spPr>
          <a:xfrm>
            <a:off x="3379394" y="2148840"/>
            <a:ext cx="2602154" cy="301752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10" name="Text 7"/>
          <p:cNvSpPr txBox="1"/>
          <p:nvPr/>
        </p:nvSpPr>
        <p:spPr>
          <a:xfrm>
            <a:off x="3607994" y="2331720"/>
            <a:ext cx="2144954" cy="274320"/>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STEG 2 TILL 3</a:t>
            </a:r>
            <a:endParaRPr lang="sv-SE" sz="1400" dirty="0"/>
          </a:p>
        </p:txBody>
      </p:sp>
      <p:sp>
        <p:nvSpPr>
          <p:cNvPr id="11" name="Text 8"/>
          <p:cNvSpPr txBox="1"/>
          <p:nvPr/>
        </p:nvSpPr>
        <p:spPr>
          <a:xfrm>
            <a:off x="3607994" y="2670048"/>
            <a:ext cx="2144954"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Fullbordat faktum</a:t>
            </a:r>
            <a:endParaRPr lang="sv-SE" sz="2200" dirty="0"/>
          </a:p>
        </p:txBody>
      </p:sp>
      <p:sp>
        <p:nvSpPr>
          <p:cNvPr id="12" name="Text 9"/>
          <p:cNvSpPr txBox="1"/>
          <p:nvPr/>
        </p:nvSpPr>
        <p:spPr>
          <a:xfrm>
            <a:off x="3607994" y="3520440"/>
            <a:ext cx="2144954" cy="15544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En part agerar utan att fråga den andra. Handling har ersatt samtal.</a:t>
            </a:r>
            <a:endParaRPr lang="sv-SE" sz="1650" dirty="0"/>
          </a:p>
        </p:txBody>
      </p:sp>
      <p:sp>
        <p:nvSpPr>
          <p:cNvPr id="13" name="Shape 10"/>
          <p:cNvSpPr/>
          <p:nvPr/>
        </p:nvSpPr>
        <p:spPr>
          <a:xfrm>
            <a:off x="6210148" y="2148840"/>
            <a:ext cx="2602154" cy="301752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14" name="Text 11"/>
          <p:cNvSpPr txBox="1"/>
          <p:nvPr/>
        </p:nvSpPr>
        <p:spPr>
          <a:xfrm>
            <a:off x="6438748" y="2331720"/>
            <a:ext cx="2144954"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3 TILL 4</a:t>
            </a:r>
            <a:endParaRPr lang="sv-SE" sz="1400" dirty="0"/>
          </a:p>
        </p:txBody>
      </p:sp>
      <p:sp>
        <p:nvSpPr>
          <p:cNvPr id="15" name="Text 12"/>
          <p:cNvSpPr txBox="1"/>
          <p:nvPr/>
        </p:nvSpPr>
        <p:spPr>
          <a:xfrm>
            <a:off x="6438748" y="2670048"/>
            <a:ext cx="2144954"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Förtäckta personangrepp</a:t>
            </a:r>
            <a:endParaRPr lang="sv-SE" sz="2200" dirty="0"/>
          </a:p>
        </p:txBody>
      </p:sp>
      <p:sp>
        <p:nvSpPr>
          <p:cNvPr id="16" name="Text 13"/>
          <p:cNvSpPr txBox="1"/>
          <p:nvPr/>
        </p:nvSpPr>
        <p:spPr>
          <a:xfrm>
            <a:off x="6438748" y="3520440"/>
            <a:ext cx="2144954" cy="15544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Ironi, antydningar, dubbla budskap. Kritiken gäller nu personen, inte saken.</a:t>
            </a:r>
            <a:endParaRPr lang="sv-SE" sz="1650" dirty="0"/>
          </a:p>
        </p:txBody>
      </p:sp>
      <p:sp>
        <p:nvSpPr>
          <p:cNvPr id="17" name="Shape 14"/>
          <p:cNvSpPr/>
          <p:nvPr/>
        </p:nvSpPr>
        <p:spPr>
          <a:xfrm>
            <a:off x="9040901" y="2148840"/>
            <a:ext cx="2602154" cy="3017520"/>
          </a:xfrm>
          <a:prstGeom prst="roundRect">
            <a:avLst>
              <a:gd name="adj" fmla="val 3514"/>
            </a:avLst>
          </a:prstGeom>
          <a:solidFill>
            <a:srgbClr val="F2F0EF"/>
          </a:solidFill>
          <a:ln w="12700">
            <a:solidFill>
              <a:srgbClr val="F2F0EF"/>
            </a:solidFill>
            <a:prstDash val="solid"/>
          </a:ln>
        </p:spPr>
        <p:txBody>
          <a:bodyPr/>
          <a:lstStyle/>
          <a:p>
            <a:endParaRPr lang="sv-SE"/>
          </a:p>
        </p:txBody>
      </p:sp>
      <p:sp>
        <p:nvSpPr>
          <p:cNvPr id="18" name="Text 15"/>
          <p:cNvSpPr txBox="1"/>
          <p:nvPr/>
        </p:nvSpPr>
        <p:spPr>
          <a:xfrm>
            <a:off x="9269501" y="2331720"/>
            <a:ext cx="2144954" cy="274320"/>
          </a:xfrm>
          <a:prstGeom prst="rect">
            <a:avLst/>
          </a:prstGeom>
          <a:noFill/>
          <a:ln/>
        </p:spPr>
        <p:txBody>
          <a:bodyPr wrap="square" lIns="0" tIns="0" rIns="0" bIns="0" rtlCol="0" anchor="t"/>
          <a:lstStyle/>
          <a:p>
            <a:pPr marL="0" indent="0">
              <a:buNone/>
            </a:pPr>
            <a:r>
              <a:rPr lang="sv-SE" altLang="en-US" sz="1400" b="1" kern="0" spc="200" dirty="0">
                <a:solidFill>
                  <a:srgbClr val="7A0A16"/>
                </a:solidFill>
                <a:latin typeface="Roboto Condensed" pitchFamily="34" charset="0"/>
                <a:ea typeface="Roboto Condensed" pitchFamily="34" charset="-122"/>
                <a:cs typeface="Roboto Condensed" pitchFamily="34" charset="-120"/>
              </a:rPr>
              <a:t>STEG 4 TILL 5</a:t>
            </a:r>
            <a:endParaRPr lang="sv-SE" sz="1400" dirty="0"/>
          </a:p>
        </p:txBody>
      </p:sp>
      <p:sp>
        <p:nvSpPr>
          <p:cNvPr id="19" name="Text 16"/>
          <p:cNvSpPr txBox="1"/>
          <p:nvPr/>
        </p:nvSpPr>
        <p:spPr>
          <a:xfrm>
            <a:off x="9269501" y="2670048"/>
            <a:ext cx="2144954"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Offentlig kränkning</a:t>
            </a:r>
            <a:endParaRPr lang="sv-SE" sz="2200" dirty="0"/>
          </a:p>
        </p:txBody>
      </p:sp>
      <p:sp>
        <p:nvSpPr>
          <p:cNvPr id="20" name="Text 17"/>
          <p:cNvSpPr txBox="1"/>
          <p:nvPr/>
        </p:nvSpPr>
        <p:spPr>
          <a:xfrm>
            <a:off x="9269501" y="3520440"/>
            <a:ext cx="2144954" cy="155448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Någon skadar avsiktligt den andres anseende inför andra. Härifrån är det mycket svårt att backa.</a:t>
            </a:r>
            <a:endParaRPr lang="sv-SE" sz="1650" dirty="0"/>
          </a:p>
        </p:txBody>
      </p:sp>
      <p:sp>
        <p:nvSpPr>
          <p:cNvPr id="21" name="Shape 18"/>
          <p:cNvSpPr/>
          <p:nvPr/>
        </p:nvSpPr>
        <p:spPr>
          <a:xfrm>
            <a:off x="548640" y="5349240"/>
            <a:ext cx="11094415" cy="868680"/>
          </a:xfrm>
          <a:prstGeom prst="roundRect">
            <a:avLst>
              <a:gd name="adj" fmla="val 10526"/>
            </a:avLst>
          </a:prstGeom>
          <a:solidFill>
            <a:srgbClr val="E6F5F6"/>
          </a:solidFill>
          <a:ln w="12700">
            <a:solidFill>
              <a:srgbClr val="E6F5F6"/>
            </a:solidFill>
            <a:prstDash val="solid"/>
          </a:ln>
        </p:spPr>
        <p:txBody>
          <a:bodyPr/>
          <a:lstStyle/>
          <a:p>
            <a:endParaRPr lang="sv-SE"/>
          </a:p>
        </p:txBody>
      </p:sp>
      <p:sp>
        <p:nvSpPr>
          <p:cNvPr id="22" name="Text 19"/>
          <p:cNvSpPr txBox="1"/>
          <p:nvPr/>
        </p:nvSpPr>
        <p:spPr>
          <a:xfrm>
            <a:off x="868680" y="5349240"/>
            <a:ext cx="10454335" cy="868680"/>
          </a:xfrm>
          <a:prstGeom prst="rect">
            <a:avLst/>
          </a:prstGeom>
          <a:noFill/>
          <a:ln/>
        </p:spPr>
        <p:txBody>
          <a:bodyPr wrap="square" lIns="0" tIns="0" rIns="0" bIns="0" rtlCol="0" anchor="ctr"/>
          <a:lstStyle/>
          <a:p>
            <a:pPr marL="0" indent="0">
              <a:buNone/>
            </a:pPr>
            <a:r>
              <a:rPr lang="sv-SE" altLang="en-US" sz="1800" b="1" dirty="0">
                <a:solidFill>
                  <a:srgbClr val="005A5F"/>
                </a:solidFill>
                <a:latin typeface="Roboto Condensed" pitchFamily="34" charset="0"/>
                <a:ea typeface="Roboto Condensed" pitchFamily="34" charset="-122"/>
                <a:cs typeface="Roboto Condensed" pitchFamily="34" charset="-120"/>
              </a:rPr>
              <a:t>Under tiden, inom oss:  </a:t>
            </a:r>
            <a:r>
              <a:rPr lang="sv-SE" altLang="en-US" sz="1700" dirty="0">
                <a:solidFill>
                  <a:srgbClr val="1A1A1A"/>
                </a:solidFill>
                <a:latin typeface="Roboto Condensed" pitchFamily="34" charset="0"/>
                <a:ea typeface="Roboto Condensed" pitchFamily="34" charset="-122"/>
                <a:cs typeface="Roboto Condensed" pitchFamily="34" charset="-120"/>
              </a:rPr>
              <a:t>perspektivet krymper, empatin minskar, och målet glider från egna intressen till att vinna över den andre. Det sker utan att vi märker det.</a:t>
            </a:r>
            <a:endParaRPr lang="sv-SE"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VAD FORSKNINGEN LÄGGER TILL</a:t>
            </a:r>
            <a:endParaRPr lang="sv-SE" sz="1400" dirty="0"/>
          </a:p>
        </p:txBody>
      </p:sp>
      <p:sp>
        <p:nvSpPr>
          <p:cNvPr id="4" name="Text 1"/>
          <p:cNvSpPr txBox="1"/>
          <p:nvPr/>
        </p:nvSpPr>
        <p:spPr>
          <a:xfrm rot="21480000">
            <a:off x="548640" y="502920"/>
            <a:ext cx="6594653"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Olika konflikter kräver olika åtgärder</a:t>
            </a:r>
            <a:endParaRPr lang="sv-SE" sz="3000" dirty="0"/>
          </a:p>
        </p:txBody>
      </p:sp>
      <p:sp>
        <p:nvSpPr>
          <p:cNvPr id="5" name="Shape 2"/>
          <p:cNvSpPr/>
          <p:nvPr/>
        </p:nvSpPr>
        <p:spPr>
          <a:xfrm>
            <a:off x="548640" y="1600200"/>
            <a:ext cx="5387188" cy="3154680"/>
          </a:xfrm>
          <a:prstGeom prst="roundRect">
            <a:avLst>
              <a:gd name="adj" fmla="val 2899"/>
            </a:avLst>
          </a:prstGeom>
          <a:solidFill>
            <a:srgbClr val="E6F5F6"/>
          </a:solidFill>
          <a:ln w="12700">
            <a:solidFill>
              <a:srgbClr val="E6F5F6"/>
            </a:solidFill>
            <a:prstDash val="solid"/>
          </a:ln>
        </p:spPr>
        <p:txBody>
          <a:bodyPr/>
          <a:lstStyle/>
          <a:p>
            <a:endParaRPr lang="sv-SE"/>
          </a:p>
        </p:txBody>
      </p:sp>
      <p:sp>
        <p:nvSpPr>
          <p:cNvPr id="6" name="Text 3"/>
          <p:cNvSpPr txBox="1"/>
          <p:nvPr/>
        </p:nvSpPr>
        <p:spPr>
          <a:xfrm>
            <a:off x="868680" y="1828800"/>
            <a:ext cx="4747108" cy="457200"/>
          </a:xfrm>
          <a:prstGeom prst="rect">
            <a:avLst/>
          </a:prstGeom>
          <a:noFill/>
          <a:ln/>
        </p:spPr>
        <p:txBody>
          <a:bodyPr wrap="square" lIns="0" tIns="0" rIns="0" bIns="0" rtlCol="0" anchor="t"/>
          <a:lstStyle/>
          <a:p>
            <a:pPr marL="0" indent="0">
              <a:buNone/>
            </a:pPr>
            <a:r>
              <a:rPr lang="sv-SE" altLang="en-US" sz="2500" b="1" dirty="0">
                <a:solidFill>
                  <a:srgbClr val="005A5F"/>
                </a:solidFill>
                <a:latin typeface="Roboto Condensed" pitchFamily="34" charset="0"/>
                <a:ea typeface="Roboto Condensed" pitchFamily="34" charset="-122"/>
                <a:cs typeface="Roboto Condensed" pitchFamily="34" charset="-120"/>
              </a:rPr>
              <a:t>När det gäller sak eller process</a:t>
            </a:r>
            <a:endParaRPr lang="sv-SE" sz="2500" dirty="0"/>
          </a:p>
        </p:txBody>
      </p:sp>
      <p:sp>
        <p:nvSpPr>
          <p:cNvPr id="7" name="Shape 4"/>
          <p:cNvSpPr/>
          <p:nvPr/>
        </p:nvSpPr>
        <p:spPr>
          <a:xfrm>
            <a:off x="896112" y="2606040"/>
            <a:ext cx="155448" cy="155448"/>
          </a:xfrm>
          <a:prstGeom prst="ellipse">
            <a:avLst/>
          </a:prstGeom>
          <a:solidFill>
            <a:srgbClr val="005A5F"/>
          </a:solidFill>
          <a:ln w="12700">
            <a:solidFill>
              <a:srgbClr val="005A5F"/>
            </a:solidFill>
            <a:prstDash val="solid"/>
          </a:ln>
        </p:spPr>
        <p:txBody>
          <a:bodyPr/>
          <a:lstStyle/>
          <a:p>
            <a:endParaRPr lang="sv-SE"/>
          </a:p>
        </p:txBody>
      </p:sp>
      <p:sp>
        <p:nvSpPr>
          <p:cNvPr id="8" name="Text 5"/>
          <p:cNvSpPr txBox="1"/>
          <p:nvPr/>
        </p:nvSpPr>
        <p:spPr>
          <a:xfrm>
            <a:off x="1234440" y="2450592"/>
            <a:ext cx="4381348" cy="676656"/>
          </a:xfrm>
          <a:prstGeom prst="rect">
            <a:avLst/>
          </a:prstGeom>
          <a:noFill/>
          <a:ln/>
        </p:spPr>
        <p:txBody>
          <a:bodyPr wrap="square" lIns="0" tIns="0" rIns="0" bIns="0" rtlCol="0" anchor="t"/>
          <a:lstStyle/>
          <a:p>
            <a:pPr marL="0" indent="0">
              <a:buNone/>
            </a:pPr>
            <a:r>
              <a:rPr lang="sv-SE" altLang="en-US" sz="1800" dirty="0">
                <a:solidFill>
                  <a:srgbClr val="1A1A1A"/>
                </a:solidFill>
                <a:latin typeface="Georgia" pitchFamily="34" charset="0"/>
                <a:ea typeface="Georgia" pitchFamily="34" charset="-122"/>
                <a:cs typeface="Georgia" pitchFamily="34" charset="-120"/>
              </a:rPr>
              <a:t>Ta diskussionen öppet, med fakta och skäl.</a:t>
            </a:r>
            <a:endParaRPr lang="sv-SE" sz="1800" dirty="0"/>
          </a:p>
        </p:txBody>
      </p:sp>
      <p:sp>
        <p:nvSpPr>
          <p:cNvPr id="9" name="Shape 6"/>
          <p:cNvSpPr/>
          <p:nvPr/>
        </p:nvSpPr>
        <p:spPr>
          <a:xfrm>
            <a:off x="896112" y="3319272"/>
            <a:ext cx="155448" cy="155448"/>
          </a:xfrm>
          <a:prstGeom prst="ellipse">
            <a:avLst/>
          </a:prstGeom>
          <a:solidFill>
            <a:srgbClr val="005A5F"/>
          </a:solidFill>
          <a:ln w="12700">
            <a:solidFill>
              <a:srgbClr val="005A5F"/>
            </a:solidFill>
            <a:prstDash val="solid"/>
          </a:ln>
        </p:spPr>
        <p:txBody>
          <a:bodyPr/>
          <a:lstStyle/>
          <a:p>
            <a:endParaRPr lang="sv-SE"/>
          </a:p>
        </p:txBody>
      </p:sp>
      <p:sp>
        <p:nvSpPr>
          <p:cNvPr id="10" name="Text 7"/>
          <p:cNvSpPr txBox="1"/>
          <p:nvPr/>
        </p:nvSpPr>
        <p:spPr>
          <a:xfrm>
            <a:off x="1234440" y="3163824"/>
            <a:ext cx="4381348" cy="676656"/>
          </a:xfrm>
          <a:prstGeom prst="rect">
            <a:avLst/>
          </a:prstGeom>
          <a:noFill/>
          <a:ln/>
        </p:spPr>
        <p:txBody>
          <a:bodyPr wrap="square" lIns="0" tIns="0" rIns="0" bIns="0" rtlCol="0" anchor="t"/>
          <a:lstStyle/>
          <a:p>
            <a:pPr marL="0" indent="0">
              <a:buNone/>
            </a:pPr>
            <a:r>
              <a:rPr lang="sv-SE" altLang="en-US" sz="1800" dirty="0">
                <a:solidFill>
                  <a:srgbClr val="1A1A1A"/>
                </a:solidFill>
                <a:latin typeface="Georgia" pitchFamily="34" charset="0"/>
                <a:ea typeface="Georgia" pitchFamily="34" charset="-122"/>
                <a:cs typeface="Georgia" pitchFamily="34" charset="-120"/>
              </a:rPr>
              <a:t>Förklara varför beslutet blev som det blev.</a:t>
            </a:r>
            <a:endParaRPr lang="sv-SE" sz="1800" dirty="0"/>
          </a:p>
        </p:txBody>
      </p:sp>
      <p:sp>
        <p:nvSpPr>
          <p:cNvPr id="11" name="Shape 8"/>
          <p:cNvSpPr/>
          <p:nvPr/>
        </p:nvSpPr>
        <p:spPr>
          <a:xfrm>
            <a:off x="896112" y="4032504"/>
            <a:ext cx="155448" cy="155448"/>
          </a:xfrm>
          <a:prstGeom prst="ellipse">
            <a:avLst/>
          </a:prstGeom>
          <a:solidFill>
            <a:srgbClr val="005A5F"/>
          </a:solidFill>
          <a:ln w="12700">
            <a:solidFill>
              <a:srgbClr val="005A5F"/>
            </a:solidFill>
            <a:prstDash val="solid"/>
          </a:ln>
        </p:spPr>
        <p:txBody>
          <a:bodyPr/>
          <a:lstStyle/>
          <a:p>
            <a:endParaRPr lang="sv-SE"/>
          </a:p>
        </p:txBody>
      </p:sp>
      <p:sp>
        <p:nvSpPr>
          <p:cNvPr id="12" name="Text 9"/>
          <p:cNvSpPr txBox="1"/>
          <p:nvPr/>
        </p:nvSpPr>
        <p:spPr>
          <a:xfrm>
            <a:off x="1234440" y="3877056"/>
            <a:ext cx="4381348" cy="676656"/>
          </a:xfrm>
          <a:prstGeom prst="rect">
            <a:avLst/>
          </a:prstGeom>
          <a:noFill/>
          <a:ln/>
        </p:spPr>
        <p:txBody>
          <a:bodyPr wrap="square" lIns="0" tIns="0" rIns="0" bIns="0" rtlCol="0" anchor="t"/>
          <a:lstStyle/>
          <a:p>
            <a:pPr marL="0" indent="0">
              <a:buNone/>
            </a:pPr>
            <a:r>
              <a:rPr lang="sv-SE" altLang="en-US" sz="1800" dirty="0">
                <a:solidFill>
                  <a:srgbClr val="1A1A1A"/>
                </a:solidFill>
                <a:latin typeface="Georgia" pitchFamily="34" charset="0"/>
                <a:ea typeface="Georgia" pitchFamily="34" charset="-122"/>
                <a:cs typeface="Georgia" pitchFamily="34" charset="-120"/>
              </a:rPr>
              <a:t>Red ut roller, ansvar och tidsfrister tidigt.</a:t>
            </a:r>
            <a:endParaRPr lang="sv-SE" sz="1800" dirty="0"/>
          </a:p>
        </p:txBody>
      </p:sp>
      <p:sp>
        <p:nvSpPr>
          <p:cNvPr id="13" name="Shape 10"/>
          <p:cNvSpPr/>
          <p:nvPr/>
        </p:nvSpPr>
        <p:spPr>
          <a:xfrm>
            <a:off x="6255868" y="1600200"/>
            <a:ext cx="5387188" cy="3154680"/>
          </a:xfrm>
          <a:prstGeom prst="roundRect">
            <a:avLst>
              <a:gd name="adj" fmla="val 2899"/>
            </a:avLst>
          </a:prstGeom>
          <a:solidFill>
            <a:srgbClr val="F8E0D8"/>
          </a:solidFill>
          <a:ln w="12700">
            <a:solidFill>
              <a:srgbClr val="F8E0D8"/>
            </a:solidFill>
            <a:prstDash val="solid"/>
          </a:ln>
        </p:spPr>
        <p:txBody>
          <a:bodyPr/>
          <a:lstStyle/>
          <a:p>
            <a:endParaRPr lang="sv-SE"/>
          </a:p>
        </p:txBody>
      </p:sp>
      <p:sp>
        <p:nvSpPr>
          <p:cNvPr id="14" name="Text 11"/>
          <p:cNvSpPr txBox="1"/>
          <p:nvPr/>
        </p:nvSpPr>
        <p:spPr>
          <a:xfrm>
            <a:off x="6575908" y="1828800"/>
            <a:ext cx="4747108" cy="457200"/>
          </a:xfrm>
          <a:prstGeom prst="rect">
            <a:avLst/>
          </a:prstGeom>
          <a:noFill/>
          <a:ln/>
        </p:spPr>
        <p:txBody>
          <a:bodyPr wrap="square" lIns="0" tIns="0" rIns="0" bIns="0" rtlCol="0" anchor="t"/>
          <a:lstStyle/>
          <a:p>
            <a:pPr marL="0" indent="0">
              <a:buNone/>
            </a:pPr>
            <a:r>
              <a:rPr lang="sv-SE" altLang="en-US" sz="2500" b="1" dirty="0">
                <a:solidFill>
                  <a:srgbClr val="A50D1E"/>
                </a:solidFill>
                <a:latin typeface="Roboto Condensed" pitchFamily="34" charset="0"/>
                <a:ea typeface="Roboto Condensed" pitchFamily="34" charset="-122"/>
                <a:cs typeface="Roboto Condensed" pitchFamily="34" charset="-120"/>
              </a:rPr>
              <a:t>När det har blivit personligt</a:t>
            </a:r>
            <a:endParaRPr lang="sv-SE" sz="2500" dirty="0"/>
          </a:p>
        </p:txBody>
      </p:sp>
      <p:sp>
        <p:nvSpPr>
          <p:cNvPr id="15" name="Shape 12"/>
          <p:cNvSpPr/>
          <p:nvPr/>
        </p:nvSpPr>
        <p:spPr>
          <a:xfrm>
            <a:off x="6603340" y="2606040"/>
            <a:ext cx="155448" cy="155448"/>
          </a:xfrm>
          <a:prstGeom prst="ellipse">
            <a:avLst/>
          </a:prstGeom>
          <a:solidFill>
            <a:srgbClr val="A50D1E"/>
          </a:solidFill>
          <a:ln w="12700">
            <a:solidFill>
              <a:srgbClr val="A50D1E"/>
            </a:solidFill>
            <a:prstDash val="solid"/>
          </a:ln>
        </p:spPr>
        <p:txBody>
          <a:bodyPr/>
          <a:lstStyle/>
          <a:p>
            <a:endParaRPr lang="sv-SE"/>
          </a:p>
        </p:txBody>
      </p:sp>
      <p:sp>
        <p:nvSpPr>
          <p:cNvPr id="16" name="Text 13"/>
          <p:cNvSpPr txBox="1"/>
          <p:nvPr/>
        </p:nvSpPr>
        <p:spPr>
          <a:xfrm>
            <a:off x="6941668" y="2450592"/>
            <a:ext cx="4381348" cy="676656"/>
          </a:xfrm>
          <a:prstGeom prst="rect">
            <a:avLst/>
          </a:prstGeom>
          <a:noFill/>
          <a:ln/>
        </p:spPr>
        <p:txBody>
          <a:bodyPr wrap="square" lIns="0" tIns="0" rIns="0" bIns="0" rtlCol="0" anchor="t"/>
          <a:lstStyle/>
          <a:p>
            <a:pPr marL="0" indent="0">
              <a:buNone/>
            </a:pPr>
            <a:r>
              <a:rPr lang="sv-SE" altLang="en-US" sz="1800" dirty="0">
                <a:solidFill>
                  <a:srgbClr val="1A1A1A"/>
                </a:solidFill>
                <a:latin typeface="Georgia" pitchFamily="34" charset="0"/>
                <a:ea typeface="Georgia" pitchFamily="34" charset="-122"/>
                <a:cs typeface="Georgia" pitchFamily="34" charset="-120"/>
              </a:rPr>
              <a:t>Börja i B-hörnet: stoppa beteendet och sätt spelregler.</a:t>
            </a:r>
            <a:endParaRPr lang="sv-SE" sz="1800" dirty="0"/>
          </a:p>
        </p:txBody>
      </p:sp>
      <p:sp>
        <p:nvSpPr>
          <p:cNvPr id="17" name="Shape 14"/>
          <p:cNvSpPr/>
          <p:nvPr/>
        </p:nvSpPr>
        <p:spPr>
          <a:xfrm>
            <a:off x="6603340" y="3319272"/>
            <a:ext cx="155448" cy="155448"/>
          </a:xfrm>
          <a:prstGeom prst="ellipse">
            <a:avLst/>
          </a:prstGeom>
          <a:solidFill>
            <a:srgbClr val="A50D1E"/>
          </a:solidFill>
          <a:ln w="12700">
            <a:solidFill>
              <a:srgbClr val="A50D1E"/>
            </a:solidFill>
            <a:prstDash val="solid"/>
          </a:ln>
        </p:spPr>
        <p:txBody>
          <a:bodyPr/>
          <a:lstStyle/>
          <a:p>
            <a:endParaRPr lang="sv-SE"/>
          </a:p>
        </p:txBody>
      </p:sp>
      <p:sp>
        <p:nvSpPr>
          <p:cNvPr id="18" name="Text 15"/>
          <p:cNvSpPr txBox="1"/>
          <p:nvPr/>
        </p:nvSpPr>
        <p:spPr>
          <a:xfrm>
            <a:off x="6941668" y="3163824"/>
            <a:ext cx="4381348" cy="676656"/>
          </a:xfrm>
          <a:prstGeom prst="rect">
            <a:avLst/>
          </a:prstGeom>
          <a:noFill/>
          <a:ln/>
        </p:spPr>
        <p:txBody>
          <a:bodyPr wrap="square" lIns="0" tIns="0" rIns="0" bIns="0" rtlCol="0" anchor="t"/>
          <a:lstStyle/>
          <a:p>
            <a:pPr marL="0" indent="0">
              <a:buNone/>
            </a:pPr>
            <a:r>
              <a:rPr lang="sv-SE" altLang="en-US" sz="1800" dirty="0">
                <a:solidFill>
                  <a:srgbClr val="1A1A1A"/>
                </a:solidFill>
                <a:latin typeface="Georgia" pitchFamily="34" charset="0"/>
                <a:ea typeface="Georgia" pitchFamily="34" charset="-122"/>
                <a:cs typeface="Georgia" pitchFamily="34" charset="-120"/>
              </a:rPr>
              <a:t>Ta in struktur och en tredje part i stället för att »prata ut«.</a:t>
            </a:r>
            <a:endParaRPr lang="sv-SE" sz="1800" dirty="0"/>
          </a:p>
        </p:txBody>
      </p:sp>
      <p:sp>
        <p:nvSpPr>
          <p:cNvPr id="19" name="Shape 16"/>
          <p:cNvSpPr/>
          <p:nvPr/>
        </p:nvSpPr>
        <p:spPr>
          <a:xfrm>
            <a:off x="6603340" y="4032504"/>
            <a:ext cx="155448" cy="155448"/>
          </a:xfrm>
          <a:prstGeom prst="ellipse">
            <a:avLst/>
          </a:prstGeom>
          <a:solidFill>
            <a:srgbClr val="A50D1E"/>
          </a:solidFill>
          <a:ln w="12700">
            <a:solidFill>
              <a:srgbClr val="A50D1E"/>
            </a:solidFill>
            <a:prstDash val="solid"/>
          </a:ln>
        </p:spPr>
        <p:txBody>
          <a:bodyPr/>
          <a:lstStyle/>
          <a:p>
            <a:endParaRPr lang="sv-SE"/>
          </a:p>
        </p:txBody>
      </p:sp>
      <p:sp>
        <p:nvSpPr>
          <p:cNvPr id="20" name="Text 17"/>
          <p:cNvSpPr txBox="1"/>
          <p:nvPr/>
        </p:nvSpPr>
        <p:spPr>
          <a:xfrm>
            <a:off x="6941668" y="3877056"/>
            <a:ext cx="4381348" cy="676656"/>
          </a:xfrm>
          <a:prstGeom prst="rect">
            <a:avLst/>
          </a:prstGeom>
          <a:noFill/>
          <a:ln/>
        </p:spPr>
        <p:txBody>
          <a:bodyPr wrap="square" lIns="0" tIns="0" rIns="0" bIns="0" rtlCol="0" anchor="t"/>
          <a:lstStyle/>
          <a:p>
            <a:pPr marL="0" indent="0">
              <a:buNone/>
            </a:pPr>
            <a:r>
              <a:rPr lang="sv-SE" altLang="en-US" sz="1800" dirty="0">
                <a:solidFill>
                  <a:srgbClr val="1A1A1A"/>
                </a:solidFill>
                <a:latin typeface="Georgia" pitchFamily="34" charset="0"/>
                <a:ea typeface="Georgia" pitchFamily="34" charset="-122"/>
                <a:cs typeface="Georgia" pitchFamily="34" charset="-120"/>
              </a:rPr>
              <a:t>Att ventilera öppet i gruppen kan förvärra konflikten.</a:t>
            </a:r>
            <a:endParaRPr lang="sv-SE" sz="1800" dirty="0"/>
          </a:p>
        </p:txBody>
      </p:sp>
      <p:sp>
        <p:nvSpPr>
          <p:cNvPr id="21" name="Shape 18"/>
          <p:cNvSpPr/>
          <p:nvPr/>
        </p:nvSpPr>
        <p:spPr>
          <a:xfrm>
            <a:off x="548640" y="4983480"/>
            <a:ext cx="11094415"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22" name="Text 19"/>
          <p:cNvSpPr txBox="1"/>
          <p:nvPr/>
        </p:nvSpPr>
        <p:spPr>
          <a:xfrm>
            <a:off x="868680" y="4983480"/>
            <a:ext cx="3108960" cy="1188720"/>
          </a:xfrm>
          <a:prstGeom prst="rect">
            <a:avLst/>
          </a:prstGeom>
          <a:noFill/>
          <a:ln/>
        </p:spPr>
        <p:txBody>
          <a:bodyPr wrap="square" lIns="0" tIns="0" rIns="0" bIns="0" rtlCol="0" anchor="ctr"/>
          <a:lstStyle/>
          <a:p>
            <a:pPr marL="0" indent="0">
              <a:buNone/>
            </a:pPr>
            <a:r>
              <a:rPr lang="sv-SE" altLang="en-US" sz="3600" b="1" dirty="0">
                <a:solidFill>
                  <a:srgbClr val="A50D1E"/>
                </a:solidFill>
                <a:latin typeface="Roboto Condensed" pitchFamily="34" charset="0"/>
                <a:ea typeface="Roboto Condensed" pitchFamily="34" charset="-122"/>
                <a:cs typeface="Roboto Condensed" pitchFamily="34" charset="-120"/>
              </a:rPr>
              <a:t>13 % mot 2 %</a:t>
            </a:r>
            <a:endParaRPr lang="sv-SE" sz="3600" dirty="0"/>
          </a:p>
        </p:txBody>
      </p:sp>
      <p:sp>
        <p:nvSpPr>
          <p:cNvPr id="23" name="Text 20"/>
          <p:cNvSpPr txBox="1"/>
          <p:nvPr/>
        </p:nvSpPr>
        <p:spPr>
          <a:xfrm>
            <a:off x="4114800" y="4983480"/>
            <a:ext cx="7162495" cy="1188720"/>
          </a:xfrm>
          <a:prstGeom prst="rect">
            <a:avLst/>
          </a:prstGeom>
          <a:noFill/>
          <a:ln/>
        </p:spPr>
        <p:txBody>
          <a:bodyPr wrap="square" lIns="0" tIns="0" rIns="0" bIns="0" rtlCol="0" anchor="ctr"/>
          <a:lstStyle/>
          <a:p>
            <a:pPr marL="0" indent="0">
              <a:buNone/>
            </a:pPr>
            <a:r>
              <a:rPr lang="sv-SE" altLang="en-US" sz="1750" b="1" dirty="0">
                <a:solidFill>
                  <a:srgbClr val="1A1A1A"/>
                </a:solidFill>
                <a:latin typeface="Georgia" pitchFamily="34" charset="0"/>
                <a:ea typeface="Georgia" pitchFamily="34" charset="-122"/>
                <a:cs typeface="Georgia" pitchFamily="34" charset="-120"/>
              </a:rPr>
              <a:t>Hur gruppen hanterar sina konflikter säger mer om prestationen än vilka konflikter den har. </a:t>
            </a:r>
            <a:r>
              <a:rPr lang="sv-SE" altLang="en-US" sz="1750" dirty="0">
                <a:solidFill>
                  <a:srgbClr val="1A1A1A"/>
                </a:solidFill>
                <a:latin typeface="Georgia" pitchFamily="34" charset="0"/>
                <a:ea typeface="Georgia" pitchFamily="34" charset="-122"/>
                <a:cs typeface="Georgia" pitchFamily="34" charset="-120"/>
              </a:rPr>
              <a:t>Hanteringen förklarade 13 % av skillnaderna utöver konflikttyperna. De tillförde i sin tur 2 %.</a:t>
            </a:r>
            <a:endParaRPr lang="sv-SE" sz="1750" dirty="0"/>
          </a:p>
        </p:txBody>
      </p:sp>
      <p:sp>
        <p:nvSpPr>
          <p:cNvPr id="24" name="Text 21"/>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Jehn &amp; Bendersky (2003); Behfar m.fl. (2008); DeChurch m.fl. (2013) återgiven i O'Neill &amp; McLarnon (2018).</a:t>
            </a:r>
            <a:endParaRPr lang="sv-SE"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VART VÄNDER JAG MIG?</a:t>
            </a:r>
            <a:endParaRPr lang="sv-SE" sz="1400" dirty="0"/>
          </a:p>
        </p:txBody>
      </p:sp>
      <p:sp>
        <p:nvSpPr>
          <p:cNvPr id="4" name="Text 1"/>
          <p:cNvSpPr txBox="1"/>
          <p:nvPr/>
        </p:nvSpPr>
        <p:spPr>
          <a:xfrm rot="21480000">
            <a:off x="548640" y="502920"/>
            <a:ext cx="5321808"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När du inte kan lösa det själv</a:t>
            </a:r>
            <a:endParaRPr lang="sv-SE" sz="3000" dirty="0"/>
          </a:p>
        </p:txBody>
      </p:sp>
      <p:sp>
        <p:nvSpPr>
          <p:cNvPr id="5" name="Shape 2"/>
          <p:cNvSpPr/>
          <p:nvPr/>
        </p:nvSpPr>
        <p:spPr>
          <a:xfrm>
            <a:off x="548640" y="1554480"/>
            <a:ext cx="6583680" cy="713232"/>
          </a:xfrm>
          <a:prstGeom prst="roundRect">
            <a:avLst>
              <a:gd name="adj" fmla="val 12821"/>
            </a:avLst>
          </a:prstGeom>
          <a:solidFill>
            <a:srgbClr val="F2F0EF"/>
          </a:solidFill>
          <a:ln w="12700">
            <a:solidFill>
              <a:srgbClr val="F2F0EF"/>
            </a:solidFill>
            <a:prstDash val="solid"/>
          </a:ln>
        </p:spPr>
        <p:txBody>
          <a:bodyPr/>
          <a:lstStyle/>
          <a:p>
            <a:endParaRPr lang="sv-SE"/>
          </a:p>
        </p:txBody>
      </p:sp>
      <p:sp>
        <p:nvSpPr>
          <p:cNvPr id="6" name="Shape 3"/>
          <p:cNvSpPr/>
          <p:nvPr/>
        </p:nvSpPr>
        <p:spPr>
          <a:xfrm>
            <a:off x="749808" y="1655064"/>
            <a:ext cx="512064" cy="512064"/>
          </a:xfrm>
          <a:prstGeom prst="ellipse">
            <a:avLst/>
          </a:prstGeom>
          <a:solidFill>
            <a:srgbClr val="005A5F"/>
          </a:solidFill>
          <a:ln w="12700">
            <a:solidFill>
              <a:srgbClr val="005A5F"/>
            </a:solidFill>
            <a:prstDash val="solid"/>
          </a:ln>
        </p:spPr>
        <p:txBody>
          <a:bodyPr/>
          <a:lstStyle/>
          <a:p>
            <a:endParaRPr lang="sv-SE"/>
          </a:p>
        </p:txBody>
      </p:sp>
      <p:sp>
        <p:nvSpPr>
          <p:cNvPr id="7" name="Text 4"/>
          <p:cNvSpPr txBox="1"/>
          <p:nvPr/>
        </p:nvSpPr>
        <p:spPr>
          <a:xfrm>
            <a:off x="749808" y="1655064"/>
            <a:ext cx="512064" cy="512064"/>
          </a:xfrm>
          <a:prstGeom prst="rect">
            <a:avLst/>
          </a:prstGeom>
          <a:noFill/>
          <a:ln/>
        </p:spPr>
        <p:txBody>
          <a:bodyPr wrap="square" lIns="0" tIns="0" rIns="0" bIns="0" rtlCol="0" anchor="ctr"/>
          <a:lstStyle/>
          <a:p>
            <a:pPr marL="0" indent="0" algn="ctr">
              <a:buNone/>
            </a:pPr>
            <a:r>
              <a:rPr lang="en-US" sz="1904" b="1" dirty="0">
                <a:solidFill>
                  <a:srgbClr val="FFFFFF"/>
                </a:solidFill>
                <a:latin typeface="Roboto Condensed" pitchFamily="34" charset="0"/>
                <a:ea typeface="Roboto Condensed" pitchFamily="34" charset="-122"/>
                <a:cs typeface="Roboto Condensed" pitchFamily="34" charset="-120"/>
              </a:rPr>
              <a:t>1</a:t>
            </a:r>
            <a:endParaRPr lang="en-US" sz="1904" dirty="0"/>
          </a:p>
        </p:txBody>
      </p:sp>
      <p:sp>
        <p:nvSpPr>
          <p:cNvPr id="8" name="Text 5"/>
          <p:cNvSpPr txBox="1"/>
          <p:nvPr/>
        </p:nvSpPr>
        <p:spPr>
          <a:xfrm>
            <a:off x="1463040" y="1554480"/>
            <a:ext cx="5532120" cy="713232"/>
          </a:xfrm>
          <a:prstGeom prst="rect">
            <a:avLst/>
          </a:prstGeom>
          <a:noFill/>
          <a:ln/>
        </p:spPr>
        <p:txBody>
          <a:bodyPr wrap="square" lIns="0" tIns="0" rIns="0" bIns="0" rtlCol="0" anchor="ctr"/>
          <a:lstStyle/>
          <a:p>
            <a:pPr marL="0" indent="0">
              <a:buNone/>
            </a:pPr>
            <a:r>
              <a:rPr lang="sv-SE" altLang="en-US" sz="2000" b="1" dirty="0">
                <a:solidFill>
                  <a:srgbClr val="1A1A1A"/>
                </a:solidFill>
                <a:latin typeface="Roboto Condensed" pitchFamily="34" charset="0"/>
                <a:ea typeface="Roboto Condensed" pitchFamily="34" charset="-122"/>
                <a:cs typeface="Roboto Condensed" pitchFamily="34" charset="-120"/>
              </a:rPr>
              <a:t>Ta upp det tidigt, med den det gäller. </a:t>
            </a:r>
            <a:r>
              <a:rPr lang="sv-SE" altLang="en-US" sz="1600" dirty="0">
                <a:solidFill>
                  <a:srgbClr val="1A1A1A"/>
                </a:solidFill>
                <a:latin typeface="Georgia" pitchFamily="34" charset="0"/>
                <a:ea typeface="Georgia" pitchFamily="34" charset="-122"/>
                <a:cs typeface="Georgia" pitchFamily="34" charset="-120"/>
              </a:rPr>
              <a:t>Innan det har hunnit låsa sig.</a:t>
            </a:r>
            <a:endParaRPr lang="sv-SE" sz="2000" dirty="0"/>
          </a:p>
        </p:txBody>
      </p:sp>
      <p:sp>
        <p:nvSpPr>
          <p:cNvPr id="9" name="Shape 6"/>
          <p:cNvSpPr/>
          <p:nvPr/>
        </p:nvSpPr>
        <p:spPr>
          <a:xfrm>
            <a:off x="548640" y="2377440"/>
            <a:ext cx="6583680" cy="713232"/>
          </a:xfrm>
          <a:prstGeom prst="roundRect">
            <a:avLst>
              <a:gd name="adj" fmla="val 12821"/>
            </a:avLst>
          </a:prstGeom>
          <a:solidFill>
            <a:srgbClr val="F2F0EF"/>
          </a:solidFill>
          <a:ln w="12700">
            <a:solidFill>
              <a:srgbClr val="F2F0EF"/>
            </a:solidFill>
            <a:prstDash val="solid"/>
          </a:ln>
        </p:spPr>
        <p:txBody>
          <a:bodyPr/>
          <a:lstStyle/>
          <a:p>
            <a:endParaRPr lang="sv-SE"/>
          </a:p>
        </p:txBody>
      </p:sp>
      <p:sp>
        <p:nvSpPr>
          <p:cNvPr id="10" name="Shape 7"/>
          <p:cNvSpPr/>
          <p:nvPr/>
        </p:nvSpPr>
        <p:spPr>
          <a:xfrm>
            <a:off x="749808" y="2478024"/>
            <a:ext cx="512064" cy="512064"/>
          </a:xfrm>
          <a:prstGeom prst="ellipse">
            <a:avLst/>
          </a:prstGeom>
          <a:solidFill>
            <a:srgbClr val="005A5F"/>
          </a:solidFill>
          <a:ln w="12700">
            <a:solidFill>
              <a:srgbClr val="005A5F"/>
            </a:solidFill>
            <a:prstDash val="solid"/>
          </a:ln>
        </p:spPr>
        <p:txBody>
          <a:bodyPr/>
          <a:lstStyle/>
          <a:p>
            <a:endParaRPr lang="sv-SE"/>
          </a:p>
        </p:txBody>
      </p:sp>
      <p:sp>
        <p:nvSpPr>
          <p:cNvPr id="11" name="Text 8"/>
          <p:cNvSpPr txBox="1"/>
          <p:nvPr/>
        </p:nvSpPr>
        <p:spPr>
          <a:xfrm>
            <a:off x="749808" y="2478024"/>
            <a:ext cx="512064" cy="512064"/>
          </a:xfrm>
          <a:prstGeom prst="rect">
            <a:avLst/>
          </a:prstGeom>
          <a:noFill/>
          <a:ln/>
        </p:spPr>
        <p:txBody>
          <a:bodyPr wrap="square" lIns="0" tIns="0" rIns="0" bIns="0" rtlCol="0" anchor="ctr"/>
          <a:lstStyle/>
          <a:p>
            <a:pPr marL="0" indent="0" algn="ctr">
              <a:buNone/>
            </a:pPr>
            <a:r>
              <a:rPr lang="en-US" sz="1904" b="1" dirty="0">
                <a:solidFill>
                  <a:srgbClr val="FFFFFF"/>
                </a:solidFill>
                <a:latin typeface="Roboto Condensed" pitchFamily="34" charset="0"/>
                <a:ea typeface="Roboto Condensed" pitchFamily="34" charset="-122"/>
                <a:cs typeface="Roboto Condensed" pitchFamily="34" charset="-120"/>
              </a:rPr>
              <a:t>2</a:t>
            </a:r>
            <a:endParaRPr lang="en-US" sz="1904" dirty="0"/>
          </a:p>
        </p:txBody>
      </p:sp>
      <p:sp>
        <p:nvSpPr>
          <p:cNvPr id="12" name="Text 9"/>
          <p:cNvSpPr txBox="1"/>
          <p:nvPr/>
        </p:nvSpPr>
        <p:spPr>
          <a:xfrm>
            <a:off x="1463040" y="2377440"/>
            <a:ext cx="5532120" cy="713232"/>
          </a:xfrm>
          <a:prstGeom prst="rect">
            <a:avLst/>
          </a:prstGeom>
          <a:noFill/>
          <a:ln/>
        </p:spPr>
        <p:txBody>
          <a:bodyPr wrap="square" lIns="0" tIns="0" rIns="0" bIns="0" rtlCol="0" anchor="ctr"/>
          <a:lstStyle/>
          <a:p>
            <a:pPr marL="0" indent="0">
              <a:buNone/>
            </a:pPr>
            <a:r>
              <a:rPr lang="sv-SE" altLang="en-US" sz="2000" b="1" dirty="0">
                <a:solidFill>
                  <a:srgbClr val="1A1A1A"/>
                </a:solidFill>
                <a:latin typeface="Roboto Condensed" pitchFamily="34" charset="0"/>
                <a:ea typeface="Roboto Condensed" pitchFamily="34" charset="-122"/>
                <a:cs typeface="Roboto Condensed" pitchFamily="34" charset="-120"/>
              </a:rPr>
              <a:t>Närmaste chef. </a:t>
            </a:r>
            <a:r>
              <a:rPr lang="sv-SE" altLang="en-US" sz="1600" dirty="0">
                <a:solidFill>
                  <a:srgbClr val="1A1A1A"/>
                </a:solidFill>
                <a:latin typeface="Georgia" pitchFamily="34" charset="0"/>
                <a:ea typeface="Georgia" pitchFamily="34" charset="-122"/>
                <a:cs typeface="Georgia" pitchFamily="34" charset="-120"/>
              </a:rPr>
              <a:t>När ni inte lyckats reda ut det på egen hand.</a:t>
            </a:r>
            <a:endParaRPr lang="sv-SE" sz="2000" dirty="0"/>
          </a:p>
        </p:txBody>
      </p:sp>
      <p:sp>
        <p:nvSpPr>
          <p:cNvPr id="13" name="Shape 10"/>
          <p:cNvSpPr/>
          <p:nvPr/>
        </p:nvSpPr>
        <p:spPr>
          <a:xfrm>
            <a:off x="548640" y="3200400"/>
            <a:ext cx="6583680" cy="713232"/>
          </a:xfrm>
          <a:prstGeom prst="roundRect">
            <a:avLst>
              <a:gd name="adj" fmla="val 12821"/>
            </a:avLst>
          </a:prstGeom>
          <a:solidFill>
            <a:srgbClr val="F2F0EF"/>
          </a:solidFill>
          <a:ln w="12700">
            <a:solidFill>
              <a:srgbClr val="F2F0EF"/>
            </a:solidFill>
            <a:prstDash val="solid"/>
          </a:ln>
        </p:spPr>
        <p:txBody>
          <a:bodyPr/>
          <a:lstStyle/>
          <a:p>
            <a:endParaRPr lang="sv-SE"/>
          </a:p>
        </p:txBody>
      </p:sp>
      <p:sp>
        <p:nvSpPr>
          <p:cNvPr id="14" name="Shape 11"/>
          <p:cNvSpPr/>
          <p:nvPr/>
        </p:nvSpPr>
        <p:spPr>
          <a:xfrm>
            <a:off x="749808" y="3300984"/>
            <a:ext cx="512064" cy="512064"/>
          </a:xfrm>
          <a:prstGeom prst="ellipse">
            <a:avLst/>
          </a:prstGeom>
          <a:solidFill>
            <a:srgbClr val="005A5F"/>
          </a:solidFill>
          <a:ln w="12700">
            <a:solidFill>
              <a:srgbClr val="005A5F"/>
            </a:solidFill>
            <a:prstDash val="solid"/>
          </a:ln>
        </p:spPr>
        <p:txBody>
          <a:bodyPr/>
          <a:lstStyle/>
          <a:p>
            <a:endParaRPr lang="sv-SE"/>
          </a:p>
        </p:txBody>
      </p:sp>
      <p:sp>
        <p:nvSpPr>
          <p:cNvPr id="15" name="Text 12"/>
          <p:cNvSpPr txBox="1"/>
          <p:nvPr/>
        </p:nvSpPr>
        <p:spPr>
          <a:xfrm>
            <a:off x="749808" y="3300984"/>
            <a:ext cx="512064" cy="512064"/>
          </a:xfrm>
          <a:prstGeom prst="rect">
            <a:avLst/>
          </a:prstGeom>
          <a:noFill/>
          <a:ln/>
        </p:spPr>
        <p:txBody>
          <a:bodyPr wrap="square" lIns="0" tIns="0" rIns="0" bIns="0" rtlCol="0" anchor="ctr"/>
          <a:lstStyle/>
          <a:p>
            <a:pPr marL="0" indent="0" algn="ctr">
              <a:buNone/>
            </a:pPr>
            <a:r>
              <a:rPr lang="en-US" sz="1904" b="1" dirty="0">
                <a:solidFill>
                  <a:srgbClr val="FFFFFF"/>
                </a:solidFill>
                <a:latin typeface="Roboto Condensed" pitchFamily="34" charset="0"/>
                <a:ea typeface="Roboto Condensed" pitchFamily="34" charset="-122"/>
                <a:cs typeface="Roboto Condensed" pitchFamily="34" charset="-120"/>
              </a:rPr>
              <a:t>3</a:t>
            </a:r>
            <a:endParaRPr lang="en-US" sz="1904" dirty="0"/>
          </a:p>
        </p:txBody>
      </p:sp>
      <p:sp>
        <p:nvSpPr>
          <p:cNvPr id="16" name="Text 13"/>
          <p:cNvSpPr txBox="1"/>
          <p:nvPr/>
        </p:nvSpPr>
        <p:spPr>
          <a:xfrm>
            <a:off x="1463040" y="3200400"/>
            <a:ext cx="5532120" cy="713232"/>
          </a:xfrm>
          <a:prstGeom prst="rect">
            <a:avLst/>
          </a:prstGeom>
          <a:noFill/>
          <a:ln/>
        </p:spPr>
        <p:txBody>
          <a:bodyPr wrap="square" lIns="0" tIns="0" rIns="0" bIns="0" rtlCol="0" anchor="ctr"/>
          <a:lstStyle/>
          <a:p>
            <a:pPr marL="0" indent="0">
              <a:buNone/>
            </a:pPr>
            <a:r>
              <a:rPr lang="sv-SE" altLang="en-US" sz="2000" b="1" dirty="0">
                <a:solidFill>
                  <a:srgbClr val="1A1A1A"/>
                </a:solidFill>
                <a:latin typeface="Roboto Condensed" pitchFamily="34" charset="0"/>
                <a:ea typeface="Roboto Condensed" pitchFamily="34" charset="-122"/>
                <a:cs typeface="Roboto Condensed" pitchFamily="34" charset="-120"/>
              </a:rPr>
              <a:t>Högre chef. </a:t>
            </a:r>
            <a:r>
              <a:rPr lang="sv-SE" altLang="en-US" sz="1600" dirty="0">
                <a:solidFill>
                  <a:srgbClr val="1A1A1A"/>
                </a:solidFill>
                <a:latin typeface="Georgia" pitchFamily="34" charset="0"/>
                <a:ea typeface="Georgia" pitchFamily="34" charset="-122"/>
                <a:cs typeface="Georgia" pitchFamily="34" charset="-120"/>
              </a:rPr>
              <a:t>Om du inte kan gå till din närmaste.</a:t>
            </a:r>
            <a:endParaRPr lang="sv-SE" sz="2000" dirty="0"/>
          </a:p>
        </p:txBody>
      </p:sp>
      <p:sp>
        <p:nvSpPr>
          <p:cNvPr id="17" name="Shape 14"/>
          <p:cNvSpPr/>
          <p:nvPr/>
        </p:nvSpPr>
        <p:spPr>
          <a:xfrm>
            <a:off x="548640" y="4023360"/>
            <a:ext cx="6583680" cy="713232"/>
          </a:xfrm>
          <a:prstGeom prst="roundRect">
            <a:avLst>
              <a:gd name="adj" fmla="val 12821"/>
            </a:avLst>
          </a:prstGeom>
          <a:solidFill>
            <a:srgbClr val="F2F0EF"/>
          </a:solidFill>
          <a:ln w="12700">
            <a:solidFill>
              <a:srgbClr val="F2F0EF"/>
            </a:solidFill>
            <a:prstDash val="solid"/>
          </a:ln>
        </p:spPr>
        <p:txBody>
          <a:bodyPr/>
          <a:lstStyle/>
          <a:p>
            <a:endParaRPr lang="sv-SE"/>
          </a:p>
        </p:txBody>
      </p:sp>
      <p:sp>
        <p:nvSpPr>
          <p:cNvPr id="18" name="Shape 15"/>
          <p:cNvSpPr/>
          <p:nvPr/>
        </p:nvSpPr>
        <p:spPr>
          <a:xfrm>
            <a:off x="749808" y="4123944"/>
            <a:ext cx="512064" cy="512064"/>
          </a:xfrm>
          <a:prstGeom prst="ellipse">
            <a:avLst/>
          </a:prstGeom>
          <a:solidFill>
            <a:srgbClr val="A50D1E"/>
          </a:solidFill>
          <a:ln w="12700">
            <a:solidFill>
              <a:srgbClr val="A50D1E"/>
            </a:solidFill>
            <a:prstDash val="solid"/>
          </a:ln>
        </p:spPr>
        <p:txBody>
          <a:bodyPr/>
          <a:lstStyle/>
          <a:p>
            <a:endParaRPr lang="sv-SE"/>
          </a:p>
        </p:txBody>
      </p:sp>
      <p:sp>
        <p:nvSpPr>
          <p:cNvPr id="19" name="Text 16"/>
          <p:cNvSpPr txBox="1"/>
          <p:nvPr/>
        </p:nvSpPr>
        <p:spPr>
          <a:xfrm>
            <a:off x="749808" y="4123944"/>
            <a:ext cx="512064" cy="512064"/>
          </a:xfrm>
          <a:prstGeom prst="rect">
            <a:avLst/>
          </a:prstGeom>
          <a:noFill/>
          <a:ln/>
        </p:spPr>
        <p:txBody>
          <a:bodyPr wrap="square" lIns="0" tIns="0" rIns="0" bIns="0" rtlCol="0" anchor="ctr"/>
          <a:lstStyle/>
          <a:p>
            <a:pPr marL="0" indent="0" algn="ctr">
              <a:buNone/>
            </a:pPr>
            <a:r>
              <a:rPr lang="en-US" sz="1904" b="1" dirty="0">
                <a:solidFill>
                  <a:srgbClr val="FFFFFF"/>
                </a:solidFill>
                <a:latin typeface="Roboto Condensed" pitchFamily="34" charset="0"/>
                <a:ea typeface="Roboto Condensed" pitchFamily="34" charset="-122"/>
                <a:cs typeface="Roboto Condensed" pitchFamily="34" charset="-120"/>
              </a:rPr>
              <a:t>+</a:t>
            </a:r>
            <a:endParaRPr lang="en-US" sz="1904" dirty="0"/>
          </a:p>
        </p:txBody>
      </p:sp>
      <p:sp>
        <p:nvSpPr>
          <p:cNvPr id="20" name="Text 17"/>
          <p:cNvSpPr txBox="1"/>
          <p:nvPr/>
        </p:nvSpPr>
        <p:spPr>
          <a:xfrm>
            <a:off x="1463040" y="4023360"/>
            <a:ext cx="5532120" cy="713232"/>
          </a:xfrm>
          <a:prstGeom prst="rect">
            <a:avLst/>
          </a:prstGeom>
          <a:noFill/>
          <a:ln/>
        </p:spPr>
        <p:txBody>
          <a:bodyPr wrap="square" lIns="0" tIns="0" rIns="0" bIns="0" rtlCol="0" anchor="ctr"/>
          <a:lstStyle/>
          <a:p>
            <a:pPr marL="0" indent="0">
              <a:buNone/>
            </a:pPr>
            <a:r>
              <a:rPr lang="sv-SE" altLang="en-US" sz="2000" b="1" dirty="0">
                <a:solidFill>
                  <a:srgbClr val="1A1A1A"/>
                </a:solidFill>
                <a:latin typeface="Roboto Condensed" pitchFamily="34" charset="0"/>
                <a:ea typeface="Roboto Condensed" pitchFamily="34" charset="-122"/>
                <a:cs typeface="Roboto Condensed" pitchFamily="34" charset="-120"/>
              </a:rPr>
              <a:t>Skyddsombudet. </a:t>
            </a:r>
            <a:r>
              <a:rPr lang="sv-SE" altLang="en-US" sz="1600" dirty="0">
                <a:solidFill>
                  <a:srgbClr val="1A1A1A"/>
                </a:solidFill>
                <a:latin typeface="Georgia" pitchFamily="34" charset="0"/>
                <a:ea typeface="Georgia" pitchFamily="34" charset="-122"/>
                <a:cs typeface="Georgia" pitchFamily="34" charset="-120"/>
              </a:rPr>
              <a:t>En väg som alltid står öppen, vid sidan av cheferna.</a:t>
            </a:r>
            <a:endParaRPr lang="sv-SE" sz="2000" dirty="0"/>
          </a:p>
        </p:txBody>
      </p:sp>
      <p:sp>
        <p:nvSpPr>
          <p:cNvPr id="21" name="Text 18"/>
          <p:cNvSpPr txBox="1"/>
          <p:nvPr/>
        </p:nvSpPr>
        <p:spPr>
          <a:xfrm>
            <a:off x="548640" y="4846320"/>
            <a:ext cx="6583680" cy="548640"/>
          </a:xfrm>
          <a:prstGeom prst="rect">
            <a:avLst/>
          </a:prstGeom>
          <a:noFill/>
          <a:ln/>
        </p:spPr>
        <p:txBody>
          <a:bodyPr wrap="square" lIns="0" tIns="0" rIns="0" bIns="0" rtlCol="0" anchor="t"/>
          <a:lstStyle/>
          <a:p>
            <a:pPr marL="0" indent="0">
              <a:buNone/>
            </a:pPr>
            <a:r>
              <a:rPr lang="sv-SE" altLang="en-US" sz="1500" dirty="0">
                <a:solidFill>
                  <a:srgbClr val="4A4A4A"/>
                </a:solidFill>
                <a:latin typeface="Roboto Condensed" pitchFamily="34" charset="0"/>
                <a:ea typeface="Roboto Condensed" pitchFamily="34" charset="-122"/>
                <a:cs typeface="Roboto Condensed" pitchFamily="34" charset="-120"/>
              </a:rPr>
              <a:t>Vägen är Arbetsmiljöverkets allmänna råd för kränkande särbehandling. Samma väg fungerar för en konflikt som har låst sig.</a:t>
            </a:r>
            <a:endParaRPr lang="sv-SE" sz="1500" dirty="0"/>
          </a:p>
        </p:txBody>
      </p:sp>
      <p:sp>
        <p:nvSpPr>
          <p:cNvPr id="22" name="Shape 19"/>
          <p:cNvSpPr/>
          <p:nvPr/>
        </p:nvSpPr>
        <p:spPr>
          <a:xfrm>
            <a:off x="7498080" y="1554480"/>
            <a:ext cx="4142232" cy="3794760"/>
          </a:xfrm>
          <a:prstGeom prst="roundRect">
            <a:avLst>
              <a:gd name="adj" fmla="val 2410"/>
            </a:avLst>
          </a:prstGeom>
          <a:solidFill>
            <a:srgbClr val="A50D1E"/>
          </a:solidFill>
          <a:ln w="12700">
            <a:solidFill>
              <a:srgbClr val="A50D1E"/>
            </a:solidFill>
            <a:prstDash val="solid"/>
          </a:ln>
        </p:spPr>
        <p:txBody>
          <a:bodyPr/>
          <a:lstStyle/>
          <a:p>
            <a:endParaRPr lang="sv-SE"/>
          </a:p>
        </p:txBody>
      </p:sp>
      <p:sp>
        <p:nvSpPr>
          <p:cNvPr id="23" name="Text 20"/>
          <p:cNvSpPr txBox="1"/>
          <p:nvPr/>
        </p:nvSpPr>
        <p:spPr>
          <a:xfrm>
            <a:off x="7772400" y="1737360"/>
            <a:ext cx="3657600" cy="292608"/>
          </a:xfrm>
          <a:prstGeom prst="rect">
            <a:avLst/>
          </a:prstGeom>
          <a:noFill/>
          <a:ln/>
        </p:spPr>
        <p:txBody>
          <a:bodyPr wrap="square" lIns="0" tIns="0" rIns="0" bIns="0" rtlCol="0" anchor="t"/>
          <a:lstStyle/>
          <a:p>
            <a:pPr marL="0" indent="0">
              <a:buNone/>
            </a:pPr>
            <a:r>
              <a:rPr lang="sv-SE" altLang="en-US" sz="1400" b="1" kern="0" spc="200" dirty="0">
                <a:solidFill>
                  <a:srgbClr val="FFFFFF"/>
                </a:solidFill>
                <a:latin typeface="Roboto Condensed" pitchFamily="34" charset="0"/>
                <a:ea typeface="Roboto Condensed" pitchFamily="34" charset="-122"/>
                <a:cs typeface="Roboto Condensed" pitchFamily="34" charset="-120"/>
              </a:rPr>
              <a:t>ARBETSGIVAREN SKA</a:t>
            </a:r>
            <a:endParaRPr lang="sv-SE" sz="1400" dirty="0"/>
          </a:p>
        </p:txBody>
      </p:sp>
      <p:sp>
        <p:nvSpPr>
          <p:cNvPr id="24" name="Shape 21"/>
          <p:cNvSpPr/>
          <p:nvPr/>
        </p:nvSpPr>
        <p:spPr>
          <a:xfrm>
            <a:off x="7790688" y="2258568"/>
            <a:ext cx="137160" cy="137160"/>
          </a:xfrm>
          <a:prstGeom prst="ellipse">
            <a:avLst/>
          </a:prstGeom>
          <a:solidFill>
            <a:srgbClr val="FFFFFF"/>
          </a:solidFill>
          <a:ln w="12700">
            <a:solidFill>
              <a:srgbClr val="FFFFFF"/>
            </a:solidFill>
            <a:prstDash val="solid"/>
          </a:ln>
        </p:spPr>
        <p:txBody>
          <a:bodyPr/>
          <a:lstStyle/>
          <a:p>
            <a:endParaRPr lang="sv-SE"/>
          </a:p>
        </p:txBody>
      </p:sp>
      <p:sp>
        <p:nvSpPr>
          <p:cNvPr id="25" name="Text 22"/>
          <p:cNvSpPr txBox="1"/>
          <p:nvPr/>
        </p:nvSpPr>
        <p:spPr>
          <a:xfrm>
            <a:off x="8092440" y="2148840"/>
            <a:ext cx="3383280" cy="1005840"/>
          </a:xfrm>
          <a:prstGeom prst="rect">
            <a:avLst/>
          </a:prstGeom>
          <a:noFill/>
          <a:ln/>
        </p:spPr>
        <p:txBody>
          <a:bodyPr wrap="square" lIns="0" tIns="0" rIns="0" bIns="0" rtlCol="0" anchor="t"/>
          <a:lstStyle/>
          <a:p>
            <a:pPr marL="0" indent="0">
              <a:buNone/>
            </a:pPr>
            <a:r>
              <a:rPr lang="sv-SE" altLang="en-US" sz="1700" dirty="0">
                <a:solidFill>
                  <a:srgbClr val="FFFFFF"/>
                </a:solidFill>
                <a:latin typeface="Georgia" pitchFamily="34" charset="0"/>
                <a:ea typeface="Georgia" pitchFamily="34" charset="-122"/>
                <a:cs typeface="Georgia" pitchFamily="34" charset="-120"/>
              </a:rPr>
              <a:t>klargöra att kränkande särbehandling inte accepteras</a:t>
            </a:r>
            <a:endParaRPr lang="sv-SE" sz="1700" dirty="0"/>
          </a:p>
        </p:txBody>
      </p:sp>
      <p:sp>
        <p:nvSpPr>
          <p:cNvPr id="26" name="Shape 23"/>
          <p:cNvSpPr/>
          <p:nvPr/>
        </p:nvSpPr>
        <p:spPr>
          <a:xfrm>
            <a:off x="7790688" y="2990088"/>
            <a:ext cx="137160" cy="137160"/>
          </a:xfrm>
          <a:prstGeom prst="ellipse">
            <a:avLst/>
          </a:prstGeom>
          <a:solidFill>
            <a:srgbClr val="FFFFFF"/>
          </a:solidFill>
          <a:ln w="12700">
            <a:solidFill>
              <a:srgbClr val="FFFFFF"/>
            </a:solidFill>
            <a:prstDash val="solid"/>
          </a:ln>
        </p:spPr>
        <p:txBody>
          <a:bodyPr/>
          <a:lstStyle/>
          <a:p>
            <a:endParaRPr lang="sv-SE"/>
          </a:p>
        </p:txBody>
      </p:sp>
      <p:sp>
        <p:nvSpPr>
          <p:cNvPr id="27" name="Text 24"/>
          <p:cNvSpPr txBox="1"/>
          <p:nvPr/>
        </p:nvSpPr>
        <p:spPr>
          <a:xfrm>
            <a:off x="8092440" y="2880360"/>
            <a:ext cx="3383280" cy="1005840"/>
          </a:xfrm>
          <a:prstGeom prst="rect">
            <a:avLst/>
          </a:prstGeom>
          <a:noFill/>
          <a:ln/>
        </p:spPr>
        <p:txBody>
          <a:bodyPr wrap="square" lIns="0" tIns="0" rIns="0" bIns="0" rtlCol="0" anchor="t"/>
          <a:lstStyle/>
          <a:p>
            <a:pPr marL="0" indent="0">
              <a:buNone/>
            </a:pPr>
            <a:r>
              <a:rPr lang="sv-SE" altLang="en-US" sz="1700" dirty="0">
                <a:solidFill>
                  <a:srgbClr val="FFFFFF"/>
                </a:solidFill>
                <a:latin typeface="Georgia" pitchFamily="34" charset="0"/>
                <a:ea typeface="Georgia" pitchFamily="34" charset="-122"/>
                <a:cs typeface="Georgia" pitchFamily="34" charset="-120"/>
              </a:rPr>
              <a:t>ha rutiner för vem som tar emot uppgifter, vad som händer sedan och hur utsatta snabbt får hjälp</a:t>
            </a:r>
            <a:endParaRPr lang="sv-SE" sz="1700" dirty="0"/>
          </a:p>
        </p:txBody>
      </p:sp>
      <p:sp>
        <p:nvSpPr>
          <p:cNvPr id="28" name="Shape 25"/>
          <p:cNvSpPr/>
          <p:nvPr/>
        </p:nvSpPr>
        <p:spPr>
          <a:xfrm>
            <a:off x="7790688" y="3995928"/>
            <a:ext cx="137160" cy="137160"/>
          </a:xfrm>
          <a:prstGeom prst="ellipse">
            <a:avLst/>
          </a:prstGeom>
          <a:solidFill>
            <a:srgbClr val="FFFFFF"/>
          </a:solidFill>
          <a:ln w="12700">
            <a:solidFill>
              <a:srgbClr val="FFFFFF"/>
            </a:solidFill>
            <a:prstDash val="solid"/>
          </a:ln>
        </p:spPr>
        <p:txBody>
          <a:bodyPr/>
          <a:lstStyle/>
          <a:p>
            <a:endParaRPr lang="sv-SE"/>
          </a:p>
        </p:txBody>
      </p:sp>
      <p:sp>
        <p:nvSpPr>
          <p:cNvPr id="29" name="Text 26"/>
          <p:cNvSpPr txBox="1"/>
          <p:nvPr/>
        </p:nvSpPr>
        <p:spPr>
          <a:xfrm>
            <a:off x="8092440" y="3886200"/>
            <a:ext cx="3383280" cy="1005840"/>
          </a:xfrm>
          <a:prstGeom prst="rect">
            <a:avLst/>
          </a:prstGeom>
          <a:noFill/>
          <a:ln/>
        </p:spPr>
        <p:txBody>
          <a:bodyPr wrap="square" lIns="0" tIns="0" rIns="0" bIns="0" rtlCol="0" anchor="t"/>
          <a:lstStyle/>
          <a:p>
            <a:pPr marL="0" indent="0">
              <a:buNone/>
            </a:pPr>
            <a:r>
              <a:rPr lang="sv-SE" altLang="en-US" sz="1700" dirty="0">
                <a:solidFill>
                  <a:srgbClr val="FFFFFF"/>
                </a:solidFill>
                <a:latin typeface="Georgia" pitchFamily="34" charset="0"/>
                <a:ea typeface="Georgia" pitchFamily="34" charset="-122"/>
                <a:cs typeface="Georgia" pitchFamily="34" charset="-120"/>
              </a:rPr>
              <a:t>göra rutinerna kända för alla</a:t>
            </a:r>
            <a:endParaRPr lang="sv-SE" sz="1700" dirty="0"/>
          </a:p>
        </p:txBody>
      </p:sp>
      <p:sp>
        <p:nvSpPr>
          <p:cNvPr id="30" name="Text 27"/>
          <p:cNvSpPr txBox="1"/>
          <p:nvPr/>
        </p:nvSpPr>
        <p:spPr>
          <a:xfrm>
            <a:off x="7772400" y="4526280"/>
            <a:ext cx="3657600" cy="731520"/>
          </a:xfrm>
          <a:prstGeom prst="rect">
            <a:avLst/>
          </a:prstGeom>
          <a:noFill/>
          <a:ln/>
        </p:spPr>
        <p:txBody>
          <a:bodyPr wrap="square" lIns="0" tIns="0" rIns="0" bIns="0" rtlCol="0" anchor="t"/>
          <a:lstStyle/>
          <a:p>
            <a:pPr marL="0" indent="0">
              <a:buNone/>
            </a:pPr>
            <a:r>
              <a:rPr lang="sv-SE" altLang="en-US" sz="1550" dirty="0">
                <a:solidFill>
                  <a:srgbClr val="FFFFFF"/>
                </a:solidFill>
                <a:latin typeface="Roboto Condensed" pitchFamily="34" charset="0"/>
                <a:ea typeface="Roboto Condensed" pitchFamily="34" charset="-122"/>
                <a:cs typeface="Roboto Condensed" pitchFamily="34" charset="-120"/>
              </a:rPr>
              <a:t>Arbetsgivaren kan ge företagshälsovården i uppdrag att ge stöd.</a:t>
            </a:r>
            <a:endParaRPr lang="sv-SE" sz="1550" dirty="0"/>
          </a:p>
        </p:txBody>
      </p:sp>
      <p:sp>
        <p:nvSpPr>
          <p:cNvPr id="31" name="Shape 28"/>
          <p:cNvSpPr/>
          <p:nvPr/>
        </p:nvSpPr>
        <p:spPr>
          <a:xfrm>
            <a:off x="548640" y="5468112"/>
            <a:ext cx="11094415" cy="777240"/>
          </a:xfrm>
          <a:prstGeom prst="roundRect">
            <a:avLst>
              <a:gd name="adj" fmla="val 11765"/>
            </a:avLst>
          </a:prstGeom>
          <a:solidFill>
            <a:srgbClr val="F8E0D8"/>
          </a:solidFill>
          <a:ln w="12700">
            <a:solidFill>
              <a:srgbClr val="F8E0D8"/>
            </a:solidFill>
            <a:prstDash val="solid"/>
          </a:ln>
        </p:spPr>
        <p:txBody>
          <a:bodyPr/>
          <a:lstStyle/>
          <a:p>
            <a:endParaRPr lang="sv-SE"/>
          </a:p>
        </p:txBody>
      </p:sp>
      <p:sp>
        <p:nvSpPr>
          <p:cNvPr id="32" name="Text 29"/>
          <p:cNvSpPr txBox="1"/>
          <p:nvPr/>
        </p:nvSpPr>
        <p:spPr>
          <a:xfrm>
            <a:off x="914400" y="5468112"/>
            <a:ext cx="10362895" cy="777240"/>
          </a:xfrm>
          <a:prstGeom prst="rect">
            <a:avLst/>
          </a:prstGeom>
          <a:noFill/>
          <a:ln/>
        </p:spPr>
        <p:txBody>
          <a:bodyPr wrap="square" lIns="0" tIns="0" rIns="0" bIns="0" rtlCol="0" anchor="ctr"/>
          <a:lstStyle/>
          <a:p>
            <a:pPr marL="0" indent="0">
              <a:buNone/>
            </a:pPr>
            <a:r>
              <a:rPr lang="sv-SE" altLang="en-US" sz="1800" b="1" dirty="0">
                <a:solidFill>
                  <a:srgbClr val="1A1A1A"/>
                </a:solidFill>
                <a:latin typeface="Georgia" pitchFamily="34" charset="0"/>
                <a:ea typeface="Georgia" pitchFamily="34" charset="-122"/>
                <a:cs typeface="Georgia" pitchFamily="34" charset="-120"/>
              </a:rPr>
              <a:t>Vänta inte. </a:t>
            </a:r>
            <a:r>
              <a:rPr lang="sv-SE" altLang="en-US" sz="1800" dirty="0">
                <a:solidFill>
                  <a:srgbClr val="1A1A1A"/>
                </a:solidFill>
                <a:latin typeface="Georgia" pitchFamily="34" charset="0"/>
                <a:ea typeface="Georgia" pitchFamily="34" charset="-122"/>
                <a:cs typeface="Georgia" pitchFamily="34" charset="-120"/>
              </a:rPr>
              <a:t>Konflikt hänger ihop med utmattning framför allt när den hanteras passivt, genom att undvika eller ge efter.</a:t>
            </a:r>
            <a:endParaRPr lang="sv-SE" sz="1800" dirty="0"/>
          </a:p>
        </p:txBody>
      </p:sp>
      <p:sp>
        <p:nvSpPr>
          <p:cNvPr id="33" name="Text 30"/>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AFS 2023:2, 2 kap. 10–11 §§ med allmänna råd (gäller sedan 1 januari 2025, ersatte AFS 2015:4). Dijkstra m.fl. (2009).</a:t>
            </a:r>
            <a:endParaRPr lang="sv-SE"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Shape 0"/>
          <p:cNvSpPr/>
          <p:nvPr/>
        </p:nvSpPr>
        <p:spPr>
          <a:xfrm>
            <a:off x="5669280" y="4023360"/>
            <a:ext cx="4206240" cy="4206240"/>
          </a:xfrm>
          <a:prstGeom prst="ellipse">
            <a:avLst/>
          </a:prstGeom>
          <a:solidFill>
            <a:srgbClr val="D80811"/>
          </a:solidFill>
          <a:ln w="12700">
            <a:solidFill>
              <a:srgbClr val="D80811"/>
            </a:solidFill>
            <a:prstDash val="solid"/>
          </a:ln>
        </p:spPr>
        <p:txBody>
          <a:bodyPr/>
          <a:lstStyle/>
          <a:p>
            <a:endParaRPr lang="sv-SE"/>
          </a:p>
        </p:txBody>
      </p:sp>
      <p:sp>
        <p:nvSpPr>
          <p:cNvPr id="4" name="Shape 1"/>
          <p:cNvSpPr/>
          <p:nvPr/>
        </p:nvSpPr>
        <p:spPr>
          <a:xfrm>
            <a:off x="8229600" y="2926080"/>
            <a:ext cx="6035040" cy="6035040"/>
          </a:xfrm>
          <a:prstGeom prst="ellipse">
            <a:avLst/>
          </a:prstGeom>
          <a:solidFill>
            <a:srgbClr val="A50D1E"/>
          </a:solidFill>
          <a:ln w="12700">
            <a:solidFill>
              <a:srgbClr val="A50D1E"/>
            </a:solidFill>
            <a:prstDash val="solid"/>
          </a:ln>
        </p:spPr>
        <p:txBody>
          <a:bodyPr/>
          <a:lstStyle/>
          <a:p>
            <a:endParaRPr lang="sv-SE"/>
          </a:p>
        </p:txBody>
      </p:sp>
      <p:sp>
        <p:nvSpPr>
          <p:cNvPr id="5" name="Text 2"/>
          <p:cNvSpPr txBox="1"/>
          <p:nvPr/>
        </p:nvSpPr>
        <p:spPr>
          <a:xfrm rot="21480000">
            <a:off x="777240" y="1463040"/>
            <a:ext cx="2926080" cy="1280160"/>
          </a:xfrm>
          <a:prstGeom prst="rect">
            <a:avLst/>
          </a:prstGeom>
          <a:solidFill>
            <a:srgbClr val="D80811"/>
          </a:solidFill>
          <a:ln/>
        </p:spPr>
        <p:txBody>
          <a:bodyPr wrap="square" lIns="0" tIns="0" rIns="0" bIns="0" rtlCol="0" anchor="ctr"/>
          <a:lstStyle/>
          <a:p>
            <a:pPr marL="0" indent="0" algn="ctr">
              <a:buNone/>
            </a:pPr>
            <a:r>
              <a:rPr lang="sv-SE" altLang="en-US" sz="6600" b="1" dirty="0">
                <a:solidFill>
                  <a:srgbClr val="FFFFFF"/>
                </a:solidFill>
                <a:latin typeface="Roboto Condensed" pitchFamily="34" charset="0"/>
                <a:ea typeface="Roboto Condensed" pitchFamily="34" charset="-122"/>
                <a:cs typeface="Roboto Condensed" pitchFamily="34" charset="-120"/>
              </a:rPr>
              <a:t>Paus</a:t>
            </a:r>
            <a:endParaRPr lang="sv-SE" sz="6600" dirty="0"/>
          </a:p>
        </p:txBody>
      </p:sp>
      <p:sp>
        <p:nvSpPr>
          <p:cNvPr id="6" name="Text 3"/>
          <p:cNvSpPr txBox="1"/>
          <p:nvPr/>
        </p:nvSpPr>
        <p:spPr>
          <a:xfrm>
            <a:off x="777240" y="3063240"/>
            <a:ext cx="5486400" cy="548640"/>
          </a:xfrm>
          <a:prstGeom prst="rect">
            <a:avLst/>
          </a:prstGeom>
          <a:noFill/>
          <a:ln/>
        </p:spPr>
        <p:txBody>
          <a:bodyPr wrap="square" lIns="0" tIns="0" rIns="0" bIns="0" rtlCol="0" anchor="t"/>
          <a:lstStyle/>
          <a:p>
            <a:pPr marL="0" indent="0">
              <a:buNone/>
            </a:pPr>
            <a:r>
              <a:rPr lang="sv-SE" altLang="en-US" sz="2800" dirty="0">
                <a:solidFill>
                  <a:srgbClr val="1A1A1A"/>
                </a:solidFill>
                <a:latin typeface="Roboto Condensed" pitchFamily="34" charset="0"/>
                <a:ea typeface="Roboto Condensed" pitchFamily="34" charset="-122"/>
                <a:cs typeface="Roboto Condensed" pitchFamily="34" charset="-120"/>
              </a:rPr>
              <a:t>Vi fortsätter om 5 minuter.</a:t>
            </a:r>
            <a:endParaRPr lang="sv-SE"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80811"/>
        </a:solidFill>
        <a:effectLst/>
      </p:bgPr>
    </p:bg>
    <p:spTree>
      <p:nvGrpSpPr>
        <p:cNvPr id="1" name=""/>
        <p:cNvGrpSpPr/>
        <p:nvPr/>
      </p:nvGrpSpPr>
      <p:grpSpPr>
        <a:xfrm>
          <a:off x="0" y="0"/>
          <a:ext cx="0" cy="0"/>
          <a:chOff x="0" y="0"/>
          <a:chExt cx="0" cy="0"/>
        </a:xfrm>
      </p:grpSpPr>
      <p:sp>
        <p:nvSpPr>
          <p:cNvPr id="2" name="Shape 0"/>
          <p:cNvSpPr/>
          <p:nvPr/>
        </p:nvSpPr>
        <p:spPr>
          <a:xfrm>
            <a:off x="7223760" y="822960"/>
            <a:ext cx="6035040" cy="6035040"/>
          </a:xfrm>
          <a:prstGeom prst="ellipse">
            <a:avLst/>
          </a:prstGeom>
          <a:solidFill>
            <a:srgbClr val="A50D1E"/>
          </a:solidFill>
          <a:ln w="12700">
            <a:solidFill>
              <a:srgbClr val="A50D1E"/>
            </a:solidFill>
            <a:prstDash val="solid"/>
          </a:ln>
        </p:spPr>
        <p:txBody>
          <a:bodyPr/>
          <a:lstStyle/>
          <a:p>
            <a:endParaRPr lang="sv-SE"/>
          </a:p>
        </p:txBody>
      </p:sp>
      <p:sp>
        <p:nvSpPr>
          <p:cNvPr id="3" name="Text 1"/>
          <p:cNvSpPr txBox="1"/>
          <p:nvPr/>
        </p:nvSpPr>
        <p:spPr>
          <a:xfrm>
            <a:off x="7223760" y="822960"/>
            <a:ext cx="6035040" cy="6035040"/>
          </a:xfrm>
          <a:prstGeom prst="rect">
            <a:avLst/>
          </a:prstGeom>
          <a:noFill/>
          <a:ln/>
        </p:spPr>
        <p:txBody>
          <a:bodyPr wrap="square" lIns="0" tIns="0" rIns="0" bIns="0" rtlCol="0" anchor="ctr"/>
          <a:lstStyle/>
          <a:p>
            <a:pPr marL="0" indent="0" algn="ctr">
              <a:buNone/>
            </a:pPr>
            <a:r>
              <a:rPr lang="en-US" sz="30000" b="1" dirty="0">
                <a:solidFill>
                  <a:srgbClr val="F8E0D8"/>
                </a:solidFill>
                <a:latin typeface="Roboto Condensed" pitchFamily="34" charset="0"/>
                <a:ea typeface="Roboto Condensed" pitchFamily="34" charset="-122"/>
                <a:cs typeface="Roboto Condensed" pitchFamily="34" charset="-120"/>
              </a:rPr>
              <a:t>3</a:t>
            </a:r>
            <a:endParaRPr lang="en-US" sz="300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marL="0" indent="0">
              <a:buNone/>
            </a:pPr>
            <a:r>
              <a:rPr lang="sv-SE" altLang="en-US" sz="1800" b="1" kern="0" spc="300" dirty="0">
                <a:solidFill>
                  <a:srgbClr val="FFFFFF"/>
                </a:solidFill>
                <a:latin typeface="Roboto Condensed" pitchFamily="34" charset="0"/>
                <a:ea typeface="Roboto Condensed" pitchFamily="34" charset="-122"/>
                <a:cs typeface="Roboto Condensed" pitchFamily="34" charset="-120"/>
              </a:rPr>
              <a:t>DEL 3</a:t>
            </a:r>
            <a:endParaRPr lang="sv-SE" sz="1800" dirty="0"/>
          </a:p>
        </p:txBody>
      </p:sp>
      <p:sp>
        <p:nvSpPr>
          <p:cNvPr id="5" name="Text 3"/>
          <p:cNvSpPr txBox="1"/>
          <p:nvPr/>
        </p:nvSpPr>
        <p:spPr>
          <a:xfrm>
            <a:off x="548640" y="2560320"/>
            <a:ext cx="6583680" cy="1737360"/>
          </a:xfrm>
          <a:prstGeom prst="rect">
            <a:avLst/>
          </a:prstGeom>
          <a:noFill/>
          <a:ln/>
        </p:spPr>
        <p:txBody>
          <a:bodyPr wrap="square" lIns="0" tIns="0" rIns="0" bIns="0" rtlCol="0" anchor="t"/>
          <a:lstStyle/>
          <a:p>
            <a:pPr marL="0" indent="0">
              <a:buNone/>
            </a:pPr>
            <a:r>
              <a:rPr lang="sv-SE" altLang="en-US" sz="5400" b="1" dirty="0">
                <a:solidFill>
                  <a:srgbClr val="FFFFFF"/>
                </a:solidFill>
                <a:latin typeface="Roboto Condensed" pitchFamily="34" charset="0"/>
                <a:ea typeface="Roboto Condensed" pitchFamily="34" charset="-122"/>
                <a:cs typeface="Roboto Condensed" pitchFamily="34" charset="-120"/>
              </a:rPr>
              <a:t>Självinsikt och samtal</a:t>
            </a:r>
            <a:endParaRPr lang="sv-SE" sz="5400" dirty="0"/>
          </a:p>
        </p:txBody>
      </p:sp>
      <p:sp>
        <p:nvSpPr>
          <p:cNvPr id="6" name="Text 4"/>
          <p:cNvSpPr txBox="1"/>
          <p:nvPr/>
        </p:nvSpPr>
        <p:spPr>
          <a:xfrm>
            <a:off x="548640" y="3611880"/>
            <a:ext cx="6217920" cy="1463040"/>
          </a:xfrm>
          <a:prstGeom prst="rect">
            <a:avLst/>
          </a:prstGeom>
          <a:noFill/>
          <a:ln/>
        </p:spPr>
        <p:txBody>
          <a:bodyPr wrap="square" lIns="0" tIns="0" rIns="0" bIns="0" rtlCol="0" anchor="t"/>
          <a:lstStyle/>
          <a:p>
            <a:pPr marL="0" indent="0">
              <a:buNone/>
            </a:pPr>
            <a:r>
              <a:rPr lang="sv-SE" altLang="en-US" sz="2200" dirty="0">
                <a:solidFill>
                  <a:srgbClr val="FFFFFF"/>
                </a:solidFill>
                <a:latin typeface="Georgia" pitchFamily="34" charset="0"/>
                <a:ea typeface="Georgia" pitchFamily="34" charset="-122"/>
                <a:cs typeface="Georgia" pitchFamily="34" charset="-120"/>
              </a:rPr>
              <a:t>Medvetenhet om det som pågår i en själv, och vad man gör med den: hur man tänker och hur man säger det.</a:t>
            </a:r>
            <a:endParaRPr lang="sv-SE"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3730752"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Upplevelse</a:t>
            </a:r>
            <a:endParaRPr lang="sv-SE" sz="3000" dirty="0"/>
          </a:p>
        </p:txBody>
      </p:sp>
      <p:sp>
        <p:nvSpPr>
          <p:cNvPr id="4" name="Shape 1"/>
          <p:cNvSpPr/>
          <p:nvPr/>
        </p:nvSpPr>
        <p:spPr>
          <a:xfrm>
            <a:off x="548640" y="1554480"/>
            <a:ext cx="5387188" cy="2697480"/>
          </a:xfrm>
          <a:prstGeom prst="roundRect">
            <a:avLst>
              <a:gd name="adj" fmla="val 3390"/>
            </a:avLst>
          </a:prstGeom>
          <a:solidFill>
            <a:srgbClr val="F2F0EF"/>
          </a:solidFill>
          <a:ln w="12700">
            <a:solidFill>
              <a:srgbClr val="F2F0EF"/>
            </a:solidFill>
            <a:prstDash val="solid"/>
          </a:ln>
        </p:spPr>
        <p:txBody>
          <a:bodyPr/>
          <a:lstStyle/>
          <a:p>
            <a:endParaRPr lang="sv-SE"/>
          </a:p>
        </p:txBody>
      </p:sp>
      <p:sp>
        <p:nvSpPr>
          <p:cNvPr id="5" name="Text 2"/>
          <p:cNvSpPr txBox="1"/>
          <p:nvPr/>
        </p:nvSpPr>
        <p:spPr>
          <a:xfrm>
            <a:off x="868680" y="1783080"/>
            <a:ext cx="474710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Processen som subjekt</a:t>
            </a:r>
            <a:endParaRPr lang="sv-SE" sz="2400" dirty="0"/>
          </a:p>
        </p:txBody>
      </p:sp>
      <p:sp>
        <p:nvSpPr>
          <p:cNvPr id="6" name="Text 3"/>
          <p:cNvSpPr txBox="1"/>
          <p:nvPr/>
        </p:nvSpPr>
        <p:spPr>
          <a:xfrm>
            <a:off x="868680" y="2286000"/>
            <a:ext cx="4747108" cy="1234440"/>
          </a:xfrm>
          <a:prstGeom prst="rect">
            <a:avLst/>
          </a:prstGeom>
          <a:noFill/>
          <a:ln/>
        </p:spPr>
        <p:txBody>
          <a:bodyPr wrap="square" lIns="0" tIns="0" rIns="0" bIns="0" rtlCol="0" anchor="t"/>
          <a:lstStyle/>
          <a:p>
            <a:pPr marL="0" indent="0">
              <a:buNone/>
            </a:pPr>
            <a:r>
              <a:rPr lang="sv-SE" altLang="en-US" sz="1750" dirty="0">
                <a:solidFill>
                  <a:srgbClr val="1A1A1A"/>
                </a:solidFill>
                <a:latin typeface="Georgia" pitchFamily="34" charset="0"/>
                <a:ea typeface="Georgia" pitchFamily="34" charset="-122"/>
                <a:cs typeface="Georgia" pitchFamily="34" charset="-120"/>
              </a:rPr>
              <a:t>Känslan, tolkningen eller impulsen </a:t>
            </a:r>
            <a:r>
              <a:rPr lang="sv-SE" altLang="en-US" sz="1750" i="1" dirty="0">
                <a:solidFill>
                  <a:srgbClr val="1A1A1A"/>
                </a:solidFill>
                <a:latin typeface="Georgia" pitchFamily="34" charset="0"/>
                <a:ea typeface="Georgia" pitchFamily="34" charset="-122"/>
                <a:cs typeface="Georgia" pitchFamily="34" charset="-120"/>
              </a:rPr>
              <a:t>är</a:t>
            </a:r>
            <a:r>
              <a:rPr lang="sv-SE" altLang="en-US" sz="1750" dirty="0">
                <a:solidFill>
                  <a:srgbClr val="1A1A1A"/>
                </a:solidFill>
                <a:latin typeface="Georgia" pitchFamily="34" charset="0"/>
                <a:ea typeface="Georgia" pitchFamily="34" charset="-122"/>
                <a:cs typeface="Georgia" pitchFamily="34" charset="-120"/>
              </a:rPr>
              <a:t> jag. Den styr direkt vad jag säger och gör. Kritik mot den upplevs som angrepp på min kärna.</a:t>
            </a:r>
            <a:endParaRPr lang="sv-SE" sz="1750" dirty="0"/>
          </a:p>
        </p:txBody>
      </p:sp>
      <p:sp>
        <p:nvSpPr>
          <p:cNvPr id="7" name="Text 4"/>
          <p:cNvSpPr txBox="1"/>
          <p:nvPr/>
        </p:nvSpPr>
        <p:spPr>
          <a:xfrm>
            <a:off x="868680" y="3611880"/>
            <a:ext cx="4747108" cy="411480"/>
          </a:xfrm>
          <a:prstGeom prst="rect">
            <a:avLst/>
          </a:prstGeom>
          <a:noFill/>
          <a:ln/>
        </p:spPr>
        <p:txBody>
          <a:bodyPr wrap="square" lIns="0" tIns="0" rIns="0" bIns="0" rtlCol="0" anchor="t"/>
          <a:lstStyle/>
          <a:p>
            <a:pPr marL="0" indent="0">
              <a:buNone/>
            </a:pPr>
            <a:r>
              <a:rPr lang="sv-SE" altLang="en-US" sz="2000" b="1" dirty="0">
                <a:solidFill>
                  <a:srgbClr val="A50D1E"/>
                </a:solidFill>
                <a:latin typeface="Roboto Condensed" pitchFamily="34" charset="0"/>
                <a:ea typeface="Roboto Condensed" pitchFamily="34" charset="-122"/>
                <a:cs typeface="Roboto Condensed" pitchFamily="34" charset="-120"/>
              </a:rPr>
              <a:t>»Gunnel är obehaglig.«</a:t>
            </a:r>
            <a:endParaRPr lang="sv-SE" sz="2000" dirty="0"/>
          </a:p>
        </p:txBody>
      </p:sp>
      <p:sp>
        <p:nvSpPr>
          <p:cNvPr id="8" name="Shape 5"/>
          <p:cNvSpPr/>
          <p:nvPr/>
        </p:nvSpPr>
        <p:spPr>
          <a:xfrm>
            <a:off x="6255868" y="1554480"/>
            <a:ext cx="5387188" cy="2697480"/>
          </a:xfrm>
          <a:prstGeom prst="roundRect">
            <a:avLst>
              <a:gd name="adj" fmla="val 3390"/>
            </a:avLst>
          </a:prstGeom>
          <a:solidFill>
            <a:srgbClr val="E6F5F6"/>
          </a:solidFill>
          <a:ln w="12700">
            <a:solidFill>
              <a:srgbClr val="E6F5F6"/>
            </a:solidFill>
            <a:prstDash val="solid"/>
          </a:ln>
        </p:spPr>
        <p:txBody>
          <a:bodyPr/>
          <a:lstStyle/>
          <a:p>
            <a:endParaRPr lang="sv-SE"/>
          </a:p>
        </p:txBody>
      </p:sp>
      <p:sp>
        <p:nvSpPr>
          <p:cNvPr id="9" name="Text 6"/>
          <p:cNvSpPr txBox="1"/>
          <p:nvPr/>
        </p:nvSpPr>
        <p:spPr>
          <a:xfrm>
            <a:off x="6575908" y="1783080"/>
            <a:ext cx="474710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Processen som objekt</a:t>
            </a:r>
            <a:endParaRPr lang="sv-SE" sz="2400" dirty="0"/>
          </a:p>
        </p:txBody>
      </p:sp>
      <p:sp>
        <p:nvSpPr>
          <p:cNvPr id="10" name="Text 7"/>
          <p:cNvSpPr txBox="1"/>
          <p:nvPr/>
        </p:nvSpPr>
        <p:spPr>
          <a:xfrm>
            <a:off x="6575908" y="2286000"/>
            <a:ext cx="4747108" cy="1234440"/>
          </a:xfrm>
          <a:prstGeom prst="rect">
            <a:avLst/>
          </a:prstGeom>
          <a:noFill/>
          <a:ln/>
        </p:spPr>
        <p:txBody>
          <a:bodyPr wrap="square" lIns="0" tIns="0" rIns="0" bIns="0" rtlCol="0" anchor="t"/>
          <a:lstStyle/>
          <a:p>
            <a:pPr marL="0" indent="0">
              <a:buNone/>
            </a:pPr>
            <a:r>
              <a:rPr lang="sv-SE" altLang="en-US" sz="1750" dirty="0">
                <a:solidFill>
                  <a:srgbClr val="1A1A1A"/>
                </a:solidFill>
                <a:latin typeface="Georgia" pitchFamily="34" charset="0"/>
                <a:ea typeface="Georgia" pitchFamily="34" charset="-122"/>
                <a:cs typeface="Georgia" pitchFamily="34" charset="-120"/>
              </a:rPr>
              <a:t>Jag </a:t>
            </a:r>
            <a:r>
              <a:rPr lang="sv-SE" altLang="en-US" sz="1750" i="1" dirty="0">
                <a:solidFill>
                  <a:srgbClr val="1A1A1A"/>
                </a:solidFill>
                <a:latin typeface="Georgia" pitchFamily="34" charset="0"/>
                <a:ea typeface="Georgia" pitchFamily="34" charset="-122"/>
                <a:cs typeface="Georgia" pitchFamily="34" charset="-120"/>
              </a:rPr>
              <a:t>har</a:t>
            </a:r>
            <a:r>
              <a:rPr lang="sv-SE" altLang="en-US" sz="1750" dirty="0">
                <a:solidFill>
                  <a:srgbClr val="1A1A1A"/>
                </a:solidFill>
                <a:latin typeface="Georgia" pitchFamily="34" charset="0"/>
                <a:ea typeface="Georgia" pitchFamily="34" charset="-122"/>
                <a:cs typeface="Georgia" pitchFamily="34" charset="-120"/>
              </a:rPr>
              <a:t> en känsla, en tolkning, en impuls. Jag kan betrakta den, värdera den och välja vad jag gör med den.</a:t>
            </a:r>
            <a:endParaRPr lang="sv-SE" sz="1750" dirty="0"/>
          </a:p>
        </p:txBody>
      </p:sp>
      <p:sp>
        <p:nvSpPr>
          <p:cNvPr id="11" name="Text 8"/>
          <p:cNvSpPr txBox="1"/>
          <p:nvPr/>
        </p:nvSpPr>
        <p:spPr>
          <a:xfrm>
            <a:off x="6575908" y="3611880"/>
            <a:ext cx="4747108" cy="411480"/>
          </a:xfrm>
          <a:prstGeom prst="rect">
            <a:avLst/>
          </a:prstGeom>
          <a:noFill/>
          <a:ln/>
        </p:spPr>
        <p:txBody>
          <a:bodyPr wrap="square" lIns="0" tIns="0" rIns="0" bIns="0" rtlCol="0" anchor="t"/>
          <a:lstStyle/>
          <a:p>
            <a:pPr marL="0" indent="0">
              <a:buNone/>
            </a:pPr>
            <a:r>
              <a:rPr lang="sv-SE" altLang="en-US" sz="2000" b="1" dirty="0">
                <a:solidFill>
                  <a:srgbClr val="005A5F"/>
                </a:solidFill>
                <a:latin typeface="Roboto Condensed" pitchFamily="34" charset="0"/>
                <a:ea typeface="Roboto Condensed" pitchFamily="34" charset="-122"/>
                <a:cs typeface="Roboto Condensed" pitchFamily="34" charset="-120"/>
              </a:rPr>
              <a:t>»Jag känner obehag inför Gunnel.«</a:t>
            </a:r>
            <a:endParaRPr lang="sv-SE" sz="2000" dirty="0"/>
          </a:p>
        </p:txBody>
      </p:sp>
      <p:sp>
        <p:nvSpPr>
          <p:cNvPr id="12" name="Shape 9"/>
          <p:cNvSpPr/>
          <p:nvPr/>
        </p:nvSpPr>
        <p:spPr>
          <a:xfrm>
            <a:off x="548640" y="4572000"/>
            <a:ext cx="3771290" cy="1554480"/>
          </a:xfrm>
          <a:prstGeom prst="homePlate">
            <a:avLst/>
          </a:prstGeom>
          <a:solidFill>
            <a:srgbClr val="B00818"/>
          </a:solidFill>
          <a:ln w="25400">
            <a:solidFill>
              <a:srgbClr val="FFFFFF"/>
            </a:solidFill>
            <a:prstDash val="solid"/>
          </a:ln>
        </p:spPr>
        <p:txBody>
          <a:bodyPr/>
          <a:lstStyle/>
          <a:p>
            <a:endParaRPr lang="sv-SE"/>
          </a:p>
        </p:txBody>
      </p:sp>
      <p:sp>
        <p:nvSpPr>
          <p:cNvPr id="13" name="Text 10"/>
          <p:cNvSpPr txBox="1"/>
          <p:nvPr/>
        </p:nvSpPr>
        <p:spPr>
          <a:xfrm>
            <a:off x="960120" y="4572000"/>
            <a:ext cx="2582570" cy="1554480"/>
          </a:xfrm>
          <a:prstGeom prst="rect">
            <a:avLst/>
          </a:prstGeom>
          <a:noFill/>
          <a:ln/>
        </p:spPr>
        <p:txBody>
          <a:bodyPr wrap="square" lIns="0" tIns="0" rIns="0" bIns="0" rtlCol="0" anchor="ctr"/>
          <a:lstStyle/>
          <a:p>
            <a:pPr marL="0" indent="0">
              <a:buNone/>
            </a:pPr>
            <a:r>
              <a:rPr lang="sv-SE" altLang="en-US" sz="2100" b="1" dirty="0">
                <a:solidFill>
                  <a:srgbClr val="FFFFFF"/>
                </a:solidFill>
                <a:latin typeface="Roboto Condensed" pitchFamily="34" charset="0"/>
                <a:ea typeface="Roboto Condensed" pitchFamily="34" charset="-122"/>
                <a:cs typeface="Roboto Condensed" pitchFamily="34" charset="-120"/>
              </a:rPr>
              <a:t>I  Varsebli</a:t>
            </a:r>
            <a:endParaRPr lang="sv-SE" sz="2100" dirty="0"/>
          </a:p>
          <a:p>
            <a:pPr marL="0" indent="0">
              <a:buNone/>
            </a:pPr>
            <a:r>
              <a:rPr lang="sv-SE" altLang="en-US" sz="1550" dirty="0">
                <a:solidFill>
                  <a:srgbClr val="FFFFFF"/>
                </a:solidFill>
                <a:latin typeface="Roboto Condensed" pitchFamily="34" charset="0"/>
                <a:ea typeface="Roboto Condensed" pitchFamily="34" charset="-122"/>
                <a:cs typeface="Roboto Condensed" pitchFamily="34" charset="-120"/>
              </a:rPr>
              <a:t>Lägga märke till och sätta ord på</a:t>
            </a:r>
            <a:endParaRPr lang="sv-SE" sz="2100" dirty="0"/>
          </a:p>
        </p:txBody>
      </p:sp>
      <p:sp>
        <p:nvSpPr>
          <p:cNvPr id="14" name="Shape 11"/>
          <p:cNvSpPr/>
          <p:nvPr/>
        </p:nvSpPr>
        <p:spPr>
          <a:xfrm>
            <a:off x="4210202" y="4572000"/>
            <a:ext cx="3771290" cy="1554480"/>
          </a:xfrm>
          <a:prstGeom prst="homePlate">
            <a:avLst/>
          </a:prstGeom>
          <a:solidFill>
            <a:srgbClr val="7A0A16"/>
          </a:solidFill>
          <a:ln w="25400">
            <a:solidFill>
              <a:srgbClr val="FFFFFF"/>
            </a:solidFill>
            <a:prstDash val="solid"/>
          </a:ln>
        </p:spPr>
        <p:txBody>
          <a:bodyPr/>
          <a:lstStyle/>
          <a:p>
            <a:endParaRPr lang="sv-SE"/>
          </a:p>
        </p:txBody>
      </p:sp>
      <p:sp>
        <p:nvSpPr>
          <p:cNvPr id="15" name="Text 12"/>
          <p:cNvSpPr txBox="1"/>
          <p:nvPr/>
        </p:nvSpPr>
        <p:spPr>
          <a:xfrm>
            <a:off x="4621682" y="4572000"/>
            <a:ext cx="2582570" cy="1554480"/>
          </a:xfrm>
          <a:prstGeom prst="rect">
            <a:avLst/>
          </a:prstGeom>
          <a:noFill/>
          <a:ln/>
        </p:spPr>
        <p:txBody>
          <a:bodyPr wrap="square" lIns="0" tIns="0" rIns="0" bIns="0" rtlCol="0" anchor="ctr"/>
          <a:lstStyle/>
          <a:p>
            <a:pPr marL="0" indent="0">
              <a:buNone/>
            </a:pPr>
            <a:r>
              <a:rPr lang="sv-SE" altLang="en-US" sz="2100" b="1" dirty="0">
                <a:solidFill>
                  <a:srgbClr val="FFFFFF"/>
                </a:solidFill>
                <a:latin typeface="Roboto Condensed" pitchFamily="34" charset="0"/>
                <a:ea typeface="Roboto Condensed" pitchFamily="34" charset="-122"/>
                <a:cs typeface="Roboto Condensed" pitchFamily="34" charset="-120"/>
              </a:rPr>
              <a:t>II  Tolka och utvärdera</a:t>
            </a:r>
            <a:endParaRPr lang="sv-SE" sz="2100" dirty="0"/>
          </a:p>
          <a:p>
            <a:pPr marL="0" indent="0">
              <a:buNone/>
            </a:pPr>
            <a:r>
              <a:rPr lang="sv-SE" altLang="en-US" sz="1550" dirty="0">
                <a:solidFill>
                  <a:srgbClr val="FFFFFF"/>
                </a:solidFill>
                <a:latin typeface="Roboto Condensed" pitchFamily="34" charset="0"/>
                <a:ea typeface="Roboto Condensed" pitchFamily="34" charset="-122"/>
                <a:cs typeface="Roboto Condensed" pitchFamily="34" charset="-120"/>
              </a:rPr>
              <a:t>Är detta rimligt, önskvärt, förenligt med mina värden?</a:t>
            </a:r>
            <a:endParaRPr lang="sv-SE" sz="2100" dirty="0"/>
          </a:p>
        </p:txBody>
      </p:sp>
      <p:sp>
        <p:nvSpPr>
          <p:cNvPr id="16" name="Shape 13"/>
          <p:cNvSpPr/>
          <p:nvPr/>
        </p:nvSpPr>
        <p:spPr>
          <a:xfrm>
            <a:off x="7871765" y="4572000"/>
            <a:ext cx="3771290" cy="1554480"/>
          </a:xfrm>
          <a:prstGeom prst="homePlate">
            <a:avLst/>
          </a:prstGeom>
          <a:solidFill>
            <a:srgbClr val="005A5F"/>
          </a:solidFill>
          <a:ln w="25400">
            <a:solidFill>
              <a:srgbClr val="FFFFFF"/>
            </a:solidFill>
            <a:prstDash val="solid"/>
          </a:ln>
        </p:spPr>
        <p:txBody>
          <a:bodyPr/>
          <a:lstStyle/>
          <a:p>
            <a:endParaRPr lang="sv-SE"/>
          </a:p>
        </p:txBody>
      </p:sp>
      <p:sp>
        <p:nvSpPr>
          <p:cNvPr id="17" name="Text 14"/>
          <p:cNvSpPr txBox="1"/>
          <p:nvPr/>
        </p:nvSpPr>
        <p:spPr>
          <a:xfrm>
            <a:off x="8283245" y="4572000"/>
            <a:ext cx="2582570" cy="1554480"/>
          </a:xfrm>
          <a:prstGeom prst="rect">
            <a:avLst/>
          </a:prstGeom>
          <a:noFill/>
          <a:ln/>
        </p:spPr>
        <p:txBody>
          <a:bodyPr wrap="square" lIns="0" tIns="0" rIns="0" bIns="0" rtlCol="0" anchor="ctr"/>
          <a:lstStyle/>
          <a:p>
            <a:pPr marL="0" indent="0">
              <a:buNone/>
            </a:pPr>
            <a:r>
              <a:rPr lang="sv-SE" altLang="en-US" sz="2100" b="1" dirty="0">
                <a:solidFill>
                  <a:srgbClr val="FFFFFF"/>
                </a:solidFill>
                <a:latin typeface="Roboto Condensed" pitchFamily="34" charset="0"/>
                <a:ea typeface="Roboto Condensed" pitchFamily="34" charset="-122"/>
                <a:cs typeface="Roboto Condensed" pitchFamily="34" charset="-120"/>
              </a:rPr>
              <a:t>III  Förändra</a:t>
            </a:r>
            <a:endParaRPr lang="sv-SE" sz="2100" dirty="0"/>
          </a:p>
          <a:p>
            <a:pPr marL="0" indent="0">
              <a:buNone/>
            </a:pPr>
            <a:r>
              <a:rPr lang="sv-SE" altLang="en-US" sz="1550" dirty="0">
                <a:solidFill>
                  <a:srgbClr val="FFFFFF"/>
                </a:solidFill>
                <a:latin typeface="Roboto Condensed" pitchFamily="34" charset="0"/>
                <a:ea typeface="Roboto Condensed" pitchFamily="34" charset="-122"/>
                <a:cs typeface="Roboto Condensed" pitchFamily="34" charset="-120"/>
              </a:rPr>
              <a:t>Aktivt arbeta med det som pågår i mig</a:t>
            </a:r>
            <a:endParaRPr lang="sv-SE"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VAD FORSKNINGEN LÄGGER TILL</a:t>
            </a:r>
            <a:endParaRPr lang="sv-SE" sz="1400" dirty="0"/>
          </a:p>
        </p:txBody>
      </p:sp>
      <p:sp>
        <p:nvSpPr>
          <p:cNvPr id="4" name="Text 1"/>
          <p:cNvSpPr txBox="1"/>
          <p:nvPr/>
        </p:nvSpPr>
        <p:spPr>
          <a:xfrm rot="21480000">
            <a:off x="548640" y="502920"/>
            <a:ext cx="4526280"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Fyra tankegrepp i stunden</a:t>
            </a:r>
            <a:endParaRPr lang="sv-SE" sz="3000" dirty="0"/>
          </a:p>
        </p:txBody>
      </p:sp>
      <p:sp>
        <p:nvSpPr>
          <p:cNvPr id="5" name="Shape 2"/>
          <p:cNvSpPr/>
          <p:nvPr/>
        </p:nvSpPr>
        <p:spPr>
          <a:xfrm>
            <a:off x="548640" y="1554480"/>
            <a:ext cx="5387188" cy="1984248"/>
          </a:xfrm>
          <a:prstGeom prst="roundRect">
            <a:avLst>
              <a:gd name="adj" fmla="val 4608"/>
            </a:avLst>
          </a:prstGeom>
          <a:solidFill>
            <a:srgbClr val="F2F0EF"/>
          </a:solidFill>
          <a:ln w="12700">
            <a:solidFill>
              <a:srgbClr val="F2F0EF"/>
            </a:solidFill>
            <a:prstDash val="solid"/>
          </a:ln>
        </p:spPr>
        <p:txBody>
          <a:bodyPr/>
          <a:lstStyle/>
          <a:p>
            <a:endParaRPr lang="sv-SE"/>
          </a:p>
        </p:txBody>
      </p:sp>
      <p:sp>
        <p:nvSpPr>
          <p:cNvPr id="6" name="Shape 3"/>
          <p:cNvSpPr/>
          <p:nvPr/>
        </p:nvSpPr>
        <p:spPr>
          <a:xfrm>
            <a:off x="822960" y="1810512"/>
            <a:ext cx="640080" cy="640080"/>
          </a:xfrm>
          <a:prstGeom prst="ellipse">
            <a:avLst/>
          </a:prstGeom>
          <a:solidFill>
            <a:srgbClr val="D80811"/>
          </a:solidFill>
          <a:ln w="12700">
            <a:solidFill>
              <a:srgbClr val="D80811"/>
            </a:solidFill>
            <a:prstDash val="solid"/>
          </a:ln>
        </p:spPr>
        <p:txBody>
          <a:bodyPr/>
          <a:lstStyle/>
          <a:p>
            <a:endParaRPr lang="sv-SE"/>
          </a:p>
        </p:txBody>
      </p:sp>
      <p:sp>
        <p:nvSpPr>
          <p:cNvPr id="7" name="Text 4"/>
          <p:cNvSpPr txBox="1"/>
          <p:nvPr/>
        </p:nvSpPr>
        <p:spPr>
          <a:xfrm>
            <a:off x="822960" y="1810512"/>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1</a:t>
            </a:r>
            <a:endParaRPr lang="en-US" sz="2380" dirty="0"/>
          </a:p>
        </p:txBody>
      </p:sp>
      <p:sp>
        <p:nvSpPr>
          <p:cNvPr id="8" name="Text 5"/>
          <p:cNvSpPr txBox="1"/>
          <p:nvPr/>
        </p:nvSpPr>
        <p:spPr>
          <a:xfrm>
            <a:off x="1691640" y="1737360"/>
            <a:ext cx="401558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Byt perspektiv</a:t>
            </a:r>
            <a:endParaRPr lang="sv-SE" sz="2400" dirty="0"/>
          </a:p>
        </p:txBody>
      </p:sp>
      <p:sp>
        <p:nvSpPr>
          <p:cNvPr id="9" name="Text 6"/>
          <p:cNvSpPr txBox="1"/>
          <p:nvPr/>
        </p:nvSpPr>
        <p:spPr>
          <a:xfrm>
            <a:off x="1691640" y="2176272"/>
            <a:ext cx="4015588" cy="96012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Fråga vad hen tänker och vill, inte bara vad hen känner. I ett experiment gav det uppgörelse i 76 % av fallen, mot 39 % utan.</a:t>
            </a:r>
            <a:endParaRPr lang="sv-SE" sz="1550" dirty="0"/>
          </a:p>
        </p:txBody>
      </p:sp>
      <p:sp>
        <p:nvSpPr>
          <p:cNvPr id="10" name="Text 7"/>
          <p:cNvSpPr txBox="1"/>
          <p:nvPr/>
        </p:nvSpPr>
        <p:spPr>
          <a:xfrm>
            <a:off x="1691640" y="3163824"/>
            <a:ext cx="4061308" cy="320040"/>
          </a:xfrm>
          <a:prstGeom prst="rect">
            <a:avLst/>
          </a:prstGeom>
          <a:noFill/>
          <a:ln/>
        </p:spPr>
        <p:txBody>
          <a:bodyPr wrap="square" lIns="0" tIns="0" rIns="0" bIns="0" rtlCol="0" anchor="t"/>
          <a:lstStyle/>
          <a:p>
            <a:pPr marL="0" indent="0">
              <a:buNone/>
            </a:pPr>
            <a:r>
              <a:rPr lang="sv-SE" altLang="en-US" sz="1650" b="1" i="1" dirty="0">
                <a:solidFill>
                  <a:srgbClr val="A50D1E"/>
                </a:solidFill>
                <a:latin typeface="Georgia" pitchFamily="34" charset="0"/>
                <a:ea typeface="Georgia" pitchFamily="34" charset="-122"/>
                <a:cs typeface="Georgia" pitchFamily="34" charset="-120"/>
              </a:rPr>
              <a:t>»Hur ser det ut från hens stol?«</a:t>
            </a:r>
            <a:endParaRPr lang="sv-SE" sz="1650" dirty="0"/>
          </a:p>
        </p:txBody>
      </p:sp>
      <p:sp>
        <p:nvSpPr>
          <p:cNvPr id="11" name="Shape 8"/>
          <p:cNvSpPr/>
          <p:nvPr/>
        </p:nvSpPr>
        <p:spPr>
          <a:xfrm>
            <a:off x="6255868" y="1554480"/>
            <a:ext cx="5387188" cy="1984248"/>
          </a:xfrm>
          <a:prstGeom prst="roundRect">
            <a:avLst>
              <a:gd name="adj" fmla="val 4608"/>
            </a:avLst>
          </a:prstGeom>
          <a:solidFill>
            <a:srgbClr val="F2F0EF"/>
          </a:solidFill>
          <a:ln w="12700">
            <a:solidFill>
              <a:srgbClr val="F2F0EF"/>
            </a:solidFill>
            <a:prstDash val="solid"/>
          </a:ln>
        </p:spPr>
        <p:txBody>
          <a:bodyPr/>
          <a:lstStyle/>
          <a:p>
            <a:endParaRPr lang="sv-SE"/>
          </a:p>
        </p:txBody>
      </p:sp>
      <p:sp>
        <p:nvSpPr>
          <p:cNvPr id="12" name="Shape 9"/>
          <p:cNvSpPr/>
          <p:nvPr/>
        </p:nvSpPr>
        <p:spPr>
          <a:xfrm>
            <a:off x="6530188" y="1810512"/>
            <a:ext cx="640080" cy="640080"/>
          </a:xfrm>
          <a:prstGeom prst="ellipse">
            <a:avLst/>
          </a:prstGeom>
          <a:solidFill>
            <a:srgbClr val="00797F"/>
          </a:solidFill>
          <a:ln w="12700">
            <a:solidFill>
              <a:srgbClr val="00797F"/>
            </a:solidFill>
            <a:prstDash val="solid"/>
          </a:ln>
        </p:spPr>
        <p:txBody>
          <a:bodyPr/>
          <a:lstStyle/>
          <a:p>
            <a:endParaRPr lang="sv-SE"/>
          </a:p>
        </p:txBody>
      </p:sp>
      <p:sp>
        <p:nvSpPr>
          <p:cNvPr id="13" name="Text 10"/>
          <p:cNvSpPr txBox="1"/>
          <p:nvPr/>
        </p:nvSpPr>
        <p:spPr>
          <a:xfrm>
            <a:off x="6530188" y="1810512"/>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2</a:t>
            </a:r>
            <a:endParaRPr lang="en-US" sz="2380" dirty="0"/>
          </a:p>
        </p:txBody>
      </p:sp>
      <p:sp>
        <p:nvSpPr>
          <p:cNvPr id="14" name="Text 11"/>
          <p:cNvSpPr txBox="1"/>
          <p:nvPr/>
        </p:nvSpPr>
        <p:spPr>
          <a:xfrm>
            <a:off x="7398868" y="1737360"/>
            <a:ext cx="401558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Zooma ut</a:t>
            </a:r>
            <a:endParaRPr lang="sv-SE" sz="2400" dirty="0"/>
          </a:p>
        </p:txBody>
      </p:sp>
      <p:sp>
        <p:nvSpPr>
          <p:cNvPr id="15" name="Text 12"/>
          <p:cNvSpPr txBox="1"/>
          <p:nvPr/>
        </p:nvSpPr>
        <p:spPr>
          <a:xfrm>
            <a:off x="7398868" y="2176272"/>
            <a:ext cx="4015588" cy="96012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Vi resonerar klokare om andras problem än om våra egna. Avstånd tar bort den skillnaden.</a:t>
            </a:r>
            <a:endParaRPr lang="sv-SE" sz="1550" dirty="0"/>
          </a:p>
        </p:txBody>
      </p:sp>
      <p:sp>
        <p:nvSpPr>
          <p:cNvPr id="16" name="Text 13"/>
          <p:cNvSpPr txBox="1"/>
          <p:nvPr/>
        </p:nvSpPr>
        <p:spPr>
          <a:xfrm>
            <a:off x="7398868" y="3163824"/>
            <a:ext cx="4061308" cy="320040"/>
          </a:xfrm>
          <a:prstGeom prst="rect">
            <a:avLst/>
          </a:prstGeom>
          <a:noFill/>
          <a:ln/>
        </p:spPr>
        <p:txBody>
          <a:bodyPr wrap="square" lIns="0" tIns="0" rIns="0" bIns="0" rtlCol="0" anchor="t"/>
          <a:lstStyle/>
          <a:p>
            <a:pPr marL="0" indent="0">
              <a:buNone/>
            </a:pPr>
            <a:r>
              <a:rPr lang="sv-SE" altLang="en-US" sz="1650" b="1" i="1" dirty="0">
                <a:solidFill>
                  <a:srgbClr val="A50D1E"/>
                </a:solidFill>
                <a:latin typeface="Georgia" pitchFamily="34" charset="0"/>
                <a:ea typeface="Georgia" pitchFamily="34" charset="-122"/>
                <a:cs typeface="Georgia" pitchFamily="34" charset="-120"/>
              </a:rPr>
              <a:t>»Vad skulle jag råda en vän?«</a:t>
            </a:r>
            <a:endParaRPr lang="sv-SE" sz="1650" dirty="0"/>
          </a:p>
        </p:txBody>
      </p:sp>
      <p:sp>
        <p:nvSpPr>
          <p:cNvPr id="17" name="Shape 14"/>
          <p:cNvSpPr/>
          <p:nvPr/>
        </p:nvSpPr>
        <p:spPr>
          <a:xfrm>
            <a:off x="548640" y="3657600"/>
            <a:ext cx="5387188" cy="1984248"/>
          </a:xfrm>
          <a:prstGeom prst="roundRect">
            <a:avLst>
              <a:gd name="adj" fmla="val 4608"/>
            </a:avLst>
          </a:prstGeom>
          <a:solidFill>
            <a:srgbClr val="F2F0EF"/>
          </a:solidFill>
          <a:ln w="12700">
            <a:solidFill>
              <a:srgbClr val="F2F0EF"/>
            </a:solidFill>
            <a:prstDash val="solid"/>
          </a:ln>
        </p:spPr>
        <p:txBody>
          <a:bodyPr/>
          <a:lstStyle/>
          <a:p>
            <a:endParaRPr lang="sv-SE"/>
          </a:p>
        </p:txBody>
      </p:sp>
      <p:sp>
        <p:nvSpPr>
          <p:cNvPr id="18" name="Shape 15"/>
          <p:cNvSpPr/>
          <p:nvPr/>
        </p:nvSpPr>
        <p:spPr>
          <a:xfrm>
            <a:off x="822960" y="3913632"/>
            <a:ext cx="640080" cy="640080"/>
          </a:xfrm>
          <a:prstGeom prst="ellipse">
            <a:avLst/>
          </a:prstGeom>
          <a:solidFill>
            <a:srgbClr val="00797F"/>
          </a:solidFill>
          <a:ln w="12700">
            <a:solidFill>
              <a:srgbClr val="00797F"/>
            </a:solidFill>
            <a:prstDash val="solid"/>
          </a:ln>
        </p:spPr>
        <p:txBody>
          <a:bodyPr/>
          <a:lstStyle/>
          <a:p>
            <a:endParaRPr lang="sv-SE"/>
          </a:p>
        </p:txBody>
      </p:sp>
      <p:sp>
        <p:nvSpPr>
          <p:cNvPr id="19" name="Text 16"/>
          <p:cNvSpPr txBox="1"/>
          <p:nvPr/>
        </p:nvSpPr>
        <p:spPr>
          <a:xfrm>
            <a:off x="822960" y="3913632"/>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3</a:t>
            </a:r>
            <a:endParaRPr lang="en-US" sz="2380" dirty="0"/>
          </a:p>
        </p:txBody>
      </p:sp>
      <p:sp>
        <p:nvSpPr>
          <p:cNvPr id="20" name="Text 17"/>
          <p:cNvSpPr txBox="1"/>
          <p:nvPr/>
        </p:nvSpPr>
        <p:spPr>
          <a:xfrm>
            <a:off x="1691640" y="3840480"/>
            <a:ext cx="401558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Väg in bådas intressen</a:t>
            </a:r>
            <a:endParaRPr lang="sv-SE" sz="2400" dirty="0"/>
          </a:p>
        </p:txBody>
      </p:sp>
      <p:sp>
        <p:nvSpPr>
          <p:cNvPr id="21" name="Text 18"/>
          <p:cNvSpPr txBox="1"/>
          <p:nvPr/>
        </p:nvSpPr>
        <p:spPr>
          <a:xfrm>
            <a:off x="1691640" y="4279392"/>
            <a:ext cx="4015588" cy="96012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Varken ge upp allt eller köra över. Båda ytterligheterna kostar i längden.</a:t>
            </a:r>
            <a:endParaRPr lang="sv-SE" sz="1550" dirty="0"/>
          </a:p>
        </p:txBody>
      </p:sp>
      <p:sp>
        <p:nvSpPr>
          <p:cNvPr id="22" name="Text 19"/>
          <p:cNvSpPr txBox="1"/>
          <p:nvPr/>
        </p:nvSpPr>
        <p:spPr>
          <a:xfrm>
            <a:off x="1691640" y="5266944"/>
            <a:ext cx="4061308" cy="320040"/>
          </a:xfrm>
          <a:prstGeom prst="rect">
            <a:avLst/>
          </a:prstGeom>
          <a:noFill/>
          <a:ln/>
        </p:spPr>
        <p:txBody>
          <a:bodyPr wrap="square" lIns="0" tIns="0" rIns="0" bIns="0" rtlCol="0" anchor="t"/>
          <a:lstStyle/>
          <a:p>
            <a:pPr marL="0" indent="0">
              <a:buNone/>
            </a:pPr>
            <a:r>
              <a:rPr lang="sv-SE" altLang="en-US" sz="1650" b="1" i="1" dirty="0">
                <a:solidFill>
                  <a:srgbClr val="A50D1E"/>
                </a:solidFill>
                <a:latin typeface="Georgia" pitchFamily="34" charset="0"/>
                <a:ea typeface="Georgia" pitchFamily="34" charset="-122"/>
                <a:cs typeface="Georgia" pitchFamily="34" charset="-120"/>
              </a:rPr>
              <a:t>»Vad behöver vi båda?«</a:t>
            </a:r>
            <a:endParaRPr lang="sv-SE" sz="1650" dirty="0"/>
          </a:p>
        </p:txBody>
      </p:sp>
      <p:sp>
        <p:nvSpPr>
          <p:cNvPr id="23" name="Shape 20"/>
          <p:cNvSpPr/>
          <p:nvPr/>
        </p:nvSpPr>
        <p:spPr>
          <a:xfrm>
            <a:off x="6255868" y="3657600"/>
            <a:ext cx="5387188" cy="1984248"/>
          </a:xfrm>
          <a:prstGeom prst="roundRect">
            <a:avLst>
              <a:gd name="adj" fmla="val 4608"/>
            </a:avLst>
          </a:prstGeom>
          <a:solidFill>
            <a:srgbClr val="F2F0EF"/>
          </a:solidFill>
          <a:ln w="12700">
            <a:solidFill>
              <a:srgbClr val="F2F0EF"/>
            </a:solidFill>
            <a:prstDash val="solid"/>
          </a:ln>
        </p:spPr>
        <p:txBody>
          <a:bodyPr/>
          <a:lstStyle/>
          <a:p>
            <a:endParaRPr lang="sv-SE"/>
          </a:p>
        </p:txBody>
      </p:sp>
      <p:sp>
        <p:nvSpPr>
          <p:cNvPr id="24" name="Shape 21"/>
          <p:cNvSpPr/>
          <p:nvPr/>
        </p:nvSpPr>
        <p:spPr>
          <a:xfrm>
            <a:off x="6530188" y="3913632"/>
            <a:ext cx="640080" cy="640080"/>
          </a:xfrm>
          <a:prstGeom prst="ellipse">
            <a:avLst/>
          </a:prstGeom>
          <a:solidFill>
            <a:srgbClr val="D80811"/>
          </a:solidFill>
          <a:ln w="12700">
            <a:solidFill>
              <a:srgbClr val="D80811"/>
            </a:solidFill>
            <a:prstDash val="solid"/>
          </a:ln>
        </p:spPr>
        <p:txBody>
          <a:bodyPr/>
          <a:lstStyle/>
          <a:p>
            <a:endParaRPr lang="sv-SE"/>
          </a:p>
        </p:txBody>
      </p:sp>
      <p:sp>
        <p:nvSpPr>
          <p:cNvPr id="25" name="Text 22"/>
          <p:cNvSpPr txBox="1"/>
          <p:nvPr/>
        </p:nvSpPr>
        <p:spPr>
          <a:xfrm>
            <a:off x="6530188" y="3913632"/>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4</a:t>
            </a:r>
            <a:endParaRPr lang="en-US" sz="2380" dirty="0"/>
          </a:p>
        </p:txBody>
      </p:sp>
      <p:sp>
        <p:nvSpPr>
          <p:cNvPr id="26" name="Text 23"/>
          <p:cNvSpPr txBox="1"/>
          <p:nvPr/>
        </p:nvSpPr>
        <p:spPr>
          <a:xfrm>
            <a:off x="7398868" y="3840480"/>
            <a:ext cx="4015588" cy="411480"/>
          </a:xfrm>
          <a:prstGeom prst="rect">
            <a:avLst/>
          </a:prstGeom>
          <a:noFill/>
          <a:ln/>
        </p:spPr>
        <p:txBody>
          <a:bodyPr wrap="square" lIns="0" tIns="0" rIns="0" bIns="0" rtlCol="0" anchor="t"/>
          <a:lstStyle/>
          <a:p>
            <a:pPr marL="0" indent="0">
              <a:buNone/>
            </a:pPr>
            <a:r>
              <a:rPr lang="sv-SE" altLang="en-US" sz="2400" b="1" dirty="0">
                <a:solidFill>
                  <a:srgbClr val="1A1A1A"/>
                </a:solidFill>
                <a:latin typeface="Roboto Condensed" pitchFamily="34" charset="0"/>
                <a:ea typeface="Roboto Condensed" pitchFamily="34" charset="-122"/>
                <a:cs typeface="Roboto Condensed" pitchFamily="34" charset="-120"/>
              </a:rPr>
              <a:t>Tolka om</a:t>
            </a:r>
            <a:endParaRPr lang="sv-SE" sz="2400" dirty="0"/>
          </a:p>
        </p:txBody>
      </p:sp>
      <p:sp>
        <p:nvSpPr>
          <p:cNvPr id="27" name="Text 24"/>
          <p:cNvSpPr txBox="1"/>
          <p:nvPr/>
        </p:nvSpPr>
        <p:spPr>
          <a:xfrm>
            <a:off x="7398868" y="4279392"/>
            <a:ext cx="4015588" cy="960120"/>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Beskriv händelsen som en neutral tredje part som vill båda väl. Tre skrivövningar på sju minuter bromsade nedgången hos gifta par.</a:t>
            </a:r>
            <a:endParaRPr lang="sv-SE" sz="1550" dirty="0"/>
          </a:p>
        </p:txBody>
      </p:sp>
      <p:sp>
        <p:nvSpPr>
          <p:cNvPr id="28" name="Text 25"/>
          <p:cNvSpPr txBox="1"/>
          <p:nvPr/>
        </p:nvSpPr>
        <p:spPr>
          <a:xfrm>
            <a:off x="7398868" y="5266944"/>
            <a:ext cx="4061308" cy="320040"/>
          </a:xfrm>
          <a:prstGeom prst="rect">
            <a:avLst/>
          </a:prstGeom>
          <a:noFill/>
          <a:ln/>
        </p:spPr>
        <p:txBody>
          <a:bodyPr wrap="square" lIns="0" tIns="0" rIns="0" bIns="0" rtlCol="0" anchor="t"/>
          <a:lstStyle/>
          <a:p>
            <a:pPr marL="0" indent="0">
              <a:buNone/>
            </a:pPr>
            <a:r>
              <a:rPr lang="sv-SE" altLang="en-US" sz="1650" b="1" i="1" dirty="0">
                <a:solidFill>
                  <a:srgbClr val="A50D1E"/>
                </a:solidFill>
                <a:latin typeface="Georgia" pitchFamily="34" charset="0"/>
                <a:ea typeface="Georgia" pitchFamily="34" charset="-122"/>
                <a:cs typeface="Georgia" pitchFamily="34" charset="-120"/>
              </a:rPr>
              <a:t>»Vad mer kan ligga bakom?«</a:t>
            </a:r>
            <a:endParaRPr lang="sv-SE" sz="1650" dirty="0"/>
          </a:p>
        </p:txBody>
      </p:sp>
      <p:sp>
        <p:nvSpPr>
          <p:cNvPr id="29" name="Shape 26"/>
          <p:cNvSpPr/>
          <p:nvPr/>
        </p:nvSpPr>
        <p:spPr>
          <a:xfrm>
            <a:off x="548640" y="5788152"/>
            <a:ext cx="11094415" cy="475488"/>
          </a:xfrm>
          <a:prstGeom prst="roundRect">
            <a:avLst>
              <a:gd name="adj" fmla="val 19231"/>
            </a:avLst>
          </a:prstGeom>
          <a:solidFill>
            <a:srgbClr val="FFEBC2"/>
          </a:solidFill>
          <a:ln w="12700">
            <a:solidFill>
              <a:srgbClr val="FFEBC2"/>
            </a:solidFill>
            <a:prstDash val="solid"/>
          </a:ln>
        </p:spPr>
        <p:txBody>
          <a:bodyPr/>
          <a:lstStyle/>
          <a:p>
            <a:endParaRPr lang="sv-SE"/>
          </a:p>
        </p:txBody>
      </p:sp>
      <p:sp>
        <p:nvSpPr>
          <p:cNvPr id="30" name="Text 27"/>
          <p:cNvSpPr txBox="1"/>
          <p:nvPr/>
        </p:nvSpPr>
        <p:spPr>
          <a:xfrm>
            <a:off x="914400" y="5788152"/>
            <a:ext cx="10362895" cy="475488"/>
          </a:xfrm>
          <a:prstGeom prst="rect">
            <a:avLst/>
          </a:prstGeom>
          <a:noFill/>
          <a:ln/>
        </p:spPr>
        <p:txBody>
          <a:bodyPr wrap="square" lIns="0" tIns="0" rIns="0" bIns="0" rtlCol="0" anchor="ctr"/>
          <a:lstStyle/>
          <a:p>
            <a:pPr marL="0" indent="0">
              <a:buNone/>
            </a:pPr>
            <a:r>
              <a:rPr lang="sv-SE" altLang="en-US" sz="1650" b="1" dirty="0">
                <a:solidFill>
                  <a:srgbClr val="1A1A1A"/>
                </a:solidFill>
                <a:latin typeface="Georgia" pitchFamily="34" charset="0"/>
                <a:ea typeface="Georgia" pitchFamily="34" charset="-122"/>
                <a:cs typeface="Georgia" pitchFamily="34" charset="-120"/>
              </a:rPr>
              <a:t>Stödet kommer från experiment och studier av par. </a:t>
            </a:r>
            <a:r>
              <a:rPr lang="sv-SE" altLang="en-US" sz="1650" dirty="0">
                <a:solidFill>
                  <a:srgbClr val="1A1A1A"/>
                </a:solidFill>
                <a:latin typeface="Georgia" pitchFamily="34" charset="0"/>
                <a:ea typeface="Georgia" pitchFamily="34" charset="-122"/>
                <a:cs typeface="Georgia" pitchFamily="34" charset="-120"/>
              </a:rPr>
              <a:t>Ingen har ännu prövat greppen som träning på arbetsplatser.</a:t>
            </a:r>
            <a:endParaRPr lang="sv-SE" sz="1650" dirty="0"/>
          </a:p>
        </p:txBody>
      </p:sp>
      <p:sp>
        <p:nvSpPr>
          <p:cNvPr id="31" name="Text 28"/>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Gilin Oore m.fl. (2015); Galinsky m.fl. (2008); Grossmann &amp; Kross (2014); Finkel m.fl. (2013).</a:t>
            </a:r>
            <a:endParaRPr lang="sv-SE"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VAD FORSKNINGEN LÄGGER TILL</a:t>
            </a:r>
            <a:endParaRPr lang="sv-SE" sz="1400" dirty="0"/>
          </a:p>
        </p:txBody>
      </p:sp>
      <p:sp>
        <p:nvSpPr>
          <p:cNvPr id="4" name="Text 1"/>
          <p:cNvSpPr txBox="1"/>
          <p:nvPr/>
        </p:nvSpPr>
        <p:spPr>
          <a:xfrm rot="21480000">
            <a:off x="548640" y="502920"/>
            <a:ext cx="5958230"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Säg det så att det går att ta emot</a:t>
            </a:r>
            <a:endParaRPr lang="sv-SE" sz="3000" dirty="0"/>
          </a:p>
        </p:txBody>
      </p:sp>
      <p:sp>
        <p:nvSpPr>
          <p:cNvPr id="5" name="Shape 2"/>
          <p:cNvSpPr/>
          <p:nvPr/>
        </p:nvSpPr>
        <p:spPr>
          <a:xfrm>
            <a:off x="548640" y="1554480"/>
            <a:ext cx="5394960" cy="914400"/>
          </a:xfrm>
          <a:prstGeom prst="roundRect">
            <a:avLst>
              <a:gd name="adj" fmla="val 10000"/>
            </a:avLst>
          </a:prstGeom>
          <a:solidFill>
            <a:srgbClr val="F2F0EF"/>
          </a:solidFill>
          <a:ln w="12700">
            <a:solidFill>
              <a:srgbClr val="F2F0EF"/>
            </a:solidFill>
            <a:prstDash val="solid"/>
          </a:ln>
        </p:spPr>
        <p:txBody>
          <a:bodyPr/>
          <a:lstStyle/>
          <a:p>
            <a:endParaRPr lang="sv-SE"/>
          </a:p>
        </p:txBody>
      </p:sp>
      <p:sp>
        <p:nvSpPr>
          <p:cNvPr id="6" name="Shape 3"/>
          <p:cNvSpPr/>
          <p:nvPr/>
        </p:nvSpPr>
        <p:spPr>
          <a:xfrm>
            <a:off x="749808" y="1737360"/>
            <a:ext cx="548640" cy="548640"/>
          </a:xfrm>
          <a:prstGeom prst="ellipse">
            <a:avLst/>
          </a:prstGeom>
          <a:solidFill>
            <a:srgbClr val="005A5F"/>
          </a:solidFill>
          <a:ln w="12700">
            <a:solidFill>
              <a:srgbClr val="005A5F"/>
            </a:solidFill>
            <a:prstDash val="solid"/>
          </a:ln>
        </p:spPr>
        <p:txBody>
          <a:bodyPr/>
          <a:lstStyle/>
          <a:p>
            <a:endParaRPr lang="sv-SE"/>
          </a:p>
        </p:txBody>
      </p:sp>
      <p:sp>
        <p:nvSpPr>
          <p:cNvPr id="7" name="Text 4"/>
          <p:cNvSpPr txBox="1"/>
          <p:nvPr/>
        </p:nvSpPr>
        <p:spPr>
          <a:xfrm>
            <a:off x="749808" y="1737360"/>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1</a:t>
            </a:r>
            <a:endParaRPr lang="en-US" sz="2040" dirty="0"/>
          </a:p>
        </p:txBody>
      </p:sp>
      <p:sp>
        <p:nvSpPr>
          <p:cNvPr id="8" name="Text 5"/>
          <p:cNvSpPr txBox="1"/>
          <p:nvPr/>
        </p:nvSpPr>
        <p:spPr>
          <a:xfrm>
            <a:off x="1508760" y="1645920"/>
            <a:ext cx="429768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Bekräfta</a:t>
            </a:r>
            <a:endParaRPr lang="sv-SE" sz="2100" dirty="0"/>
          </a:p>
        </p:txBody>
      </p:sp>
      <p:sp>
        <p:nvSpPr>
          <p:cNvPr id="9" name="Text 6"/>
          <p:cNvSpPr txBox="1"/>
          <p:nvPr/>
        </p:nvSpPr>
        <p:spPr>
          <a:xfrm>
            <a:off x="1508760" y="2029968"/>
            <a:ext cx="4297680" cy="384048"/>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»Jag förstår att …«, »Jag ser din poäng.«</a:t>
            </a:r>
            <a:endParaRPr lang="sv-SE" sz="1550" dirty="0"/>
          </a:p>
        </p:txBody>
      </p:sp>
      <p:sp>
        <p:nvSpPr>
          <p:cNvPr id="10" name="Shape 7"/>
          <p:cNvSpPr/>
          <p:nvPr/>
        </p:nvSpPr>
        <p:spPr>
          <a:xfrm>
            <a:off x="548640" y="2578608"/>
            <a:ext cx="5394960" cy="914400"/>
          </a:xfrm>
          <a:prstGeom prst="roundRect">
            <a:avLst>
              <a:gd name="adj" fmla="val 10000"/>
            </a:avLst>
          </a:prstGeom>
          <a:solidFill>
            <a:srgbClr val="F2F0EF"/>
          </a:solidFill>
          <a:ln w="12700">
            <a:solidFill>
              <a:srgbClr val="F2F0EF"/>
            </a:solidFill>
            <a:prstDash val="solid"/>
          </a:ln>
        </p:spPr>
        <p:txBody>
          <a:bodyPr/>
          <a:lstStyle/>
          <a:p>
            <a:endParaRPr lang="sv-SE"/>
          </a:p>
        </p:txBody>
      </p:sp>
      <p:sp>
        <p:nvSpPr>
          <p:cNvPr id="11" name="Shape 8"/>
          <p:cNvSpPr/>
          <p:nvPr/>
        </p:nvSpPr>
        <p:spPr>
          <a:xfrm>
            <a:off x="749808" y="2761488"/>
            <a:ext cx="548640" cy="548640"/>
          </a:xfrm>
          <a:prstGeom prst="ellipse">
            <a:avLst/>
          </a:prstGeom>
          <a:solidFill>
            <a:srgbClr val="005A5F"/>
          </a:solidFill>
          <a:ln w="12700">
            <a:solidFill>
              <a:srgbClr val="005A5F"/>
            </a:solidFill>
            <a:prstDash val="solid"/>
          </a:ln>
        </p:spPr>
        <p:txBody>
          <a:bodyPr/>
          <a:lstStyle/>
          <a:p>
            <a:endParaRPr lang="sv-SE"/>
          </a:p>
        </p:txBody>
      </p:sp>
      <p:sp>
        <p:nvSpPr>
          <p:cNvPr id="12" name="Text 9"/>
          <p:cNvSpPr txBox="1"/>
          <p:nvPr/>
        </p:nvSpPr>
        <p:spPr>
          <a:xfrm>
            <a:off x="749808" y="2761488"/>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2</a:t>
            </a:r>
            <a:endParaRPr lang="en-US" sz="2040" dirty="0"/>
          </a:p>
        </p:txBody>
      </p:sp>
      <p:sp>
        <p:nvSpPr>
          <p:cNvPr id="13" name="Text 10"/>
          <p:cNvSpPr txBox="1"/>
          <p:nvPr/>
        </p:nvSpPr>
        <p:spPr>
          <a:xfrm>
            <a:off x="1508760" y="2670048"/>
            <a:ext cx="429768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Säg vad ni är överens om</a:t>
            </a:r>
            <a:endParaRPr lang="sv-SE" sz="2100" dirty="0"/>
          </a:p>
        </p:txBody>
      </p:sp>
      <p:sp>
        <p:nvSpPr>
          <p:cNvPr id="14" name="Text 11"/>
          <p:cNvSpPr txBox="1"/>
          <p:nvPr/>
        </p:nvSpPr>
        <p:spPr>
          <a:xfrm>
            <a:off x="1508760" y="3054096"/>
            <a:ext cx="4297680" cy="384048"/>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Börja där, inte i det som skiljer.</a:t>
            </a:r>
            <a:endParaRPr lang="sv-SE" sz="1550" dirty="0"/>
          </a:p>
        </p:txBody>
      </p:sp>
      <p:sp>
        <p:nvSpPr>
          <p:cNvPr id="15" name="Shape 12"/>
          <p:cNvSpPr/>
          <p:nvPr/>
        </p:nvSpPr>
        <p:spPr>
          <a:xfrm>
            <a:off x="548640" y="3602736"/>
            <a:ext cx="5394960" cy="914400"/>
          </a:xfrm>
          <a:prstGeom prst="roundRect">
            <a:avLst>
              <a:gd name="adj" fmla="val 10000"/>
            </a:avLst>
          </a:prstGeom>
          <a:solidFill>
            <a:srgbClr val="F2F0EF"/>
          </a:solidFill>
          <a:ln w="12700">
            <a:solidFill>
              <a:srgbClr val="F2F0EF"/>
            </a:solidFill>
            <a:prstDash val="solid"/>
          </a:ln>
        </p:spPr>
        <p:txBody>
          <a:bodyPr/>
          <a:lstStyle/>
          <a:p>
            <a:endParaRPr lang="sv-SE"/>
          </a:p>
        </p:txBody>
      </p:sp>
      <p:sp>
        <p:nvSpPr>
          <p:cNvPr id="16" name="Shape 13"/>
          <p:cNvSpPr/>
          <p:nvPr/>
        </p:nvSpPr>
        <p:spPr>
          <a:xfrm>
            <a:off x="749808" y="3785616"/>
            <a:ext cx="548640" cy="548640"/>
          </a:xfrm>
          <a:prstGeom prst="ellipse">
            <a:avLst/>
          </a:prstGeom>
          <a:solidFill>
            <a:srgbClr val="005A5F"/>
          </a:solidFill>
          <a:ln w="12700">
            <a:solidFill>
              <a:srgbClr val="005A5F"/>
            </a:solidFill>
            <a:prstDash val="solid"/>
          </a:ln>
        </p:spPr>
        <p:txBody>
          <a:bodyPr/>
          <a:lstStyle/>
          <a:p>
            <a:endParaRPr lang="sv-SE"/>
          </a:p>
        </p:txBody>
      </p:sp>
      <p:sp>
        <p:nvSpPr>
          <p:cNvPr id="17" name="Text 14"/>
          <p:cNvSpPr txBox="1"/>
          <p:nvPr/>
        </p:nvSpPr>
        <p:spPr>
          <a:xfrm>
            <a:off x="749808" y="3785616"/>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3</a:t>
            </a:r>
            <a:endParaRPr lang="en-US" sz="2040" dirty="0"/>
          </a:p>
        </p:txBody>
      </p:sp>
      <p:sp>
        <p:nvSpPr>
          <p:cNvPr id="18" name="Text 15"/>
          <p:cNvSpPr txBox="1"/>
          <p:nvPr/>
        </p:nvSpPr>
        <p:spPr>
          <a:xfrm>
            <a:off x="1508760" y="3694176"/>
            <a:ext cx="429768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Tona ner tvärsäkerheten</a:t>
            </a:r>
            <a:endParaRPr lang="sv-SE" sz="2100" dirty="0"/>
          </a:p>
        </p:txBody>
      </p:sp>
      <p:sp>
        <p:nvSpPr>
          <p:cNvPr id="19" name="Text 16"/>
          <p:cNvSpPr txBox="1"/>
          <p:nvPr/>
        </p:nvSpPr>
        <p:spPr>
          <a:xfrm>
            <a:off x="1508760" y="4078224"/>
            <a:ext cx="4297680" cy="384048"/>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»Jag tror«, »det kan vara så att«.</a:t>
            </a:r>
            <a:endParaRPr lang="sv-SE" sz="1550" dirty="0"/>
          </a:p>
        </p:txBody>
      </p:sp>
      <p:sp>
        <p:nvSpPr>
          <p:cNvPr id="20" name="Shape 17"/>
          <p:cNvSpPr/>
          <p:nvPr/>
        </p:nvSpPr>
        <p:spPr>
          <a:xfrm>
            <a:off x="548640" y="4626864"/>
            <a:ext cx="5394960" cy="914400"/>
          </a:xfrm>
          <a:prstGeom prst="roundRect">
            <a:avLst>
              <a:gd name="adj" fmla="val 10000"/>
            </a:avLst>
          </a:prstGeom>
          <a:solidFill>
            <a:srgbClr val="F2F0EF"/>
          </a:solidFill>
          <a:ln w="12700">
            <a:solidFill>
              <a:srgbClr val="F2F0EF"/>
            </a:solidFill>
            <a:prstDash val="solid"/>
          </a:ln>
        </p:spPr>
        <p:txBody>
          <a:bodyPr/>
          <a:lstStyle/>
          <a:p>
            <a:endParaRPr lang="sv-SE"/>
          </a:p>
        </p:txBody>
      </p:sp>
      <p:sp>
        <p:nvSpPr>
          <p:cNvPr id="21" name="Shape 18"/>
          <p:cNvSpPr/>
          <p:nvPr/>
        </p:nvSpPr>
        <p:spPr>
          <a:xfrm>
            <a:off x="749808" y="4809744"/>
            <a:ext cx="548640" cy="548640"/>
          </a:xfrm>
          <a:prstGeom prst="ellipse">
            <a:avLst/>
          </a:prstGeom>
          <a:solidFill>
            <a:srgbClr val="005A5F"/>
          </a:solidFill>
          <a:ln w="12700">
            <a:solidFill>
              <a:srgbClr val="005A5F"/>
            </a:solidFill>
            <a:prstDash val="solid"/>
          </a:ln>
        </p:spPr>
        <p:txBody>
          <a:bodyPr/>
          <a:lstStyle/>
          <a:p>
            <a:endParaRPr lang="sv-SE"/>
          </a:p>
        </p:txBody>
      </p:sp>
      <p:sp>
        <p:nvSpPr>
          <p:cNvPr id="22" name="Text 19"/>
          <p:cNvSpPr txBox="1"/>
          <p:nvPr/>
        </p:nvSpPr>
        <p:spPr>
          <a:xfrm>
            <a:off x="749808" y="4809744"/>
            <a:ext cx="548640" cy="548640"/>
          </a:xfrm>
          <a:prstGeom prst="rect">
            <a:avLst/>
          </a:prstGeom>
          <a:noFill/>
          <a:ln/>
        </p:spPr>
        <p:txBody>
          <a:bodyPr wrap="square" lIns="0" tIns="0" rIns="0" bIns="0" rtlCol="0" anchor="ctr"/>
          <a:lstStyle/>
          <a:p>
            <a:pPr marL="0" indent="0" algn="ctr">
              <a:buNone/>
            </a:pPr>
            <a:r>
              <a:rPr lang="en-US" sz="2040" b="1" dirty="0">
                <a:solidFill>
                  <a:srgbClr val="FFFFFF"/>
                </a:solidFill>
                <a:latin typeface="Roboto Condensed" pitchFamily="34" charset="0"/>
                <a:ea typeface="Roboto Condensed" pitchFamily="34" charset="-122"/>
                <a:cs typeface="Roboto Condensed" pitchFamily="34" charset="-120"/>
              </a:rPr>
              <a:t>4</a:t>
            </a:r>
            <a:endParaRPr lang="en-US" sz="2040" dirty="0"/>
          </a:p>
        </p:txBody>
      </p:sp>
      <p:sp>
        <p:nvSpPr>
          <p:cNvPr id="23" name="Text 20"/>
          <p:cNvSpPr txBox="1"/>
          <p:nvPr/>
        </p:nvSpPr>
        <p:spPr>
          <a:xfrm>
            <a:off x="1508760" y="4718304"/>
            <a:ext cx="429768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Formulera positivt</a:t>
            </a:r>
            <a:endParaRPr lang="sv-SE" sz="2100" dirty="0"/>
          </a:p>
        </p:txBody>
      </p:sp>
      <p:sp>
        <p:nvSpPr>
          <p:cNvPr id="24" name="Text 21"/>
          <p:cNvSpPr txBox="1"/>
          <p:nvPr/>
        </p:nvSpPr>
        <p:spPr>
          <a:xfrm>
            <a:off x="1508760" y="5102352"/>
            <a:ext cx="4297680" cy="384048"/>
          </a:xfrm>
          <a:prstGeom prst="rect">
            <a:avLst/>
          </a:prstGeom>
          <a:noFill/>
          <a:ln/>
        </p:spPr>
        <p:txBody>
          <a:bodyPr wrap="square" lIns="0" tIns="0" rIns="0" bIns="0" rtlCol="0" anchor="t"/>
          <a:lstStyle/>
          <a:p>
            <a:pPr marL="0" indent="0">
              <a:buNone/>
            </a:pPr>
            <a:r>
              <a:rPr lang="sv-SE" altLang="en-US" sz="1550" dirty="0">
                <a:solidFill>
                  <a:srgbClr val="1A1A1A"/>
                </a:solidFill>
                <a:latin typeface="Georgia" pitchFamily="34" charset="0"/>
                <a:ea typeface="Georgia" pitchFamily="34" charset="-122"/>
                <a:cs typeface="Georgia" pitchFamily="34" charset="-120"/>
              </a:rPr>
              <a:t>Undvik »nej«, »fel« och »inte«.</a:t>
            </a:r>
            <a:endParaRPr lang="sv-SE" sz="1550" dirty="0"/>
          </a:p>
        </p:txBody>
      </p:sp>
      <p:sp>
        <p:nvSpPr>
          <p:cNvPr id="25" name="Shape 22"/>
          <p:cNvSpPr/>
          <p:nvPr/>
        </p:nvSpPr>
        <p:spPr>
          <a:xfrm>
            <a:off x="6309360" y="1554480"/>
            <a:ext cx="5330952" cy="1417320"/>
          </a:xfrm>
          <a:prstGeom prst="roundRect">
            <a:avLst>
              <a:gd name="adj" fmla="val 6452"/>
            </a:avLst>
          </a:prstGeom>
          <a:solidFill>
            <a:srgbClr val="F8E0D8"/>
          </a:solidFill>
          <a:ln w="12700">
            <a:solidFill>
              <a:srgbClr val="F8E0D8"/>
            </a:solidFill>
            <a:prstDash val="solid"/>
          </a:ln>
        </p:spPr>
        <p:txBody>
          <a:bodyPr/>
          <a:lstStyle/>
          <a:p>
            <a:endParaRPr lang="sv-SE"/>
          </a:p>
        </p:txBody>
      </p:sp>
      <p:sp>
        <p:nvSpPr>
          <p:cNvPr id="26" name="Text 23"/>
          <p:cNvSpPr txBox="1"/>
          <p:nvPr/>
        </p:nvSpPr>
        <p:spPr>
          <a:xfrm>
            <a:off x="6583680" y="1691640"/>
            <a:ext cx="4572000"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I STÄLLET FÖR</a:t>
            </a:r>
            <a:endParaRPr lang="sv-SE" sz="1400" dirty="0"/>
          </a:p>
        </p:txBody>
      </p:sp>
      <p:sp>
        <p:nvSpPr>
          <p:cNvPr id="27" name="Text 24"/>
          <p:cNvSpPr txBox="1"/>
          <p:nvPr/>
        </p:nvSpPr>
        <p:spPr>
          <a:xfrm>
            <a:off x="6583680" y="2029968"/>
            <a:ext cx="4800600" cy="1051560"/>
          </a:xfrm>
          <a:prstGeom prst="rect">
            <a:avLst/>
          </a:prstGeom>
          <a:noFill/>
          <a:ln/>
        </p:spPr>
        <p:txBody>
          <a:bodyPr wrap="square" lIns="0" tIns="0" rIns="0" bIns="0" rtlCol="0" anchor="t"/>
          <a:lstStyle/>
          <a:p>
            <a:pPr marL="0" indent="0">
              <a:buNone/>
            </a:pPr>
            <a:r>
              <a:rPr lang="sv-SE" altLang="en-US" sz="1800" i="1" dirty="0">
                <a:solidFill>
                  <a:srgbClr val="1A1A1A"/>
                </a:solidFill>
                <a:latin typeface="Georgia" pitchFamily="34" charset="0"/>
                <a:ea typeface="Georgia" pitchFamily="34" charset="-122"/>
                <a:cs typeface="Georgia" pitchFamily="34" charset="-120"/>
              </a:rPr>
              <a:t>»Nej, det stämmer inte. Vi kan inte göra så, eftersom budgeten är låst.«</a:t>
            </a:r>
            <a:endParaRPr lang="sv-SE" sz="1800" dirty="0"/>
          </a:p>
        </p:txBody>
      </p:sp>
      <p:sp>
        <p:nvSpPr>
          <p:cNvPr id="28" name="Shape 25"/>
          <p:cNvSpPr/>
          <p:nvPr/>
        </p:nvSpPr>
        <p:spPr>
          <a:xfrm>
            <a:off x="6309360" y="3108960"/>
            <a:ext cx="5330952" cy="2432304"/>
          </a:xfrm>
          <a:prstGeom prst="roundRect">
            <a:avLst>
              <a:gd name="adj" fmla="val 3759"/>
            </a:avLst>
          </a:prstGeom>
          <a:solidFill>
            <a:srgbClr val="E6F5F6"/>
          </a:solidFill>
          <a:ln w="12700">
            <a:solidFill>
              <a:srgbClr val="E6F5F6"/>
            </a:solidFill>
            <a:prstDash val="solid"/>
          </a:ln>
        </p:spPr>
        <p:txBody>
          <a:bodyPr/>
          <a:lstStyle/>
          <a:p>
            <a:endParaRPr lang="sv-SE"/>
          </a:p>
        </p:txBody>
      </p:sp>
      <p:sp>
        <p:nvSpPr>
          <p:cNvPr id="29" name="Text 26"/>
          <p:cNvSpPr txBox="1"/>
          <p:nvPr/>
        </p:nvSpPr>
        <p:spPr>
          <a:xfrm>
            <a:off x="6583680" y="3264408"/>
            <a:ext cx="4572000" cy="274320"/>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PRÖVA</a:t>
            </a:r>
            <a:endParaRPr lang="sv-SE" sz="1400" dirty="0"/>
          </a:p>
        </p:txBody>
      </p:sp>
      <p:sp>
        <p:nvSpPr>
          <p:cNvPr id="30" name="Text 27"/>
          <p:cNvSpPr txBox="1"/>
          <p:nvPr/>
        </p:nvSpPr>
        <p:spPr>
          <a:xfrm>
            <a:off x="6583680" y="3611880"/>
            <a:ext cx="4800600" cy="1828800"/>
          </a:xfrm>
          <a:prstGeom prst="rect">
            <a:avLst/>
          </a:prstGeom>
          <a:noFill/>
          <a:ln/>
        </p:spPr>
        <p:txBody>
          <a:bodyPr wrap="square" lIns="0" tIns="0" rIns="0" bIns="0" rtlCol="0" anchor="t"/>
          <a:lstStyle/>
          <a:p>
            <a:pPr marL="0" indent="0">
              <a:buNone/>
            </a:pPr>
            <a:r>
              <a:rPr lang="sv-SE" altLang="en-US" sz="1900" i="1" dirty="0">
                <a:solidFill>
                  <a:srgbClr val="1A1A1A"/>
                </a:solidFill>
                <a:latin typeface="Georgia" pitchFamily="34" charset="0"/>
                <a:ea typeface="Georgia" pitchFamily="34" charset="-122"/>
                <a:cs typeface="Georgia" pitchFamily="34" charset="-120"/>
              </a:rPr>
              <a:t>»Jag förstår att du vill komma igång snabbt, och jag håller med om att det brådskar. Jag tror att budgeten kan bli ett hinder. Kan vi titta på den först?«</a:t>
            </a:r>
            <a:endParaRPr lang="sv-SE" sz="1900" dirty="0"/>
          </a:p>
        </p:txBody>
      </p:sp>
      <p:sp>
        <p:nvSpPr>
          <p:cNvPr id="31" name="Shape 28"/>
          <p:cNvSpPr/>
          <p:nvPr/>
        </p:nvSpPr>
        <p:spPr>
          <a:xfrm>
            <a:off x="548640" y="5669280"/>
            <a:ext cx="11094415" cy="566928"/>
          </a:xfrm>
          <a:prstGeom prst="roundRect">
            <a:avLst>
              <a:gd name="adj" fmla="val 16129"/>
            </a:avLst>
          </a:prstGeom>
          <a:solidFill>
            <a:srgbClr val="F2F0EF"/>
          </a:solidFill>
          <a:ln w="12700">
            <a:solidFill>
              <a:srgbClr val="F2F0EF"/>
            </a:solidFill>
            <a:prstDash val="solid"/>
          </a:ln>
        </p:spPr>
        <p:txBody>
          <a:bodyPr/>
          <a:lstStyle/>
          <a:p>
            <a:endParaRPr lang="sv-SE"/>
          </a:p>
        </p:txBody>
      </p:sp>
      <p:sp>
        <p:nvSpPr>
          <p:cNvPr id="32" name="Text 29"/>
          <p:cNvSpPr txBox="1"/>
          <p:nvPr/>
        </p:nvSpPr>
        <p:spPr>
          <a:xfrm>
            <a:off x="914400" y="5669280"/>
            <a:ext cx="10362895" cy="566928"/>
          </a:xfrm>
          <a:prstGeom prst="rect">
            <a:avLst/>
          </a:prstGeom>
          <a:noFill/>
          <a:ln/>
        </p:spPr>
        <p:txBody>
          <a:bodyPr wrap="square" lIns="0" tIns="0" rIns="0" bIns="0" rtlCol="0" anchor="ctr"/>
          <a:lstStyle/>
          <a:p>
            <a:pPr marL="0" indent="0">
              <a:buNone/>
            </a:pPr>
            <a:r>
              <a:rPr lang="sv-SE" altLang="en-US" sz="1700" b="1" dirty="0">
                <a:solidFill>
                  <a:srgbClr val="1A1A1A"/>
                </a:solidFill>
                <a:latin typeface="Georgia" pitchFamily="34" charset="0"/>
                <a:ea typeface="Georgia" pitchFamily="34" charset="-122"/>
                <a:cs typeface="Georgia" pitchFamily="34" charset="-120"/>
              </a:rPr>
              <a:t>Och lyssna tills den andre känner sig hörd, innan du argumenterar för din sak.</a:t>
            </a:r>
            <a:endParaRPr lang="sv-SE" sz="1700" dirty="0"/>
          </a:p>
        </p:txBody>
      </p:sp>
      <p:sp>
        <p:nvSpPr>
          <p:cNvPr id="33" name="Text 30"/>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Yeomans m.fl. (2020), »conversational receptiveness«. Exemplet är mitt eget. Lyssnande: Kluger m.fl. (2024); Itzchakov m.fl. (2017).</a:t>
            </a:r>
            <a:endParaRPr lang="sv-SE"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50D1E"/>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937760" cy="4937760"/>
          </a:xfrm>
          <a:prstGeom prst="ellipse">
            <a:avLst/>
          </a:prstGeom>
          <a:solidFill>
            <a:srgbClr val="D80811"/>
          </a:solidFill>
          <a:ln w="12700">
            <a:solidFill>
              <a:srgbClr val="D80811"/>
            </a:solidFill>
            <a:prstDash val="solid"/>
          </a:ln>
        </p:spPr>
        <p:txBody>
          <a:bodyPr/>
          <a:lstStyle/>
          <a:p>
            <a:endParaRPr lang="sv-SE"/>
          </a:p>
        </p:txBody>
      </p:sp>
      <p:sp>
        <p:nvSpPr>
          <p:cNvPr id="3" name="Shape 1"/>
          <p:cNvSpPr/>
          <p:nvPr/>
        </p:nvSpPr>
        <p:spPr>
          <a:xfrm>
            <a:off x="10241280" y="4480560"/>
            <a:ext cx="3291840" cy="3291840"/>
          </a:xfrm>
          <a:prstGeom prst="ellipse">
            <a:avLst/>
          </a:prstGeom>
          <a:solidFill>
            <a:srgbClr val="D80811">
              <a:alpha val="65000"/>
            </a:srgbClr>
          </a:solidFill>
          <a:ln w="12700">
            <a:solidFill>
              <a:srgbClr val="D80811"/>
            </a:solidFill>
            <a:prstDash val="solid"/>
          </a:ln>
        </p:spPr>
        <p:txBody>
          <a:bodyPr/>
          <a:lstStyle/>
          <a:p>
            <a:endParaRPr lang="sv-SE"/>
          </a:p>
        </p:txBody>
      </p:sp>
      <p:sp>
        <p:nvSpPr>
          <p:cNvPr id="4" name="Text 2"/>
          <p:cNvSpPr txBox="1"/>
          <p:nvPr/>
        </p:nvSpPr>
        <p:spPr>
          <a:xfrm>
            <a:off x="548640" y="822960"/>
            <a:ext cx="7315200" cy="365760"/>
          </a:xfrm>
          <a:prstGeom prst="rect">
            <a:avLst/>
          </a:prstGeom>
          <a:noFill/>
          <a:ln/>
        </p:spPr>
        <p:txBody>
          <a:bodyPr wrap="square" lIns="0" tIns="0" rIns="0" bIns="0" rtlCol="0" anchor="t"/>
          <a:lstStyle/>
          <a:p>
            <a:pPr marL="0" indent="0">
              <a:buNone/>
            </a:pPr>
            <a:r>
              <a:rPr lang="sv-SE" altLang="en-US" sz="1600" b="1" kern="0" spc="300" dirty="0">
                <a:solidFill>
                  <a:srgbClr val="FFFFFF"/>
                </a:solidFill>
                <a:latin typeface="Roboto Condensed" pitchFamily="34" charset="0"/>
                <a:ea typeface="Roboto Condensed" pitchFamily="34" charset="-122"/>
                <a:cs typeface="Roboto Condensed" pitchFamily="34" charset="-120"/>
              </a:rPr>
              <a:t>REFLEKTION 2 · SKRIV I CHATTEN</a:t>
            </a:r>
            <a:endParaRPr lang="sv-SE" sz="1600" dirty="0"/>
          </a:p>
        </p:txBody>
      </p:sp>
      <p:sp>
        <p:nvSpPr>
          <p:cNvPr id="5" name="Text 3"/>
          <p:cNvSpPr txBox="1"/>
          <p:nvPr/>
        </p:nvSpPr>
        <p:spPr>
          <a:xfrm>
            <a:off x="548640" y="1371600"/>
            <a:ext cx="7863840" cy="1371600"/>
          </a:xfrm>
          <a:prstGeom prst="rect">
            <a:avLst/>
          </a:prstGeom>
          <a:noFill/>
          <a:ln/>
        </p:spPr>
        <p:txBody>
          <a:bodyPr wrap="square" lIns="0" tIns="0" rIns="0" bIns="0" rtlCol="0" anchor="t"/>
          <a:lstStyle/>
          <a:p>
            <a:pPr marL="0" indent="0">
              <a:buNone/>
            </a:pPr>
            <a:r>
              <a:rPr lang="sv-SE" altLang="en-US" sz="4000" b="1" dirty="0">
                <a:solidFill>
                  <a:srgbClr val="FFFFFF"/>
                </a:solidFill>
                <a:latin typeface="Roboto Condensed" pitchFamily="34" charset="0"/>
                <a:ea typeface="Roboto Condensed" pitchFamily="34" charset="-122"/>
                <a:cs typeface="Roboto Condensed" pitchFamily="34" charset="-120"/>
              </a:rPr>
              <a:t>När du blir kritiserad på jobbet …</a:t>
            </a:r>
            <a:endParaRPr lang="sv-SE" sz="4000" dirty="0"/>
          </a:p>
        </p:txBody>
      </p:sp>
      <p:sp>
        <p:nvSpPr>
          <p:cNvPr id="6" name="Shape 4"/>
          <p:cNvSpPr/>
          <p:nvPr/>
        </p:nvSpPr>
        <p:spPr>
          <a:xfrm>
            <a:off x="548640" y="3063240"/>
            <a:ext cx="502920" cy="502920"/>
          </a:xfrm>
          <a:prstGeom prst="ellipse">
            <a:avLst/>
          </a:prstGeom>
          <a:solidFill>
            <a:srgbClr val="D80811"/>
          </a:solidFill>
          <a:ln w="12700">
            <a:solidFill>
              <a:srgbClr val="D80811"/>
            </a:solidFill>
            <a:prstDash val="solid"/>
          </a:ln>
        </p:spPr>
        <p:txBody>
          <a:bodyPr/>
          <a:lstStyle/>
          <a:p>
            <a:endParaRPr lang="sv-SE"/>
          </a:p>
        </p:txBody>
      </p:sp>
      <p:sp>
        <p:nvSpPr>
          <p:cNvPr id="7" name="Text 5"/>
          <p:cNvSpPr txBox="1"/>
          <p:nvPr/>
        </p:nvSpPr>
        <p:spPr>
          <a:xfrm>
            <a:off x="548640" y="3063240"/>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Roboto Condensed" pitchFamily="34" charset="0"/>
                <a:ea typeface="Roboto Condensed" pitchFamily="34" charset="-122"/>
                <a:cs typeface="Roboto Condensed" pitchFamily="34" charset="-120"/>
              </a:rPr>
              <a:t>1</a:t>
            </a:r>
            <a:endParaRPr lang="en-US" sz="1870" dirty="0"/>
          </a:p>
        </p:txBody>
      </p:sp>
      <p:sp>
        <p:nvSpPr>
          <p:cNvPr id="8" name="Text 6"/>
          <p:cNvSpPr txBox="1"/>
          <p:nvPr/>
        </p:nvSpPr>
        <p:spPr>
          <a:xfrm>
            <a:off x="1280160" y="3044952"/>
            <a:ext cx="7680960" cy="914400"/>
          </a:xfrm>
          <a:prstGeom prst="rect">
            <a:avLst/>
          </a:prstGeom>
          <a:noFill/>
          <a:ln/>
        </p:spPr>
        <p:txBody>
          <a:bodyPr wrap="square" lIns="0" tIns="0" rIns="0" bIns="0" rtlCol="0" anchor="t"/>
          <a:lstStyle/>
          <a:p>
            <a:pPr marL="0" indent="0">
              <a:buNone/>
            </a:pPr>
            <a:r>
              <a:rPr lang="sv-SE" altLang="en-US" sz="2300" dirty="0">
                <a:solidFill>
                  <a:srgbClr val="FFFFFF"/>
                </a:solidFill>
                <a:latin typeface="Georgia" pitchFamily="34" charset="0"/>
                <a:ea typeface="Georgia" pitchFamily="34" charset="-122"/>
                <a:cs typeface="Georgia" pitchFamily="34" charset="-120"/>
              </a:rPr>
              <a:t>Vilken är din första impuls? Försvar, motangrepp, tystnad, förklaring?</a:t>
            </a:r>
            <a:endParaRPr lang="sv-SE" sz="2300" dirty="0"/>
          </a:p>
        </p:txBody>
      </p:sp>
      <p:sp>
        <p:nvSpPr>
          <p:cNvPr id="9" name="Shape 7"/>
          <p:cNvSpPr/>
          <p:nvPr/>
        </p:nvSpPr>
        <p:spPr>
          <a:xfrm>
            <a:off x="548640" y="4160520"/>
            <a:ext cx="502920" cy="502920"/>
          </a:xfrm>
          <a:prstGeom prst="ellipse">
            <a:avLst/>
          </a:prstGeom>
          <a:solidFill>
            <a:srgbClr val="D80811"/>
          </a:solidFill>
          <a:ln w="12700">
            <a:solidFill>
              <a:srgbClr val="D80811"/>
            </a:solidFill>
            <a:prstDash val="solid"/>
          </a:ln>
        </p:spPr>
        <p:txBody>
          <a:bodyPr/>
          <a:lstStyle/>
          <a:p>
            <a:endParaRPr lang="sv-SE"/>
          </a:p>
        </p:txBody>
      </p:sp>
      <p:sp>
        <p:nvSpPr>
          <p:cNvPr id="10" name="Text 8"/>
          <p:cNvSpPr txBox="1"/>
          <p:nvPr/>
        </p:nvSpPr>
        <p:spPr>
          <a:xfrm>
            <a:off x="548640" y="4160520"/>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Roboto Condensed" pitchFamily="34" charset="0"/>
                <a:ea typeface="Roboto Condensed" pitchFamily="34" charset="-122"/>
                <a:cs typeface="Roboto Condensed" pitchFamily="34" charset="-120"/>
              </a:rPr>
              <a:t>2</a:t>
            </a:r>
            <a:endParaRPr lang="en-US" sz="1870" dirty="0"/>
          </a:p>
        </p:txBody>
      </p:sp>
      <p:sp>
        <p:nvSpPr>
          <p:cNvPr id="11" name="Text 9"/>
          <p:cNvSpPr txBox="1"/>
          <p:nvPr/>
        </p:nvSpPr>
        <p:spPr>
          <a:xfrm>
            <a:off x="1280160" y="4142232"/>
            <a:ext cx="7680960" cy="914400"/>
          </a:xfrm>
          <a:prstGeom prst="rect">
            <a:avLst/>
          </a:prstGeom>
          <a:noFill/>
          <a:ln/>
        </p:spPr>
        <p:txBody>
          <a:bodyPr wrap="square" lIns="0" tIns="0" rIns="0" bIns="0" rtlCol="0" anchor="t"/>
          <a:lstStyle/>
          <a:p>
            <a:pPr marL="0" indent="0">
              <a:buNone/>
            </a:pPr>
            <a:r>
              <a:rPr lang="sv-SE" altLang="en-US" sz="2300" dirty="0">
                <a:solidFill>
                  <a:srgbClr val="FFFFFF"/>
                </a:solidFill>
                <a:latin typeface="Georgia" pitchFamily="34" charset="0"/>
                <a:ea typeface="Georgia" pitchFamily="34" charset="-122"/>
                <a:cs typeface="Georgia" pitchFamily="34" charset="-120"/>
              </a:rPr>
              <a:t>Vilket tankegrepp, eller vilken av de fyra formuleringarna, skulle hjälpa dig mest just då?</a:t>
            </a:r>
            <a:endParaRPr lang="sv-SE" sz="2300" dirty="0"/>
          </a:p>
        </p:txBody>
      </p:sp>
      <p:sp>
        <p:nvSpPr>
          <p:cNvPr id="12" name="Text 10"/>
          <p:cNvSpPr txBox="1"/>
          <p:nvPr/>
        </p:nvSpPr>
        <p:spPr>
          <a:xfrm>
            <a:off x="548640" y="5989320"/>
            <a:ext cx="7315200" cy="365760"/>
          </a:xfrm>
          <a:prstGeom prst="rect">
            <a:avLst/>
          </a:prstGeom>
          <a:noFill/>
          <a:ln/>
        </p:spPr>
        <p:txBody>
          <a:bodyPr wrap="square" lIns="0" tIns="0" rIns="0" bIns="0" rtlCol="0" anchor="t"/>
          <a:lstStyle/>
          <a:p>
            <a:pPr marL="0" indent="0">
              <a:buNone/>
            </a:pPr>
            <a:r>
              <a:rPr lang="sv-SE" altLang="en-US" sz="1700" dirty="0">
                <a:solidFill>
                  <a:srgbClr val="FFFFFF"/>
                </a:solidFill>
                <a:latin typeface="Roboto Condensed" pitchFamily="34" charset="0"/>
                <a:ea typeface="Roboto Condensed" pitchFamily="34" charset="-122"/>
                <a:cs typeface="Roboto Condensed" pitchFamily="34" charset="-120"/>
              </a:rPr>
              <a:t>Dela det du vill. 3 minuter.</a:t>
            </a:r>
            <a:endParaRPr lang="sv-SE"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80811"/>
        </a:solidFill>
        <a:effectLst/>
      </p:bgPr>
    </p:bg>
    <p:spTree>
      <p:nvGrpSpPr>
        <p:cNvPr id="1" name=""/>
        <p:cNvGrpSpPr/>
        <p:nvPr/>
      </p:nvGrpSpPr>
      <p:grpSpPr>
        <a:xfrm>
          <a:off x="0" y="0"/>
          <a:ext cx="0" cy="0"/>
          <a:chOff x="0" y="0"/>
          <a:chExt cx="0" cy="0"/>
        </a:xfrm>
      </p:grpSpPr>
      <p:sp>
        <p:nvSpPr>
          <p:cNvPr id="2" name="Shape 0"/>
          <p:cNvSpPr/>
          <p:nvPr/>
        </p:nvSpPr>
        <p:spPr>
          <a:xfrm>
            <a:off x="7223760" y="822960"/>
            <a:ext cx="6035040" cy="6035040"/>
          </a:xfrm>
          <a:prstGeom prst="ellipse">
            <a:avLst/>
          </a:prstGeom>
          <a:solidFill>
            <a:srgbClr val="A50D1E"/>
          </a:solidFill>
          <a:ln w="12700">
            <a:solidFill>
              <a:srgbClr val="A50D1E"/>
            </a:solidFill>
            <a:prstDash val="solid"/>
          </a:ln>
        </p:spPr>
        <p:txBody>
          <a:bodyPr/>
          <a:lstStyle/>
          <a:p>
            <a:endParaRPr lang="sv-SE"/>
          </a:p>
        </p:txBody>
      </p:sp>
      <p:sp>
        <p:nvSpPr>
          <p:cNvPr id="3" name="Text 1"/>
          <p:cNvSpPr txBox="1"/>
          <p:nvPr/>
        </p:nvSpPr>
        <p:spPr>
          <a:xfrm>
            <a:off x="7223760" y="822960"/>
            <a:ext cx="6035040" cy="6035040"/>
          </a:xfrm>
          <a:prstGeom prst="rect">
            <a:avLst/>
          </a:prstGeom>
          <a:noFill/>
          <a:ln/>
        </p:spPr>
        <p:txBody>
          <a:bodyPr wrap="square" lIns="0" tIns="0" rIns="0" bIns="0" rtlCol="0" anchor="ctr"/>
          <a:lstStyle/>
          <a:p>
            <a:pPr marL="0" indent="0" algn="ctr">
              <a:buNone/>
            </a:pPr>
            <a:r>
              <a:rPr lang="en-US" sz="30000" b="1" dirty="0">
                <a:solidFill>
                  <a:srgbClr val="F8E0D8"/>
                </a:solidFill>
                <a:latin typeface="Roboto Condensed" pitchFamily="34" charset="0"/>
                <a:ea typeface="Roboto Condensed" pitchFamily="34" charset="-122"/>
                <a:cs typeface="Roboto Condensed" pitchFamily="34" charset="-120"/>
              </a:rPr>
              <a:t>4</a:t>
            </a:r>
            <a:endParaRPr lang="en-US" sz="300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marL="0" indent="0">
              <a:buNone/>
            </a:pPr>
            <a:r>
              <a:rPr lang="sv-SE" altLang="en-US" sz="1800" b="1" kern="0" spc="300" dirty="0">
                <a:solidFill>
                  <a:srgbClr val="FFFFFF"/>
                </a:solidFill>
                <a:latin typeface="Roboto Condensed" pitchFamily="34" charset="0"/>
                <a:ea typeface="Roboto Condensed" pitchFamily="34" charset="-122"/>
                <a:cs typeface="Roboto Condensed" pitchFamily="34" charset="-120"/>
              </a:rPr>
              <a:t>DEL 4</a:t>
            </a:r>
            <a:endParaRPr lang="sv-SE" sz="1800" dirty="0"/>
          </a:p>
        </p:txBody>
      </p:sp>
      <p:sp>
        <p:nvSpPr>
          <p:cNvPr id="5" name="Text 3"/>
          <p:cNvSpPr txBox="1"/>
          <p:nvPr/>
        </p:nvSpPr>
        <p:spPr>
          <a:xfrm>
            <a:off x="548640" y="2560320"/>
            <a:ext cx="6583680" cy="1737360"/>
          </a:xfrm>
          <a:prstGeom prst="rect">
            <a:avLst/>
          </a:prstGeom>
          <a:noFill/>
          <a:ln/>
        </p:spPr>
        <p:txBody>
          <a:bodyPr wrap="square" lIns="0" tIns="0" rIns="0" bIns="0" rtlCol="0" anchor="t"/>
          <a:lstStyle/>
          <a:p>
            <a:pPr marL="0" indent="0">
              <a:buNone/>
            </a:pPr>
            <a:r>
              <a:rPr lang="sv-SE" altLang="en-US" sz="5400" b="1" dirty="0">
                <a:solidFill>
                  <a:srgbClr val="FFFFFF"/>
                </a:solidFill>
                <a:latin typeface="Roboto Condensed" pitchFamily="34" charset="0"/>
                <a:ea typeface="Roboto Condensed" pitchFamily="34" charset="-122"/>
                <a:cs typeface="Roboto Condensed" pitchFamily="34" charset="-120"/>
              </a:rPr>
              <a:t>Organisationen och gruppen</a:t>
            </a:r>
            <a:endParaRPr lang="sv-SE" sz="5400" dirty="0"/>
          </a:p>
        </p:txBody>
      </p:sp>
      <p:sp>
        <p:nvSpPr>
          <p:cNvPr id="6" name="Text 4"/>
          <p:cNvSpPr txBox="1"/>
          <p:nvPr/>
        </p:nvSpPr>
        <p:spPr>
          <a:xfrm>
            <a:off x="548640" y="4434840"/>
            <a:ext cx="6217920" cy="1463040"/>
          </a:xfrm>
          <a:prstGeom prst="rect">
            <a:avLst/>
          </a:prstGeom>
          <a:noFill/>
          <a:ln/>
        </p:spPr>
        <p:txBody>
          <a:bodyPr wrap="square" lIns="0" tIns="0" rIns="0" bIns="0" rtlCol="0" anchor="t"/>
          <a:lstStyle/>
          <a:p>
            <a:pPr marL="0" indent="0">
              <a:buNone/>
            </a:pPr>
            <a:r>
              <a:rPr lang="sv-SE" altLang="en-US" sz="2200" dirty="0">
                <a:solidFill>
                  <a:srgbClr val="FFFFFF"/>
                </a:solidFill>
                <a:latin typeface="Georgia" pitchFamily="34" charset="0"/>
                <a:ea typeface="Georgia" pitchFamily="34" charset="-122"/>
                <a:cs typeface="Georgia" pitchFamily="34" charset="-120"/>
              </a:rPr>
              <a:t>Ett arbetsblad för att hitta konfliktens grogrund i systemet, och spelregler att bestämma i förväg.</a:t>
            </a:r>
            <a:endParaRPr lang="sv-SE"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4208069"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Nio områden att granska</a:t>
            </a:r>
            <a:endParaRPr lang="sv-SE" sz="3000" dirty="0"/>
          </a:p>
        </p:txBody>
      </p:sp>
      <p:sp>
        <p:nvSpPr>
          <p:cNvPr id="4" name="Text 1"/>
          <p:cNvSpPr txBox="1"/>
          <p:nvPr/>
        </p:nvSpPr>
        <p:spPr>
          <a:xfrm>
            <a:off x="548640" y="1353312"/>
            <a:ext cx="10180015" cy="365760"/>
          </a:xfrm>
          <a:prstGeom prst="rect">
            <a:avLst/>
          </a:prstGeom>
          <a:noFill/>
          <a:ln/>
        </p:spPr>
        <p:txBody>
          <a:bodyPr wrap="square" lIns="0" tIns="0" rIns="0" bIns="0" rtlCol="0" anchor="t"/>
          <a:lstStyle/>
          <a:p>
            <a:pPr marL="0" indent="0">
              <a:buNone/>
            </a:pPr>
            <a:r>
              <a:rPr lang="sv-SE" altLang="en-US" sz="1700" b="1" dirty="0">
                <a:solidFill>
                  <a:srgbClr val="1A1A1A"/>
                </a:solidFill>
                <a:latin typeface="Georgia" pitchFamily="34" charset="0"/>
                <a:ea typeface="Georgia" pitchFamily="34" charset="-122"/>
                <a:cs typeface="Georgia" pitchFamily="34" charset="-120"/>
              </a:rPr>
              <a:t>Arbetsbladet: </a:t>
            </a:r>
            <a:r>
              <a:rPr lang="sv-SE" altLang="en-US" sz="1700" dirty="0">
                <a:solidFill>
                  <a:srgbClr val="1A1A1A"/>
                </a:solidFill>
                <a:latin typeface="Georgia" pitchFamily="34" charset="0"/>
                <a:ea typeface="Georgia" pitchFamily="34" charset="-122"/>
                <a:cs typeface="Georgia" pitchFamily="34" charset="-120"/>
              </a:rPr>
              <a:t>gå igenom områdena i grupp, färglägg grönt eller rött, förklara varför. Tar 15–20 minuter.</a:t>
            </a:r>
            <a:endParaRPr lang="sv-SE" sz="1700" dirty="0"/>
          </a:p>
        </p:txBody>
      </p:sp>
      <p:sp>
        <p:nvSpPr>
          <p:cNvPr id="5" name="Shape 2"/>
          <p:cNvSpPr/>
          <p:nvPr/>
        </p:nvSpPr>
        <p:spPr>
          <a:xfrm>
            <a:off x="548640" y="1874520"/>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749808" y="1993392"/>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I</a:t>
            </a:r>
            <a:endParaRPr lang="sv-SE" sz="1900" dirty="0"/>
          </a:p>
        </p:txBody>
      </p:sp>
      <p:sp>
        <p:nvSpPr>
          <p:cNvPr id="7" name="Text 4"/>
          <p:cNvSpPr txBox="1"/>
          <p:nvPr/>
        </p:nvSpPr>
        <p:spPr>
          <a:xfrm>
            <a:off x="1389888" y="1993392"/>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Mål och uppgift</a:t>
            </a:r>
            <a:endParaRPr lang="sv-SE" sz="1900" dirty="0"/>
          </a:p>
        </p:txBody>
      </p:sp>
      <p:sp>
        <p:nvSpPr>
          <p:cNvPr id="8" name="Text 5"/>
          <p:cNvSpPr txBox="1"/>
          <p:nvPr/>
        </p:nvSpPr>
        <p:spPr>
          <a:xfrm>
            <a:off x="1389888" y="2368296"/>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Är målen tydliga och oomstridda?</a:t>
            </a:r>
            <a:endParaRPr lang="sv-SE" sz="1600" dirty="0"/>
          </a:p>
        </p:txBody>
      </p:sp>
      <p:sp>
        <p:nvSpPr>
          <p:cNvPr id="9" name="Shape 6"/>
          <p:cNvSpPr/>
          <p:nvPr/>
        </p:nvSpPr>
        <p:spPr>
          <a:xfrm>
            <a:off x="4307738" y="1874520"/>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10" name="Text 7"/>
          <p:cNvSpPr txBox="1"/>
          <p:nvPr/>
        </p:nvSpPr>
        <p:spPr>
          <a:xfrm>
            <a:off x="4508906" y="1993392"/>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II</a:t>
            </a:r>
            <a:endParaRPr lang="sv-SE" sz="1900" dirty="0"/>
          </a:p>
        </p:txBody>
      </p:sp>
      <p:sp>
        <p:nvSpPr>
          <p:cNvPr id="11" name="Text 8"/>
          <p:cNvSpPr txBox="1"/>
          <p:nvPr/>
        </p:nvSpPr>
        <p:spPr>
          <a:xfrm>
            <a:off x="5148986" y="1993392"/>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Strategi</a:t>
            </a:r>
            <a:endParaRPr lang="sv-SE" sz="1900" dirty="0"/>
          </a:p>
        </p:txBody>
      </p:sp>
      <p:sp>
        <p:nvSpPr>
          <p:cNvPr id="12" name="Text 9"/>
          <p:cNvSpPr txBox="1"/>
          <p:nvPr/>
        </p:nvSpPr>
        <p:spPr>
          <a:xfrm>
            <a:off x="5148986" y="2368296"/>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Finns olösta tvister om metoder och arbetssätt?</a:t>
            </a:r>
            <a:endParaRPr lang="sv-SE" sz="1600" dirty="0"/>
          </a:p>
        </p:txBody>
      </p:sp>
      <p:sp>
        <p:nvSpPr>
          <p:cNvPr id="13" name="Shape 10"/>
          <p:cNvSpPr/>
          <p:nvPr/>
        </p:nvSpPr>
        <p:spPr>
          <a:xfrm>
            <a:off x="8066837" y="1874520"/>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14" name="Text 11"/>
          <p:cNvSpPr txBox="1"/>
          <p:nvPr/>
        </p:nvSpPr>
        <p:spPr>
          <a:xfrm>
            <a:off x="8268005" y="1993392"/>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III</a:t>
            </a:r>
            <a:endParaRPr lang="sv-SE" sz="1900" dirty="0"/>
          </a:p>
        </p:txBody>
      </p:sp>
      <p:sp>
        <p:nvSpPr>
          <p:cNvPr id="15" name="Text 12"/>
          <p:cNvSpPr txBox="1"/>
          <p:nvPr/>
        </p:nvSpPr>
        <p:spPr>
          <a:xfrm>
            <a:off x="8908085" y="1993392"/>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Struktur</a:t>
            </a:r>
            <a:endParaRPr lang="sv-SE" sz="1900" dirty="0"/>
          </a:p>
        </p:txBody>
      </p:sp>
      <p:sp>
        <p:nvSpPr>
          <p:cNvPr id="16" name="Text 13"/>
          <p:cNvSpPr txBox="1"/>
          <p:nvPr/>
        </p:nvSpPr>
        <p:spPr>
          <a:xfrm>
            <a:off x="8908085" y="2368296"/>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Är ansvaret tydligt och arbetsbelastningen rimlig?</a:t>
            </a:r>
            <a:endParaRPr lang="sv-SE" sz="1600" dirty="0"/>
          </a:p>
        </p:txBody>
      </p:sp>
      <p:sp>
        <p:nvSpPr>
          <p:cNvPr id="17" name="Shape 14"/>
          <p:cNvSpPr/>
          <p:nvPr/>
        </p:nvSpPr>
        <p:spPr>
          <a:xfrm>
            <a:off x="548640" y="3044952"/>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18" name="Text 15"/>
          <p:cNvSpPr txBox="1"/>
          <p:nvPr/>
        </p:nvSpPr>
        <p:spPr>
          <a:xfrm>
            <a:off x="749808" y="3163824"/>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IV</a:t>
            </a:r>
            <a:endParaRPr lang="sv-SE" sz="1900" dirty="0"/>
          </a:p>
        </p:txBody>
      </p:sp>
      <p:sp>
        <p:nvSpPr>
          <p:cNvPr id="19" name="Text 16"/>
          <p:cNvSpPr txBox="1"/>
          <p:nvPr/>
        </p:nvSpPr>
        <p:spPr>
          <a:xfrm>
            <a:off x="1389888" y="3163824"/>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Stödsystem</a:t>
            </a:r>
            <a:endParaRPr lang="sv-SE" sz="1900" dirty="0"/>
          </a:p>
        </p:txBody>
      </p:sp>
      <p:sp>
        <p:nvSpPr>
          <p:cNvPr id="20" name="Text 17"/>
          <p:cNvSpPr txBox="1"/>
          <p:nvPr/>
        </p:nvSpPr>
        <p:spPr>
          <a:xfrm>
            <a:off x="1389888" y="3538728"/>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Fungerar rutiner, utrustning och information?</a:t>
            </a:r>
            <a:endParaRPr lang="sv-SE" sz="1600" dirty="0"/>
          </a:p>
        </p:txBody>
      </p:sp>
      <p:sp>
        <p:nvSpPr>
          <p:cNvPr id="21" name="Shape 18"/>
          <p:cNvSpPr/>
          <p:nvPr/>
        </p:nvSpPr>
        <p:spPr>
          <a:xfrm>
            <a:off x="4307738" y="3044952"/>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22" name="Text 19"/>
          <p:cNvSpPr txBox="1"/>
          <p:nvPr/>
        </p:nvSpPr>
        <p:spPr>
          <a:xfrm>
            <a:off x="4508906" y="3163824"/>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V</a:t>
            </a:r>
            <a:endParaRPr lang="sv-SE" sz="1900" dirty="0"/>
          </a:p>
        </p:txBody>
      </p:sp>
      <p:sp>
        <p:nvSpPr>
          <p:cNvPr id="23" name="Text 20"/>
          <p:cNvSpPr txBox="1"/>
          <p:nvPr/>
        </p:nvSpPr>
        <p:spPr>
          <a:xfrm>
            <a:off x="5148986" y="3163824"/>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Belöning och återkoppling</a:t>
            </a:r>
            <a:endParaRPr lang="sv-SE" sz="1900" dirty="0"/>
          </a:p>
        </p:txBody>
      </p:sp>
      <p:sp>
        <p:nvSpPr>
          <p:cNvPr id="24" name="Text 21"/>
          <p:cNvSpPr txBox="1"/>
          <p:nvPr/>
        </p:nvSpPr>
        <p:spPr>
          <a:xfrm>
            <a:off x="5148986" y="3538728"/>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Upplevs lönen som rättvis? Får man uppskattning?</a:t>
            </a:r>
            <a:endParaRPr lang="sv-SE" sz="1600" dirty="0"/>
          </a:p>
        </p:txBody>
      </p:sp>
      <p:sp>
        <p:nvSpPr>
          <p:cNvPr id="25" name="Shape 22"/>
          <p:cNvSpPr/>
          <p:nvPr/>
        </p:nvSpPr>
        <p:spPr>
          <a:xfrm>
            <a:off x="8066837" y="3044952"/>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26" name="Text 23"/>
          <p:cNvSpPr txBox="1"/>
          <p:nvPr/>
        </p:nvSpPr>
        <p:spPr>
          <a:xfrm>
            <a:off x="8268005" y="3163824"/>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VI</a:t>
            </a:r>
            <a:endParaRPr lang="sv-SE" sz="1900" dirty="0"/>
          </a:p>
        </p:txBody>
      </p:sp>
      <p:sp>
        <p:nvSpPr>
          <p:cNvPr id="27" name="Text 24"/>
          <p:cNvSpPr txBox="1"/>
          <p:nvPr/>
        </p:nvSpPr>
        <p:spPr>
          <a:xfrm>
            <a:off x="8908085" y="3163824"/>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Relationer och kultur</a:t>
            </a:r>
            <a:endParaRPr lang="sv-SE" sz="1900" dirty="0"/>
          </a:p>
        </p:txBody>
      </p:sp>
      <p:sp>
        <p:nvSpPr>
          <p:cNvPr id="28" name="Text 25"/>
          <p:cNvSpPr txBox="1"/>
          <p:nvPr/>
        </p:nvSpPr>
        <p:spPr>
          <a:xfrm>
            <a:off x="8908085" y="3538728"/>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Hur är klimatet? Hur hanteras samarbetsproblem?</a:t>
            </a:r>
            <a:endParaRPr lang="sv-SE" sz="1600" dirty="0"/>
          </a:p>
        </p:txBody>
      </p:sp>
      <p:sp>
        <p:nvSpPr>
          <p:cNvPr id="29" name="Shape 26"/>
          <p:cNvSpPr/>
          <p:nvPr/>
        </p:nvSpPr>
        <p:spPr>
          <a:xfrm>
            <a:off x="548640" y="4215384"/>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30" name="Text 27"/>
          <p:cNvSpPr txBox="1"/>
          <p:nvPr/>
        </p:nvSpPr>
        <p:spPr>
          <a:xfrm>
            <a:off x="749808" y="4334256"/>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VII</a:t>
            </a:r>
            <a:endParaRPr lang="sv-SE" sz="1900" dirty="0"/>
          </a:p>
        </p:txBody>
      </p:sp>
      <p:sp>
        <p:nvSpPr>
          <p:cNvPr id="31" name="Text 28"/>
          <p:cNvSpPr txBox="1"/>
          <p:nvPr/>
        </p:nvSpPr>
        <p:spPr>
          <a:xfrm>
            <a:off x="1389888" y="4334256"/>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Ledarskap</a:t>
            </a:r>
            <a:endParaRPr lang="sv-SE" sz="1900" dirty="0"/>
          </a:p>
        </p:txBody>
      </p:sp>
      <p:sp>
        <p:nvSpPr>
          <p:cNvPr id="32" name="Text 29"/>
          <p:cNvSpPr txBox="1"/>
          <p:nvPr/>
        </p:nvSpPr>
        <p:spPr>
          <a:xfrm>
            <a:off x="1389888" y="4709160"/>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Har cheferna tid, vilja, kompetens och acceptans?</a:t>
            </a:r>
            <a:endParaRPr lang="sv-SE" sz="1600" dirty="0"/>
          </a:p>
        </p:txBody>
      </p:sp>
      <p:sp>
        <p:nvSpPr>
          <p:cNvPr id="33" name="Shape 30"/>
          <p:cNvSpPr/>
          <p:nvPr/>
        </p:nvSpPr>
        <p:spPr>
          <a:xfrm>
            <a:off x="4307738" y="4215384"/>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34" name="Text 31"/>
          <p:cNvSpPr txBox="1"/>
          <p:nvPr/>
        </p:nvSpPr>
        <p:spPr>
          <a:xfrm>
            <a:off x="4508906" y="4334256"/>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VIII</a:t>
            </a:r>
            <a:endParaRPr lang="sv-SE" sz="1900" dirty="0"/>
          </a:p>
        </p:txBody>
      </p:sp>
      <p:sp>
        <p:nvSpPr>
          <p:cNvPr id="35" name="Text 32"/>
          <p:cNvSpPr txBox="1"/>
          <p:nvPr/>
        </p:nvSpPr>
        <p:spPr>
          <a:xfrm>
            <a:off x="5148986" y="4334256"/>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Medarbetarskap</a:t>
            </a:r>
            <a:endParaRPr lang="sv-SE" sz="1900" dirty="0"/>
          </a:p>
        </p:txBody>
      </p:sp>
      <p:sp>
        <p:nvSpPr>
          <p:cNvPr id="36" name="Text 33"/>
          <p:cNvSpPr txBox="1"/>
          <p:nvPr/>
        </p:nvSpPr>
        <p:spPr>
          <a:xfrm>
            <a:off x="5148986" y="4709160"/>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Tar medarbetarna ansvar för att verksamheten fungerar?</a:t>
            </a:r>
            <a:endParaRPr lang="sv-SE" sz="1600" dirty="0"/>
          </a:p>
        </p:txBody>
      </p:sp>
      <p:sp>
        <p:nvSpPr>
          <p:cNvPr id="37" name="Shape 34"/>
          <p:cNvSpPr/>
          <p:nvPr/>
        </p:nvSpPr>
        <p:spPr>
          <a:xfrm>
            <a:off x="8066837" y="4215384"/>
            <a:ext cx="3576218" cy="1078992"/>
          </a:xfrm>
          <a:prstGeom prst="roundRect">
            <a:avLst>
              <a:gd name="adj" fmla="val 8475"/>
            </a:avLst>
          </a:prstGeom>
          <a:solidFill>
            <a:srgbClr val="F2F0EF"/>
          </a:solidFill>
          <a:ln w="12700">
            <a:solidFill>
              <a:srgbClr val="F2F0EF"/>
            </a:solidFill>
            <a:prstDash val="solid"/>
          </a:ln>
        </p:spPr>
        <p:txBody>
          <a:bodyPr/>
          <a:lstStyle/>
          <a:p>
            <a:endParaRPr lang="sv-SE"/>
          </a:p>
        </p:txBody>
      </p:sp>
      <p:sp>
        <p:nvSpPr>
          <p:cNvPr id="38" name="Text 35"/>
          <p:cNvSpPr txBox="1"/>
          <p:nvPr/>
        </p:nvSpPr>
        <p:spPr>
          <a:xfrm>
            <a:off x="8268005" y="4334256"/>
            <a:ext cx="640080" cy="365760"/>
          </a:xfrm>
          <a:prstGeom prst="rect">
            <a:avLst/>
          </a:prstGeom>
          <a:noFill/>
          <a:ln/>
        </p:spPr>
        <p:txBody>
          <a:bodyPr wrap="square" lIns="0" tIns="0" rIns="0" bIns="0" rtlCol="0" anchor="t"/>
          <a:lstStyle/>
          <a:p>
            <a:pPr marL="0" indent="0">
              <a:buNone/>
            </a:pPr>
            <a:r>
              <a:rPr lang="sv-SE" altLang="en-US" sz="1900" b="1" dirty="0">
                <a:solidFill>
                  <a:srgbClr val="A50D1E"/>
                </a:solidFill>
                <a:latin typeface="Roboto Condensed" pitchFamily="34" charset="0"/>
                <a:ea typeface="Roboto Condensed" pitchFamily="34" charset="-122"/>
                <a:cs typeface="Roboto Condensed" pitchFamily="34" charset="-120"/>
              </a:rPr>
              <a:t>IX</a:t>
            </a:r>
            <a:endParaRPr lang="sv-SE" sz="1900" dirty="0"/>
          </a:p>
        </p:txBody>
      </p:sp>
      <p:sp>
        <p:nvSpPr>
          <p:cNvPr id="39" name="Text 36"/>
          <p:cNvSpPr txBox="1"/>
          <p:nvPr/>
        </p:nvSpPr>
        <p:spPr>
          <a:xfrm>
            <a:off x="8908085" y="4334256"/>
            <a:ext cx="2570378" cy="365760"/>
          </a:xfrm>
          <a:prstGeom prst="rect">
            <a:avLst/>
          </a:prstGeom>
          <a:noFill/>
          <a:ln/>
        </p:spPr>
        <p:txBody>
          <a:bodyPr wrap="square" lIns="0" tIns="0" rIns="0" bIns="0" rtlCol="0" anchor="t"/>
          <a:lstStyle/>
          <a:p>
            <a:pPr marL="0" indent="0">
              <a:buNone/>
            </a:pPr>
            <a:r>
              <a:rPr lang="sv-SE" altLang="en-US" sz="1900" b="1" dirty="0">
                <a:solidFill>
                  <a:srgbClr val="1A1A1A"/>
                </a:solidFill>
                <a:latin typeface="Roboto Condensed" pitchFamily="34" charset="0"/>
                <a:ea typeface="Roboto Condensed" pitchFamily="34" charset="-122"/>
                <a:cs typeface="Roboto Condensed" pitchFamily="34" charset="-120"/>
              </a:rPr>
              <a:t>Omvärldsförändringar</a:t>
            </a:r>
            <a:endParaRPr lang="sv-SE" sz="1900" dirty="0"/>
          </a:p>
        </p:txBody>
      </p:sp>
      <p:sp>
        <p:nvSpPr>
          <p:cNvPr id="40" name="Text 37"/>
          <p:cNvSpPr txBox="1"/>
          <p:nvPr/>
        </p:nvSpPr>
        <p:spPr>
          <a:xfrm>
            <a:off x="8908085" y="4709160"/>
            <a:ext cx="2616098" cy="530352"/>
          </a:xfrm>
          <a:prstGeom prst="rect">
            <a:avLst/>
          </a:prstGeom>
          <a:noFill/>
          <a:ln/>
        </p:spPr>
        <p:txBody>
          <a:bodyPr wrap="square" lIns="0" tIns="0" rIns="0" bIns="0" rtlCol="0" anchor="t"/>
          <a:lstStyle/>
          <a:p>
            <a:pPr marL="0" indent="0">
              <a:buNone/>
            </a:pPr>
            <a:r>
              <a:rPr lang="sv-SE" altLang="en-US" sz="1600" dirty="0">
                <a:solidFill>
                  <a:srgbClr val="1A1A1A"/>
                </a:solidFill>
                <a:latin typeface="Roboto Condensed" pitchFamily="34" charset="0"/>
                <a:ea typeface="Roboto Condensed" pitchFamily="34" charset="-122"/>
                <a:cs typeface="Roboto Condensed" pitchFamily="34" charset="-120"/>
              </a:rPr>
              <a:t>Pågår förändringar utanför som skapar oenighet?</a:t>
            </a:r>
            <a:endParaRPr lang="sv-SE" sz="1600" dirty="0"/>
          </a:p>
        </p:txBody>
      </p:sp>
      <p:sp>
        <p:nvSpPr>
          <p:cNvPr id="41" name="Shape 38"/>
          <p:cNvSpPr/>
          <p:nvPr/>
        </p:nvSpPr>
        <p:spPr>
          <a:xfrm>
            <a:off x="548640" y="5440680"/>
            <a:ext cx="11094415" cy="804672"/>
          </a:xfrm>
          <a:prstGeom prst="roundRect">
            <a:avLst>
              <a:gd name="adj" fmla="val 11364"/>
            </a:avLst>
          </a:prstGeom>
          <a:solidFill>
            <a:srgbClr val="F8E0D8"/>
          </a:solidFill>
          <a:ln w="12700">
            <a:solidFill>
              <a:srgbClr val="F8E0D8"/>
            </a:solidFill>
            <a:prstDash val="solid"/>
          </a:ln>
        </p:spPr>
        <p:txBody>
          <a:bodyPr/>
          <a:lstStyle/>
          <a:p>
            <a:endParaRPr lang="sv-SE"/>
          </a:p>
        </p:txBody>
      </p:sp>
      <p:sp>
        <p:nvSpPr>
          <p:cNvPr id="42" name="Text 39"/>
          <p:cNvSpPr txBox="1"/>
          <p:nvPr/>
        </p:nvSpPr>
        <p:spPr>
          <a:xfrm>
            <a:off x="868680" y="5440680"/>
            <a:ext cx="10454335" cy="804672"/>
          </a:xfrm>
          <a:prstGeom prst="rect">
            <a:avLst/>
          </a:prstGeom>
          <a:noFill/>
          <a:ln/>
        </p:spPr>
        <p:txBody>
          <a:bodyPr wrap="square" lIns="0" tIns="0" rIns="0" bIns="0" rtlCol="0" anchor="ctr"/>
          <a:lstStyle/>
          <a:p>
            <a:pPr marL="0" indent="0">
              <a:buNone/>
            </a:pPr>
            <a:r>
              <a:rPr lang="sv-SE" altLang="en-US" sz="1700" b="1" dirty="0">
                <a:solidFill>
                  <a:srgbClr val="A50D1E"/>
                </a:solidFill>
                <a:latin typeface="Roboto Condensed" pitchFamily="34" charset="0"/>
                <a:ea typeface="Roboto Condensed" pitchFamily="34" charset="-122"/>
                <a:cs typeface="Roboto Condensed" pitchFamily="34" charset="-120"/>
              </a:rPr>
              <a:t>Forskningen pekar särskilt ut: </a:t>
            </a:r>
            <a:r>
              <a:rPr lang="sv-SE" altLang="en-US" sz="1700" dirty="0">
                <a:solidFill>
                  <a:srgbClr val="1A1A1A"/>
                </a:solidFill>
                <a:latin typeface="Roboto Condensed" pitchFamily="34" charset="0"/>
                <a:ea typeface="Roboto Condensed" pitchFamily="34" charset="-122"/>
                <a:cs typeface="Roboto Condensed" pitchFamily="34" charset="-120"/>
              </a:rPr>
              <a:t>otydliga roller · hög arbetsbelastning · att ha flera chefer · en chef som låter det bero · skeninflytande, att fråga efter synpunkter man inte tänker använda.</a:t>
            </a:r>
            <a:endParaRPr lang="sv-SE" sz="1700" dirty="0"/>
          </a:p>
        </p:txBody>
      </p:sp>
      <p:sp>
        <p:nvSpPr>
          <p:cNvPr id="43" name="Text 40"/>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Arbetsblad: Jordan (2014). Forskning: Almost m.fl. (2016), översikt av 44 artiklar; Skogstad m.fl. (2007).</a:t>
            </a:r>
            <a:endParaRPr lang="sv-SE"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VAD FORSKNINGEN LÄGGER TILL</a:t>
            </a:r>
            <a:endParaRPr lang="sv-SE" sz="1400" dirty="0"/>
          </a:p>
        </p:txBody>
      </p:sp>
      <p:sp>
        <p:nvSpPr>
          <p:cNvPr id="4" name="Text 1"/>
          <p:cNvSpPr txBox="1"/>
          <p:nvPr/>
        </p:nvSpPr>
        <p:spPr>
          <a:xfrm rot="21480000">
            <a:off x="548640" y="502920"/>
            <a:ext cx="5799125"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Kom överens innan det hettar till</a:t>
            </a:r>
            <a:endParaRPr lang="sv-SE" sz="3000" dirty="0"/>
          </a:p>
        </p:txBody>
      </p:sp>
      <p:sp>
        <p:nvSpPr>
          <p:cNvPr id="5" name="Text 2"/>
          <p:cNvSpPr txBox="1"/>
          <p:nvPr/>
        </p:nvSpPr>
        <p:spPr>
          <a:xfrm>
            <a:off x="548640" y="1481328"/>
            <a:ext cx="64008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TRE VANOR HOS GRUPPER SOM FUNGERADE BRA ÖVER TID</a:t>
            </a:r>
            <a:endParaRPr lang="sv-SE" sz="1400" dirty="0"/>
          </a:p>
        </p:txBody>
      </p:sp>
      <p:sp>
        <p:nvSpPr>
          <p:cNvPr id="6" name="Shape 3"/>
          <p:cNvSpPr/>
          <p:nvPr/>
        </p:nvSpPr>
        <p:spPr>
          <a:xfrm>
            <a:off x="548640" y="1920240"/>
            <a:ext cx="6583680"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7" name="Shape 4"/>
          <p:cNvSpPr/>
          <p:nvPr/>
        </p:nvSpPr>
        <p:spPr>
          <a:xfrm>
            <a:off x="822960" y="2221992"/>
            <a:ext cx="585216" cy="585216"/>
          </a:xfrm>
          <a:prstGeom prst="ellipse">
            <a:avLst/>
          </a:prstGeom>
          <a:solidFill>
            <a:srgbClr val="005A5F"/>
          </a:solidFill>
          <a:ln w="12700">
            <a:solidFill>
              <a:srgbClr val="005A5F"/>
            </a:solidFill>
            <a:prstDash val="solid"/>
          </a:ln>
        </p:spPr>
        <p:txBody>
          <a:bodyPr/>
          <a:lstStyle/>
          <a:p>
            <a:endParaRPr lang="sv-SE"/>
          </a:p>
        </p:txBody>
      </p:sp>
      <p:sp>
        <p:nvSpPr>
          <p:cNvPr id="8" name="Text 5"/>
          <p:cNvSpPr txBox="1"/>
          <p:nvPr/>
        </p:nvSpPr>
        <p:spPr>
          <a:xfrm>
            <a:off x="822960" y="222199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1</a:t>
            </a:r>
            <a:endParaRPr lang="en-US" sz="2176" dirty="0"/>
          </a:p>
        </p:txBody>
      </p:sp>
      <p:sp>
        <p:nvSpPr>
          <p:cNvPr id="9" name="Text 6"/>
          <p:cNvSpPr txBox="1"/>
          <p:nvPr/>
        </p:nvSpPr>
        <p:spPr>
          <a:xfrm>
            <a:off x="1645920" y="2103120"/>
            <a:ext cx="5303520" cy="41148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Håll er till innehållet, inte tonen.</a:t>
            </a:r>
            <a:endParaRPr lang="sv-SE" sz="2100" dirty="0"/>
          </a:p>
        </p:txBody>
      </p:sp>
      <p:sp>
        <p:nvSpPr>
          <p:cNvPr id="10" name="Text 7"/>
          <p:cNvSpPr txBox="1"/>
          <p:nvPr/>
        </p:nvSpPr>
        <p:spPr>
          <a:xfrm>
            <a:off x="1645920" y="2542032"/>
            <a:ext cx="5303520" cy="457200"/>
          </a:xfrm>
          <a:prstGeom prst="rect">
            <a:avLst/>
          </a:prstGeom>
          <a:noFill/>
          <a:ln/>
        </p:spPr>
        <p:txBody>
          <a:bodyPr wrap="square" lIns="0" tIns="0" rIns="0" bIns="0" rtlCol="0" anchor="t"/>
          <a:lstStyle/>
          <a:p>
            <a:pPr marL="0" indent="0">
              <a:buNone/>
            </a:pPr>
            <a:r>
              <a:rPr lang="sv-SE" altLang="en-US" sz="1650" dirty="0">
                <a:solidFill>
                  <a:srgbClr val="4A4A4A"/>
                </a:solidFill>
                <a:latin typeface="Georgia" pitchFamily="34" charset="0"/>
                <a:ea typeface="Georgia" pitchFamily="34" charset="-122"/>
                <a:cs typeface="Georgia" pitchFamily="34" charset="-120"/>
              </a:rPr>
              <a:t>Svara på vad som sades, inte på hur det lät.</a:t>
            </a:r>
            <a:endParaRPr lang="sv-SE" sz="1650" dirty="0"/>
          </a:p>
        </p:txBody>
      </p:sp>
      <p:sp>
        <p:nvSpPr>
          <p:cNvPr id="11" name="Shape 8"/>
          <p:cNvSpPr/>
          <p:nvPr/>
        </p:nvSpPr>
        <p:spPr>
          <a:xfrm>
            <a:off x="548640" y="3291840"/>
            <a:ext cx="6583680"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12" name="Shape 9"/>
          <p:cNvSpPr/>
          <p:nvPr/>
        </p:nvSpPr>
        <p:spPr>
          <a:xfrm>
            <a:off x="822960" y="3593592"/>
            <a:ext cx="585216" cy="585216"/>
          </a:xfrm>
          <a:prstGeom prst="ellipse">
            <a:avLst/>
          </a:prstGeom>
          <a:solidFill>
            <a:srgbClr val="005A5F"/>
          </a:solidFill>
          <a:ln w="12700">
            <a:solidFill>
              <a:srgbClr val="005A5F"/>
            </a:solidFill>
            <a:prstDash val="solid"/>
          </a:ln>
        </p:spPr>
        <p:txBody>
          <a:bodyPr/>
          <a:lstStyle/>
          <a:p>
            <a:endParaRPr lang="sv-SE"/>
          </a:p>
        </p:txBody>
      </p:sp>
      <p:sp>
        <p:nvSpPr>
          <p:cNvPr id="13" name="Text 10"/>
          <p:cNvSpPr txBox="1"/>
          <p:nvPr/>
        </p:nvSpPr>
        <p:spPr>
          <a:xfrm>
            <a:off x="822960" y="359359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2</a:t>
            </a:r>
            <a:endParaRPr lang="en-US" sz="2176" dirty="0"/>
          </a:p>
        </p:txBody>
      </p:sp>
      <p:sp>
        <p:nvSpPr>
          <p:cNvPr id="14" name="Text 11"/>
          <p:cNvSpPr txBox="1"/>
          <p:nvPr/>
        </p:nvSpPr>
        <p:spPr>
          <a:xfrm>
            <a:off x="1645920" y="3474720"/>
            <a:ext cx="5303520" cy="41148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Förklara varför arbetet fördelas som det gör.</a:t>
            </a:r>
            <a:endParaRPr lang="sv-SE" sz="2100" dirty="0"/>
          </a:p>
        </p:txBody>
      </p:sp>
      <p:sp>
        <p:nvSpPr>
          <p:cNvPr id="15" name="Text 12"/>
          <p:cNvSpPr txBox="1"/>
          <p:nvPr/>
        </p:nvSpPr>
        <p:spPr>
          <a:xfrm>
            <a:off x="1645920" y="3913632"/>
            <a:ext cx="5303520" cy="457200"/>
          </a:xfrm>
          <a:prstGeom prst="rect">
            <a:avLst/>
          </a:prstGeom>
          <a:noFill/>
          <a:ln/>
        </p:spPr>
        <p:txBody>
          <a:bodyPr wrap="square" lIns="0" tIns="0" rIns="0" bIns="0" rtlCol="0" anchor="t"/>
          <a:lstStyle/>
          <a:p>
            <a:pPr marL="0" indent="0">
              <a:buNone/>
            </a:pPr>
            <a:r>
              <a:rPr lang="sv-SE" altLang="en-US" sz="1650" dirty="0">
                <a:solidFill>
                  <a:srgbClr val="4A4A4A"/>
                </a:solidFill>
                <a:latin typeface="Georgia" pitchFamily="34" charset="0"/>
                <a:ea typeface="Georgia" pitchFamily="34" charset="-122"/>
                <a:cs typeface="Georgia" pitchFamily="34" charset="-120"/>
              </a:rPr>
              <a:t>Skälen ska vara uttalade, inte underförstådda.</a:t>
            </a:r>
            <a:endParaRPr lang="sv-SE" sz="1650" dirty="0"/>
          </a:p>
        </p:txBody>
      </p:sp>
      <p:sp>
        <p:nvSpPr>
          <p:cNvPr id="16" name="Shape 13"/>
          <p:cNvSpPr/>
          <p:nvPr/>
        </p:nvSpPr>
        <p:spPr>
          <a:xfrm>
            <a:off x="548640" y="4663440"/>
            <a:ext cx="6583680"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17" name="Shape 14"/>
          <p:cNvSpPr/>
          <p:nvPr/>
        </p:nvSpPr>
        <p:spPr>
          <a:xfrm>
            <a:off x="822960" y="4965192"/>
            <a:ext cx="585216" cy="585216"/>
          </a:xfrm>
          <a:prstGeom prst="ellipse">
            <a:avLst/>
          </a:prstGeom>
          <a:solidFill>
            <a:srgbClr val="005A5F"/>
          </a:solidFill>
          <a:ln w="12700">
            <a:solidFill>
              <a:srgbClr val="005A5F"/>
            </a:solidFill>
            <a:prstDash val="solid"/>
          </a:ln>
        </p:spPr>
        <p:txBody>
          <a:bodyPr/>
          <a:lstStyle/>
          <a:p>
            <a:endParaRPr lang="sv-SE"/>
          </a:p>
        </p:txBody>
      </p:sp>
      <p:sp>
        <p:nvSpPr>
          <p:cNvPr id="18" name="Text 15"/>
          <p:cNvSpPr txBox="1"/>
          <p:nvPr/>
        </p:nvSpPr>
        <p:spPr>
          <a:xfrm>
            <a:off x="822960" y="4965192"/>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3</a:t>
            </a:r>
            <a:endParaRPr lang="en-US" sz="2176" dirty="0"/>
          </a:p>
        </p:txBody>
      </p:sp>
      <p:sp>
        <p:nvSpPr>
          <p:cNvPr id="19" name="Text 16"/>
          <p:cNvSpPr txBox="1"/>
          <p:nvPr/>
        </p:nvSpPr>
        <p:spPr>
          <a:xfrm>
            <a:off x="1645920" y="4846320"/>
            <a:ext cx="5303520" cy="41148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Fördela efter kompetens.</a:t>
            </a:r>
            <a:endParaRPr lang="sv-SE" sz="2100" dirty="0"/>
          </a:p>
        </p:txBody>
      </p:sp>
      <p:sp>
        <p:nvSpPr>
          <p:cNvPr id="20" name="Text 17"/>
          <p:cNvSpPr txBox="1"/>
          <p:nvPr/>
        </p:nvSpPr>
        <p:spPr>
          <a:xfrm>
            <a:off x="1645920" y="5285232"/>
            <a:ext cx="5303520" cy="457200"/>
          </a:xfrm>
          <a:prstGeom prst="rect">
            <a:avLst/>
          </a:prstGeom>
          <a:noFill/>
          <a:ln/>
        </p:spPr>
        <p:txBody>
          <a:bodyPr wrap="square" lIns="0" tIns="0" rIns="0" bIns="0" rtlCol="0" anchor="t"/>
          <a:lstStyle/>
          <a:p>
            <a:pPr marL="0" indent="0">
              <a:buNone/>
            </a:pPr>
            <a:r>
              <a:rPr lang="sv-SE" altLang="en-US" sz="1650" dirty="0">
                <a:solidFill>
                  <a:srgbClr val="4A4A4A"/>
                </a:solidFill>
                <a:latin typeface="Georgia" pitchFamily="34" charset="0"/>
                <a:ea typeface="Georgia" pitchFamily="34" charset="-122"/>
                <a:cs typeface="Georgia" pitchFamily="34" charset="-120"/>
              </a:rPr>
              <a:t>Inte efter vem som råkar anmäla sig.</a:t>
            </a:r>
            <a:endParaRPr lang="sv-SE" sz="1650" dirty="0"/>
          </a:p>
        </p:txBody>
      </p:sp>
      <p:sp>
        <p:nvSpPr>
          <p:cNvPr id="21" name="Shape 18"/>
          <p:cNvSpPr/>
          <p:nvPr/>
        </p:nvSpPr>
        <p:spPr>
          <a:xfrm>
            <a:off x="7498080" y="1508760"/>
            <a:ext cx="4142232" cy="4526280"/>
          </a:xfrm>
          <a:prstGeom prst="roundRect">
            <a:avLst>
              <a:gd name="adj" fmla="val 2208"/>
            </a:avLst>
          </a:prstGeom>
          <a:solidFill>
            <a:srgbClr val="A50D1E"/>
          </a:solidFill>
          <a:ln w="12700">
            <a:solidFill>
              <a:srgbClr val="A50D1E"/>
            </a:solidFill>
            <a:prstDash val="solid"/>
          </a:ln>
        </p:spPr>
        <p:txBody>
          <a:bodyPr/>
          <a:lstStyle/>
          <a:p>
            <a:endParaRPr lang="sv-SE"/>
          </a:p>
        </p:txBody>
      </p:sp>
      <p:sp>
        <p:nvSpPr>
          <p:cNvPr id="22" name="Text 19"/>
          <p:cNvSpPr txBox="1"/>
          <p:nvPr/>
        </p:nvSpPr>
        <p:spPr>
          <a:xfrm>
            <a:off x="7818120" y="1783080"/>
            <a:ext cx="3566160" cy="274320"/>
          </a:xfrm>
          <a:prstGeom prst="rect">
            <a:avLst/>
          </a:prstGeom>
          <a:noFill/>
          <a:ln/>
        </p:spPr>
        <p:txBody>
          <a:bodyPr wrap="square" lIns="0" tIns="0" rIns="0" bIns="0" rtlCol="0" anchor="t"/>
          <a:lstStyle/>
          <a:p>
            <a:pPr marL="0" indent="0">
              <a:buNone/>
            </a:pPr>
            <a:r>
              <a:rPr lang="sv-SE" altLang="en-US" sz="1400" b="1" kern="0" spc="200" dirty="0">
                <a:solidFill>
                  <a:srgbClr val="FFFFFF"/>
                </a:solidFill>
                <a:latin typeface="Roboto Condensed" pitchFamily="34" charset="0"/>
                <a:ea typeface="Roboto Condensed" pitchFamily="34" charset="-122"/>
                <a:cs typeface="Roboto Condensed" pitchFamily="34" charset="-120"/>
              </a:rPr>
              <a:t>EXEMPEL PÅ SPELREGEL</a:t>
            </a:r>
            <a:endParaRPr lang="sv-SE" sz="1400" dirty="0"/>
          </a:p>
        </p:txBody>
      </p:sp>
      <p:sp>
        <p:nvSpPr>
          <p:cNvPr id="23" name="Text 20"/>
          <p:cNvSpPr txBox="1"/>
          <p:nvPr/>
        </p:nvSpPr>
        <p:spPr>
          <a:xfrm>
            <a:off x="7818120" y="2240280"/>
            <a:ext cx="3566160" cy="1188720"/>
          </a:xfrm>
          <a:prstGeom prst="rect">
            <a:avLst/>
          </a:prstGeom>
          <a:noFill/>
          <a:ln/>
        </p:spPr>
        <p:txBody>
          <a:bodyPr wrap="square" lIns="0" tIns="0" rIns="0" bIns="0" rtlCol="0" anchor="t"/>
          <a:lstStyle/>
          <a:p>
            <a:pPr marL="0" indent="0">
              <a:buNone/>
            </a:pPr>
            <a:r>
              <a:rPr lang="sv-SE" altLang="en-US" sz="3200" b="1" dirty="0">
                <a:solidFill>
                  <a:srgbClr val="FFFFFF"/>
                </a:solidFill>
                <a:latin typeface="Roboto Condensed" pitchFamily="34" charset="0"/>
                <a:ea typeface="Roboto Condensed" pitchFamily="34" charset="-122"/>
                <a:cs typeface="Roboto Condensed" pitchFamily="34" charset="-120"/>
              </a:rPr>
              <a:t>Gå till personen först. Sedan till chefen.</a:t>
            </a:r>
            <a:endParaRPr lang="sv-SE" sz="3200" dirty="0"/>
          </a:p>
        </p:txBody>
      </p:sp>
      <p:sp>
        <p:nvSpPr>
          <p:cNvPr id="24" name="Text 21"/>
          <p:cNvSpPr txBox="1"/>
          <p:nvPr/>
        </p:nvSpPr>
        <p:spPr>
          <a:xfrm>
            <a:off x="7818120" y="3611880"/>
            <a:ext cx="3566160" cy="822960"/>
          </a:xfrm>
          <a:prstGeom prst="rect">
            <a:avLst/>
          </a:prstGeom>
          <a:noFill/>
          <a:ln/>
        </p:spPr>
        <p:txBody>
          <a:bodyPr wrap="square" lIns="0" tIns="0" rIns="0" bIns="0" rtlCol="0" anchor="t"/>
          <a:lstStyle/>
          <a:p>
            <a:pPr marL="0" indent="0">
              <a:buNone/>
            </a:pPr>
            <a:r>
              <a:rPr lang="sv-SE" altLang="en-US" sz="1800" dirty="0">
                <a:solidFill>
                  <a:srgbClr val="FFFFFF"/>
                </a:solidFill>
                <a:latin typeface="Georgia" pitchFamily="34" charset="0"/>
                <a:ea typeface="Georgia" pitchFamily="34" charset="-122"/>
                <a:cs typeface="Georgia" pitchFamily="34" charset="-120"/>
              </a:rPr>
              <a:t>Bestäm den i lugnt läge, innan någon är arg.</a:t>
            </a:r>
            <a:endParaRPr lang="sv-SE" sz="1800" dirty="0"/>
          </a:p>
        </p:txBody>
      </p:sp>
      <p:sp>
        <p:nvSpPr>
          <p:cNvPr id="25" name="Text 22"/>
          <p:cNvSpPr txBox="1"/>
          <p:nvPr/>
        </p:nvSpPr>
        <p:spPr>
          <a:xfrm>
            <a:off x="7818120" y="4572000"/>
            <a:ext cx="3566160" cy="1280160"/>
          </a:xfrm>
          <a:prstGeom prst="rect">
            <a:avLst/>
          </a:prstGeom>
          <a:noFill/>
          <a:ln/>
        </p:spPr>
        <p:txBody>
          <a:bodyPr wrap="square" lIns="0" tIns="0" rIns="0" bIns="0" rtlCol="0" anchor="t"/>
          <a:lstStyle/>
          <a:p>
            <a:pPr marL="0" indent="0">
              <a:buNone/>
            </a:pPr>
            <a:r>
              <a:rPr lang="sv-SE" altLang="en-US" sz="1800" dirty="0">
                <a:solidFill>
                  <a:srgbClr val="FFFFFF"/>
                </a:solidFill>
                <a:latin typeface="Georgia" pitchFamily="34" charset="0"/>
                <a:ea typeface="Georgia" pitchFamily="34" charset="-122"/>
                <a:cs typeface="Georgia" pitchFamily="34" charset="-120"/>
              </a:rPr>
              <a:t>Gemensamma regler i förväg fungerar bättre än att lösa varje fall i efterhand.</a:t>
            </a:r>
            <a:endParaRPr lang="sv-SE" sz="1800" dirty="0"/>
          </a:p>
        </p:txBody>
      </p:sp>
      <p:sp>
        <p:nvSpPr>
          <p:cNvPr id="26" name="Text 23"/>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Behfar m.fl. (2008), 57 studentgrupper; O'Neill &amp; McLarnon (2018); Gilin Oore m.fl. (2015) om programmet CREW.</a:t>
            </a:r>
            <a:endParaRPr lang="sv-SE"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rot="21480000">
            <a:off x="548640" y="457200"/>
            <a:ext cx="3889858"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Fyra saker att ta med</a:t>
            </a:r>
            <a:endParaRPr lang="sv-SE" sz="3000" dirty="0"/>
          </a:p>
        </p:txBody>
      </p:sp>
      <p:sp>
        <p:nvSpPr>
          <p:cNvPr id="4" name="Shape 1"/>
          <p:cNvSpPr/>
          <p:nvPr/>
        </p:nvSpPr>
        <p:spPr>
          <a:xfrm>
            <a:off x="548640" y="1463040"/>
            <a:ext cx="11094415" cy="1024128"/>
          </a:xfrm>
          <a:prstGeom prst="roundRect">
            <a:avLst>
              <a:gd name="adj" fmla="val 8929"/>
            </a:avLst>
          </a:prstGeom>
          <a:solidFill>
            <a:srgbClr val="F2F0EF"/>
          </a:solidFill>
          <a:ln w="12700">
            <a:solidFill>
              <a:srgbClr val="F2F0EF"/>
            </a:solidFill>
            <a:prstDash val="solid"/>
          </a:ln>
        </p:spPr>
        <p:txBody>
          <a:bodyPr/>
          <a:lstStyle/>
          <a:p>
            <a:endParaRPr lang="sv-SE"/>
          </a:p>
        </p:txBody>
      </p:sp>
      <p:sp>
        <p:nvSpPr>
          <p:cNvPr id="5" name="Shape 2"/>
          <p:cNvSpPr/>
          <p:nvPr/>
        </p:nvSpPr>
        <p:spPr>
          <a:xfrm>
            <a:off x="822960" y="1682496"/>
            <a:ext cx="585216" cy="585216"/>
          </a:xfrm>
          <a:prstGeom prst="ellipse">
            <a:avLst/>
          </a:prstGeom>
          <a:solidFill>
            <a:srgbClr val="D80811"/>
          </a:solidFill>
          <a:ln w="12700">
            <a:solidFill>
              <a:srgbClr val="D80811"/>
            </a:solidFill>
            <a:prstDash val="solid"/>
          </a:ln>
        </p:spPr>
        <p:txBody>
          <a:bodyPr/>
          <a:lstStyle/>
          <a:p>
            <a:endParaRPr lang="sv-SE"/>
          </a:p>
        </p:txBody>
      </p:sp>
      <p:sp>
        <p:nvSpPr>
          <p:cNvPr id="6" name="Text 3"/>
          <p:cNvSpPr txBox="1"/>
          <p:nvPr/>
        </p:nvSpPr>
        <p:spPr>
          <a:xfrm>
            <a:off x="822960" y="1682496"/>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1</a:t>
            </a:r>
            <a:endParaRPr lang="en-US" sz="2176" dirty="0"/>
          </a:p>
        </p:txBody>
      </p:sp>
      <p:sp>
        <p:nvSpPr>
          <p:cNvPr id="7" name="Text 4"/>
          <p:cNvSpPr txBox="1"/>
          <p:nvPr/>
        </p:nvSpPr>
        <p:spPr>
          <a:xfrm>
            <a:off x="1691640" y="1572768"/>
            <a:ext cx="9631375" cy="384048"/>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Fråga var tyngdpunkten ligger</a:t>
            </a:r>
            <a:endParaRPr lang="sv-SE" sz="2200" dirty="0"/>
          </a:p>
        </p:txBody>
      </p:sp>
      <p:sp>
        <p:nvSpPr>
          <p:cNvPr id="8" name="Text 5"/>
          <p:cNvSpPr txBox="1"/>
          <p:nvPr/>
        </p:nvSpPr>
        <p:spPr>
          <a:xfrm>
            <a:off x="1691640" y="1975104"/>
            <a:ext cx="9631375" cy="45720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A, B eller C? Gäller det saken eller personen? Och vilket behov är blockerat?</a:t>
            </a:r>
            <a:endParaRPr lang="sv-SE" sz="1650" dirty="0"/>
          </a:p>
        </p:txBody>
      </p:sp>
      <p:sp>
        <p:nvSpPr>
          <p:cNvPr id="9" name="Shape 6"/>
          <p:cNvSpPr/>
          <p:nvPr/>
        </p:nvSpPr>
        <p:spPr>
          <a:xfrm>
            <a:off x="548640" y="2651760"/>
            <a:ext cx="11094415" cy="1024128"/>
          </a:xfrm>
          <a:prstGeom prst="roundRect">
            <a:avLst>
              <a:gd name="adj" fmla="val 8929"/>
            </a:avLst>
          </a:prstGeom>
          <a:solidFill>
            <a:srgbClr val="F2F0EF"/>
          </a:solidFill>
          <a:ln w="12700">
            <a:solidFill>
              <a:srgbClr val="F2F0EF"/>
            </a:solidFill>
            <a:prstDash val="solid"/>
          </a:ln>
        </p:spPr>
        <p:txBody>
          <a:bodyPr/>
          <a:lstStyle/>
          <a:p>
            <a:endParaRPr lang="sv-SE"/>
          </a:p>
        </p:txBody>
      </p:sp>
      <p:sp>
        <p:nvSpPr>
          <p:cNvPr id="10" name="Shape 7"/>
          <p:cNvSpPr/>
          <p:nvPr/>
        </p:nvSpPr>
        <p:spPr>
          <a:xfrm>
            <a:off x="822960" y="2871216"/>
            <a:ext cx="585216" cy="585216"/>
          </a:xfrm>
          <a:prstGeom prst="ellipse">
            <a:avLst/>
          </a:prstGeom>
          <a:solidFill>
            <a:srgbClr val="D80811"/>
          </a:solidFill>
          <a:ln w="12700">
            <a:solidFill>
              <a:srgbClr val="D80811"/>
            </a:solidFill>
            <a:prstDash val="solid"/>
          </a:ln>
        </p:spPr>
        <p:txBody>
          <a:bodyPr/>
          <a:lstStyle/>
          <a:p>
            <a:endParaRPr lang="sv-SE"/>
          </a:p>
        </p:txBody>
      </p:sp>
      <p:sp>
        <p:nvSpPr>
          <p:cNvPr id="11" name="Text 8"/>
          <p:cNvSpPr txBox="1"/>
          <p:nvPr/>
        </p:nvSpPr>
        <p:spPr>
          <a:xfrm>
            <a:off x="822960" y="2871216"/>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2</a:t>
            </a:r>
            <a:endParaRPr lang="en-US" sz="2176" dirty="0"/>
          </a:p>
        </p:txBody>
      </p:sp>
      <p:sp>
        <p:nvSpPr>
          <p:cNvPr id="12" name="Text 9"/>
          <p:cNvSpPr txBox="1"/>
          <p:nvPr/>
        </p:nvSpPr>
        <p:spPr>
          <a:xfrm>
            <a:off x="1691640" y="2761488"/>
            <a:ext cx="9631375" cy="384048"/>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Känn igen de tidiga trösklarna, och vänta inte</a:t>
            </a:r>
            <a:endParaRPr lang="sv-SE" sz="2200" dirty="0"/>
          </a:p>
        </p:txBody>
      </p:sp>
      <p:sp>
        <p:nvSpPr>
          <p:cNvPr id="13" name="Text 10"/>
          <p:cNvSpPr txBox="1"/>
          <p:nvPr/>
        </p:nvSpPr>
        <p:spPr>
          <a:xfrm>
            <a:off x="1691640" y="3163824"/>
            <a:ext cx="9631375" cy="45720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När det handlar om att vinna istället för verksamhetens mål. Var inte rädd att ta hjälp av någon ”utifrån”.</a:t>
            </a:r>
            <a:endParaRPr lang="sv-SE" sz="1650" dirty="0"/>
          </a:p>
        </p:txBody>
      </p:sp>
      <p:sp>
        <p:nvSpPr>
          <p:cNvPr id="14" name="Shape 11"/>
          <p:cNvSpPr/>
          <p:nvPr/>
        </p:nvSpPr>
        <p:spPr>
          <a:xfrm>
            <a:off x="548640" y="3840480"/>
            <a:ext cx="11094415" cy="1024128"/>
          </a:xfrm>
          <a:prstGeom prst="roundRect">
            <a:avLst>
              <a:gd name="adj" fmla="val 8929"/>
            </a:avLst>
          </a:prstGeom>
          <a:solidFill>
            <a:srgbClr val="F2F0EF"/>
          </a:solidFill>
          <a:ln w="12700">
            <a:solidFill>
              <a:srgbClr val="F2F0EF"/>
            </a:solidFill>
            <a:prstDash val="solid"/>
          </a:ln>
        </p:spPr>
        <p:txBody>
          <a:bodyPr/>
          <a:lstStyle/>
          <a:p>
            <a:endParaRPr lang="sv-SE"/>
          </a:p>
        </p:txBody>
      </p:sp>
      <p:sp>
        <p:nvSpPr>
          <p:cNvPr id="15" name="Shape 12"/>
          <p:cNvSpPr/>
          <p:nvPr/>
        </p:nvSpPr>
        <p:spPr>
          <a:xfrm>
            <a:off x="822960" y="4059936"/>
            <a:ext cx="585216" cy="585216"/>
          </a:xfrm>
          <a:prstGeom prst="ellipse">
            <a:avLst/>
          </a:prstGeom>
          <a:solidFill>
            <a:srgbClr val="D80811"/>
          </a:solidFill>
          <a:ln w="12700">
            <a:solidFill>
              <a:srgbClr val="D80811"/>
            </a:solidFill>
            <a:prstDash val="solid"/>
          </a:ln>
        </p:spPr>
        <p:txBody>
          <a:bodyPr/>
          <a:lstStyle/>
          <a:p>
            <a:endParaRPr lang="sv-SE"/>
          </a:p>
        </p:txBody>
      </p:sp>
      <p:sp>
        <p:nvSpPr>
          <p:cNvPr id="16" name="Text 13"/>
          <p:cNvSpPr txBox="1"/>
          <p:nvPr/>
        </p:nvSpPr>
        <p:spPr>
          <a:xfrm>
            <a:off x="822960" y="4059936"/>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3</a:t>
            </a:r>
            <a:endParaRPr lang="en-US" sz="2176" dirty="0"/>
          </a:p>
        </p:txBody>
      </p:sp>
      <p:sp>
        <p:nvSpPr>
          <p:cNvPr id="17" name="Text 14"/>
          <p:cNvSpPr txBox="1"/>
          <p:nvPr/>
        </p:nvSpPr>
        <p:spPr>
          <a:xfrm>
            <a:off x="1691640" y="3950208"/>
            <a:ext cx="9631375" cy="384048"/>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Börja med dig själv</a:t>
            </a:r>
            <a:endParaRPr lang="sv-SE" sz="2200" dirty="0"/>
          </a:p>
        </p:txBody>
      </p:sp>
      <p:sp>
        <p:nvSpPr>
          <p:cNvPr id="18" name="Text 15"/>
          <p:cNvSpPr txBox="1"/>
          <p:nvPr/>
        </p:nvSpPr>
        <p:spPr>
          <a:xfrm>
            <a:off x="1691640" y="4352544"/>
            <a:ext cx="9631375" cy="45720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Lägg märke till tolkning, känsla och impuls. Använd ett tankegrepp. Bekräfta innan du invänder.</a:t>
            </a:r>
            <a:endParaRPr lang="sv-SE" sz="1650" dirty="0"/>
          </a:p>
        </p:txBody>
      </p:sp>
      <p:sp>
        <p:nvSpPr>
          <p:cNvPr id="19" name="Shape 16"/>
          <p:cNvSpPr/>
          <p:nvPr/>
        </p:nvSpPr>
        <p:spPr>
          <a:xfrm>
            <a:off x="548640" y="5029200"/>
            <a:ext cx="11094415" cy="1024128"/>
          </a:xfrm>
          <a:prstGeom prst="roundRect">
            <a:avLst>
              <a:gd name="adj" fmla="val 8929"/>
            </a:avLst>
          </a:prstGeom>
          <a:solidFill>
            <a:srgbClr val="F2F0EF"/>
          </a:solidFill>
          <a:ln w="12700">
            <a:solidFill>
              <a:srgbClr val="F2F0EF"/>
            </a:solidFill>
            <a:prstDash val="solid"/>
          </a:ln>
        </p:spPr>
        <p:txBody>
          <a:bodyPr/>
          <a:lstStyle/>
          <a:p>
            <a:endParaRPr lang="sv-SE"/>
          </a:p>
        </p:txBody>
      </p:sp>
      <p:sp>
        <p:nvSpPr>
          <p:cNvPr id="20" name="Shape 17"/>
          <p:cNvSpPr/>
          <p:nvPr/>
        </p:nvSpPr>
        <p:spPr>
          <a:xfrm>
            <a:off x="822960" y="5248656"/>
            <a:ext cx="585216" cy="585216"/>
          </a:xfrm>
          <a:prstGeom prst="ellipse">
            <a:avLst/>
          </a:prstGeom>
          <a:solidFill>
            <a:srgbClr val="D80811"/>
          </a:solidFill>
          <a:ln w="12700">
            <a:solidFill>
              <a:srgbClr val="D80811"/>
            </a:solidFill>
            <a:prstDash val="solid"/>
          </a:ln>
        </p:spPr>
        <p:txBody>
          <a:bodyPr/>
          <a:lstStyle/>
          <a:p>
            <a:endParaRPr lang="sv-SE"/>
          </a:p>
        </p:txBody>
      </p:sp>
      <p:sp>
        <p:nvSpPr>
          <p:cNvPr id="21" name="Text 18"/>
          <p:cNvSpPr txBox="1"/>
          <p:nvPr/>
        </p:nvSpPr>
        <p:spPr>
          <a:xfrm>
            <a:off x="822960" y="5248656"/>
            <a:ext cx="585216" cy="585216"/>
          </a:xfrm>
          <a:prstGeom prst="rect">
            <a:avLst/>
          </a:prstGeom>
          <a:noFill/>
          <a:ln/>
        </p:spPr>
        <p:txBody>
          <a:bodyPr wrap="square" lIns="0" tIns="0" rIns="0" bIns="0" rtlCol="0" anchor="ctr"/>
          <a:lstStyle/>
          <a:p>
            <a:pPr marL="0" indent="0" algn="ctr">
              <a:buNone/>
            </a:pPr>
            <a:r>
              <a:rPr lang="en-US" sz="2176" b="1" dirty="0">
                <a:solidFill>
                  <a:srgbClr val="FFFFFF"/>
                </a:solidFill>
                <a:latin typeface="Roboto Condensed" pitchFamily="34" charset="0"/>
                <a:ea typeface="Roboto Condensed" pitchFamily="34" charset="-122"/>
                <a:cs typeface="Roboto Condensed" pitchFamily="34" charset="-120"/>
              </a:rPr>
              <a:t>4</a:t>
            </a:r>
            <a:endParaRPr lang="en-US" sz="2176" dirty="0"/>
          </a:p>
        </p:txBody>
      </p:sp>
      <p:sp>
        <p:nvSpPr>
          <p:cNvPr id="22" name="Text 19"/>
          <p:cNvSpPr txBox="1"/>
          <p:nvPr/>
        </p:nvSpPr>
        <p:spPr>
          <a:xfrm>
            <a:off x="1691640" y="5138928"/>
            <a:ext cx="9631375" cy="384048"/>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Bestäm spelreglerna i förväg</a:t>
            </a:r>
            <a:endParaRPr lang="sv-SE" sz="2200" dirty="0"/>
          </a:p>
        </p:txBody>
      </p:sp>
      <p:sp>
        <p:nvSpPr>
          <p:cNvPr id="23" name="Text 20"/>
          <p:cNvSpPr txBox="1"/>
          <p:nvPr/>
        </p:nvSpPr>
        <p:spPr>
          <a:xfrm>
            <a:off x="1691640" y="5541264"/>
            <a:ext cx="9631375" cy="457200"/>
          </a:xfrm>
          <a:prstGeom prst="rect">
            <a:avLst/>
          </a:prstGeom>
          <a:noFill/>
          <a:ln/>
        </p:spPr>
        <p:txBody>
          <a:bodyPr wrap="square" lIns="0" tIns="0" rIns="0" bIns="0" rtlCol="0" anchor="t"/>
          <a:lstStyle/>
          <a:p>
            <a:pPr marL="0" indent="0">
              <a:buNone/>
            </a:pPr>
            <a:r>
              <a:rPr lang="sv-SE" altLang="en-US" sz="1650" dirty="0">
                <a:solidFill>
                  <a:srgbClr val="1A1A1A"/>
                </a:solidFill>
                <a:latin typeface="Georgia" pitchFamily="34" charset="0"/>
                <a:ea typeface="Georgia" pitchFamily="34" charset="-122"/>
                <a:cs typeface="Georgia" pitchFamily="34" charset="-120"/>
              </a:rPr>
              <a:t>Kom överens i lugnt läge om hur ni hanterar oenighet, och ta reda på vart man vänder sig.</a:t>
            </a:r>
            <a:endParaRPr lang="sv-SE"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Shape 0"/>
          <p:cNvSpPr/>
          <p:nvPr/>
        </p:nvSpPr>
        <p:spPr>
          <a:xfrm>
            <a:off x="182880" y="3383280"/>
            <a:ext cx="7680960" cy="7680960"/>
          </a:xfrm>
          <a:prstGeom prst="ellipse">
            <a:avLst/>
          </a:prstGeom>
          <a:solidFill>
            <a:srgbClr val="D80811"/>
          </a:solidFill>
          <a:ln w="12700">
            <a:solidFill>
              <a:srgbClr val="D80811"/>
            </a:solidFill>
            <a:prstDash val="solid"/>
          </a:ln>
        </p:spPr>
        <p:txBody>
          <a:bodyPr/>
          <a:lstStyle/>
          <a:p>
            <a:endParaRPr lang="sv-SE"/>
          </a:p>
        </p:txBody>
      </p:sp>
      <p:sp>
        <p:nvSpPr>
          <p:cNvPr id="4" name="Shape 1"/>
          <p:cNvSpPr/>
          <p:nvPr/>
        </p:nvSpPr>
        <p:spPr>
          <a:xfrm>
            <a:off x="6035040" y="4114800"/>
            <a:ext cx="5852160" cy="5852160"/>
          </a:xfrm>
          <a:prstGeom prst="ellipse">
            <a:avLst/>
          </a:prstGeom>
          <a:solidFill>
            <a:srgbClr val="A50D1E"/>
          </a:solidFill>
          <a:ln w="12700">
            <a:solidFill>
              <a:srgbClr val="A50D1E"/>
            </a:solidFill>
            <a:prstDash val="solid"/>
          </a:ln>
        </p:spPr>
        <p:txBody>
          <a:bodyPr/>
          <a:lstStyle/>
          <a:p>
            <a:endParaRPr lang="sv-SE"/>
          </a:p>
        </p:txBody>
      </p:sp>
      <p:sp>
        <p:nvSpPr>
          <p:cNvPr id="5" name="Text 2"/>
          <p:cNvSpPr txBox="1"/>
          <p:nvPr/>
        </p:nvSpPr>
        <p:spPr>
          <a:xfrm rot="21480000">
            <a:off x="777240" y="1097280"/>
            <a:ext cx="3840480" cy="1280160"/>
          </a:xfrm>
          <a:prstGeom prst="rect">
            <a:avLst/>
          </a:prstGeom>
          <a:solidFill>
            <a:srgbClr val="D80811"/>
          </a:solidFill>
          <a:ln/>
        </p:spPr>
        <p:txBody>
          <a:bodyPr wrap="square" lIns="0" tIns="0" rIns="0" bIns="0" rtlCol="0" anchor="ctr"/>
          <a:lstStyle/>
          <a:p>
            <a:pPr marL="0" indent="0" algn="ctr">
              <a:buNone/>
            </a:pPr>
            <a:r>
              <a:rPr lang="sv-SE" altLang="en-US" sz="6600" b="1" dirty="0">
                <a:solidFill>
                  <a:srgbClr val="FFFFFF"/>
                </a:solidFill>
                <a:latin typeface="Roboto Condensed" pitchFamily="34" charset="0"/>
                <a:ea typeface="Roboto Condensed" pitchFamily="34" charset="-122"/>
                <a:cs typeface="Roboto Condensed" pitchFamily="34" charset="-120"/>
              </a:rPr>
              <a:t>Frågor?</a:t>
            </a:r>
            <a:endParaRPr lang="sv-SE" sz="6600" dirty="0"/>
          </a:p>
        </p:txBody>
      </p:sp>
      <p:sp>
        <p:nvSpPr>
          <p:cNvPr id="6" name="Text 3"/>
          <p:cNvSpPr txBox="1"/>
          <p:nvPr/>
        </p:nvSpPr>
        <p:spPr>
          <a:xfrm>
            <a:off x="777240" y="2697480"/>
            <a:ext cx="7315200" cy="548640"/>
          </a:xfrm>
          <a:prstGeom prst="rect">
            <a:avLst/>
          </a:prstGeom>
          <a:noFill/>
          <a:ln/>
        </p:spPr>
        <p:txBody>
          <a:bodyPr wrap="square" lIns="0" tIns="0" rIns="0" bIns="0" rtlCol="0" anchor="t"/>
          <a:lstStyle/>
          <a:p>
            <a:pPr marL="0" indent="0">
              <a:buNone/>
            </a:pPr>
            <a:r>
              <a:rPr lang="sv-SE" altLang="en-US" sz="2800" dirty="0">
                <a:solidFill>
                  <a:srgbClr val="1A1A1A"/>
                </a:solidFill>
                <a:latin typeface="Roboto Condensed" pitchFamily="34" charset="0"/>
                <a:ea typeface="Roboto Condensed" pitchFamily="34" charset="-122"/>
                <a:cs typeface="Roboto Condensed" pitchFamily="34" charset="-120"/>
              </a:rPr>
              <a:t>Skriv i chatten eller räck upp handen.</a:t>
            </a:r>
            <a:endParaRPr lang="sv-SE"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865815" y="320040"/>
            <a:ext cx="777240" cy="777240"/>
          </a:xfrm>
          <a:prstGeom prst="rect">
            <a:avLst/>
          </a:prstGeom>
        </p:spPr>
      </p:pic>
      <p:sp>
        <p:nvSpPr>
          <p:cNvPr id="3" name="TextBox 2"/>
          <p:cNvSpPr txBox="1"/>
          <p:nvPr/>
        </p:nvSpPr>
        <p:spPr>
          <a:xfrm rot="21480000">
            <a:off x="548640" y="457200"/>
            <a:ext cx="3412540" cy="713231"/>
          </a:xfrm>
          <a:prstGeom prst="rect">
            <a:avLst/>
          </a:prstGeom>
          <a:solidFill>
            <a:srgbClr val="D80811"/>
          </a:solidFill>
          <a:ln>
            <a:noFill/>
          </a:ln>
        </p:spPr>
        <p:txBody>
          <a:bodyPr wrap="square" lIns="0" tIns="0" rIns="0" bIns="0" anchor="ctr">
            <a:spAutoFit/>
          </a:bodyPr>
          <a:lstStyle/>
          <a:p>
            <a:pPr algn="ctr"/>
            <a:r>
              <a:rPr lang="sv-SE" sz="3000" b="1">
                <a:solidFill>
                  <a:srgbClr val="FFFFFF"/>
                </a:solidFill>
                <a:latin typeface="Roboto Condensed"/>
              </a:rPr>
              <a:t>Lästips och källor</a:t>
            </a:r>
          </a:p>
        </p:txBody>
      </p:sp>
      <p:sp>
        <p:nvSpPr>
          <p:cNvPr id="4" name="TextBox 3"/>
          <p:cNvSpPr txBox="1"/>
          <p:nvPr/>
        </p:nvSpPr>
        <p:spPr>
          <a:xfrm>
            <a:off x="548640" y="1417320"/>
            <a:ext cx="5318607" cy="320040"/>
          </a:xfrm>
          <a:prstGeom prst="rect">
            <a:avLst/>
          </a:prstGeom>
          <a:noFill/>
        </p:spPr>
        <p:txBody>
          <a:bodyPr wrap="square" lIns="0" tIns="0" rIns="0" bIns="0" anchor="t">
            <a:spAutoFit/>
          </a:bodyPr>
          <a:lstStyle/>
          <a:p>
            <a:r>
              <a:rPr lang="sv-SE" sz="1400" b="1" spc="200">
                <a:solidFill>
                  <a:srgbClr val="A50D1E"/>
                </a:solidFill>
                <a:latin typeface="Roboto Condensed"/>
              </a:rPr>
              <a:t>GRUNDTEXTER OCH FÖRDJUPNING</a:t>
            </a:r>
          </a:p>
        </p:txBody>
      </p:sp>
      <p:sp>
        <p:nvSpPr>
          <p:cNvPr id="5" name="Rectangle 4"/>
          <p:cNvSpPr/>
          <p:nvPr/>
        </p:nvSpPr>
        <p:spPr>
          <a:xfrm>
            <a:off x="548640" y="181051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6537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Grundboken i konfliktkunskap</a:t>
            </a:r>
          </a:p>
        </p:txBody>
      </p:sp>
      <p:sp>
        <p:nvSpPr>
          <p:cNvPr id="7" name="TextBox 6"/>
          <p:cNvSpPr txBox="1"/>
          <p:nvPr/>
        </p:nvSpPr>
        <p:spPr>
          <a:xfrm>
            <a:off x="548640" y="206959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Konfliktkunskapens ABC (version 2)</a:t>
            </a:r>
          </a:p>
        </p:txBody>
      </p:sp>
      <p:sp>
        <p:nvSpPr>
          <p:cNvPr id="8" name="TextBox 7"/>
          <p:cNvSpPr txBox="1"/>
          <p:nvPr/>
        </p:nvSpPr>
        <p:spPr>
          <a:xfrm>
            <a:off x="548640" y="227660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Jordan, T. (2006). Göteborgs universitet.</a:t>
            </a:r>
          </a:p>
        </p:txBody>
      </p:sp>
      <p:sp>
        <p:nvSpPr>
          <p:cNvPr id="9" name="Rectangle 8"/>
          <p:cNvSpPr/>
          <p:nvPr/>
        </p:nvSpPr>
        <p:spPr>
          <a:xfrm>
            <a:off x="548640" y="2627985"/>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2682849"/>
            <a:ext cx="5318607" cy="185927"/>
          </a:xfrm>
          <a:prstGeom prst="rect">
            <a:avLst/>
          </a:prstGeom>
          <a:noFill/>
        </p:spPr>
        <p:txBody>
          <a:bodyPr wrap="square" lIns="0" tIns="0" rIns="0" bIns="0" anchor="t">
            <a:spAutoFit/>
          </a:bodyPr>
          <a:lstStyle/>
          <a:p>
            <a:r>
              <a:rPr lang="sv-SE" sz="1200" b="1">
                <a:solidFill>
                  <a:srgbClr val="1A1A1A"/>
                </a:solidFill>
                <a:latin typeface="Roboto Condensed"/>
              </a:rPr>
              <a:t>Glasls trappa på svenska</a:t>
            </a:r>
          </a:p>
        </p:txBody>
      </p:sp>
      <p:sp>
        <p:nvSpPr>
          <p:cNvPr id="11" name="TextBox 10"/>
          <p:cNvSpPr txBox="1"/>
          <p:nvPr/>
        </p:nvSpPr>
        <p:spPr>
          <a:xfrm>
            <a:off x="548640" y="2887065"/>
            <a:ext cx="5318607" cy="170434"/>
          </a:xfrm>
          <a:prstGeom prst="rect">
            <a:avLst/>
          </a:prstGeom>
          <a:noFill/>
        </p:spPr>
        <p:txBody>
          <a:bodyPr wrap="square" lIns="0" tIns="0" rIns="0" bIns="0" anchor="t">
            <a:spAutoFit/>
          </a:bodyPr>
          <a:lstStyle/>
          <a:p>
            <a:r>
              <a:rPr lang="sv-SE" sz="1100" b="0">
                <a:solidFill>
                  <a:srgbClr val="005A5F"/>
                </a:solidFill>
                <a:latin typeface="Roboto Condensed"/>
              </a:rPr>
              <a:t>Konflikters eskalation</a:t>
            </a:r>
          </a:p>
        </p:txBody>
      </p:sp>
      <p:sp>
        <p:nvSpPr>
          <p:cNvPr id="12" name="TextBox 11"/>
          <p:cNvSpPr txBox="1"/>
          <p:nvPr/>
        </p:nvSpPr>
        <p:spPr>
          <a:xfrm>
            <a:off x="548640" y="3094075"/>
            <a:ext cx="5318607" cy="162687"/>
          </a:xfrm>
          <a:prstGeom prst="rect">
            <a:avLst/>
          </a:prstGeom>
          <a:noFill/>
        </p:spPr>
        <p:txBody>
          <a:bodyPr wrap="square" lIns="0" tIns="0" rIns="0" bIns="0" anchor="t">
            <a:spAutoFit/>
          </a:bodyPr>
          <a:lstStyle/>
          <a:p>
            <a:r>
              <a:rPr lang="sv-SE" sz="1050" b="0">
                <a:solidFill>
                  <a:srgbClr val="4A4A4A"/>
                </a:solidFill>
                <a:latin typeface="Roboto Condensed"/>
              </a:rPr>
              <a:t>Jordan, T. (u.å.). Sammanfattar Glasl (1982, 1997).</a:t>
            </a:r>
          </a:p>
        </p:txBody>
      </p:sp>
      <p:sp>
        <p:nvSpPr>
          <p:cNvPr id="13" name="Rectangle 12"/>
          <p:cNvSpPr/>
          <p:nvPr/>
        </p:nvSpPr>
        <p:spPr>
          <a:xfrm>
            <a:off x="548640" y="3445459"/>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3500323"/>
            <a:ext cx="5318607" cy="185927"/>
          </a:xfrm>
          <a:prstGeom prst="rect">
            <a:avLst/>
          </a:prstGeom>
          <a:noFill/>
        </p:spPr>
        <p:txBody>
          <a:bodyPr wrap="square" lIns="0" tIns="0" rIns="0" bIns="0" anchor="t">
            <a:spAutoFit/>
          </a:bodyPr>
          <a:lstStyle/>
          <a:p>
            <a:r>
              <a:rPr lang="sv-SE" sz="1200" b="1">
                <a:solidFill>
                  <a:srgbClr val="1A1A1A"/>
                </a:solidFill>
                <a:latin typeface="Roboto Condensed"/>
              </a:rPr>
              <a:t>Den inre sidan</a:t>
            </a:r>
          </a:p>
        </p:txBody>
      </p:sp>
      <p:sp>
        <p:nvSpPr>
          <p:cNvPr id="15" name="TextBox 14"/>
          <p:cNvSpPr txBox="1"/>
          <p:nvPr/>
        </p:nvSpPr>
        <p:spPr>
          <a:xfrm>
            <a:off x="548640" y="3704539"/>
            <a:ext cx="5318607" cy="170434"/>
          </a:xfrm>
          <a:prstGeom prst="rect">
            <a:avLst/>
          </a:prstGeom>
          <a:noFill/>
        </p:spPr>
        <p:txBody>
          <a:bodyPr wrap="square" lIns="0" tIns="0" rIns="0" bIns="0" anchor="t">
            <a:spAutoFit/>
          </a:bodyPr>
          <a:lstStyle/>
          <a:p>
            <a:r>
              <a:rPr lang="sv-SE" sz="1100" b="0">
                <a:solidFill>
                  <a:srgbClr val="005A5F"/>
                </a:solidFill>
                <a:latin typeface="Roboto Condensed"/>
              </a:rPr>
              <a:t>Brist på självinsikt: En viktig orsak till elakartade konflikter</a:t>
            </a:r>
          </a:p>
        </p:txBody>
      </p:sp>
      <p:sp>
        <p:nvSpPr>
          <p:cNvPr id="16" name="TextBox 15"/>
          <p:cNvSpPr txBox="1"/>
          <p:nvPr/>
        </p:nvSpPr>
        <p:spPr>
          <a:xfrm>
            <a:off x="548640" y="3911549"/>
            <a:ext cx="5318607" cy="162687"/>
          </a:xfrm>
          <a:prstGeom prst="rect">
            <a:avLst/>
          </a:prstGeom>
          <a:noFill/>
        </p:spPr>
        <p:txBody>
          <a:bodyPr wrap="square" lIns="0" tIns="0" rIns="0" bIns="0" anchor="t">
            <a:spAutoFit/>
          </a:bodyPr>
          <a:lstStyle/>
          <a:p>
            <a:r>
              <a:rPr lang="sv-SE" sz="1050" b="0">
                <a:solidFill>
                  <a:srgbClr val="4A4A4A"/>
                </a:solidFill>
                <a:latin typeface="Roboto Condensed"/>
              </a:rPr>
              <a:t>Jordan, T. (2002). Göteborgs universitet.</a:t>
            </a:r>
          </a:p>
        </p:txBody>
      </p:sp>
      <p:sp>
        <p:nvSpPr>
          <p:cNvPr id="17" name="Rectangle 16"/>
          <p:cNvSpPr/>
          <p:nvPr/>
        </p:nvSpPr>
        <p:spPr>
          <a:xfrm>
            <a:off x="548640" y="426293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8640" y="431779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Verktyget för systemnivån</a:t>
            </a:r>
          </a:p>
        </p:txBody>
      </p:sp>
      <p:sp>
        <p:nvSpPr>
          <p:cNvPr id="19" name="TextBox 18"/>
          <p:cNvSpPr txBox="1"/>
          <p:nvPr/>
        </p:nvSpPr>
        <p:spPr>
          <a:xfrm>
            <a:off x="548640" y="4522012"/>
            <a:ext cx="5318607" cy="170434"/>
          </a:xfrm>
          <a:prstGeom prst="rect">
            <a:avLst/>
          </a:prstGeom>
          <a:noFill/>
        </p:spPr>
        <p:txBody>
          <a:bodyPr wrap="square" lIns="0" tIns="0" rIns="0" bIns="0" anchor="t">
            <a:spAutoFit/>
          </a:bodyPr>
          <a:lstStyle/>
          <a:p>
            <a:r>
              <a:rPr lang="sv-SE" sz="1100" b="0">
                <a:solidFill>
                  <a:srgbClr val="005A5F"/>
                </a:solidFill>
                <a:latin typeface="Roboto Condensed"/>
              </a:rPr>
              <a:t>Organisationsdiagnos: Instruktioner för checklista och arbetsblad</a:t>
            </a:r>
          </a:p>
        </p:txBody>
      </p:sp>
      <p:sp>
        <p:nvSpPr>
          <p:cNvPr id="20" name="TextBox 19"/>
          <p:cNvSpPr txBox="1"/>
          <p:nvPr/>
        </p:nvSpPr>
        <p:spPr>
          <a:xfrm>
            <a:off x="548640" y="4729022"/>
            <a:ext cx="5318607" cy="162687"/>
          </a:xfrm>
          <a:prstGeom prst="rect">
            <a:avLst/>
          </a:prstGeom>
          <a:noFill/>
        </p:spPr>
        <p:txBody>
          <a:bodyPr wrap="square" lIns="0" tIns="0" rIns="0" bIns="0" anchor="t">
            <a:spAutoFit/>
          </a:bodyPr>
          <a:lstStyle/>
          <a:p>
            <a:r>
              <a:rPr lang="sv-SE" sz="1050" b="0">
                <a:solidFill>
                  <a:srgbClr val="4A4A4A"/>
                </a:solidFill>
                <a:latin typeface="Roboto Condensed"/>
              </a:rPr>
              <a:t>Jordan, T. (2014). Göteborgs universitet.</a:t>
            </a:r>
          </a:p>
        </p:txBody>
      </p:sp>
      <p:sp>
        <p:nvSpPr>
          <p:cNvPr id="21" name="Rectangle 20"/>
          <p:cNvSpPr/>
          <p:nvPr/>
        </p:nvSpPr>
        <p:spPr>
          <a:xfrm>
            <a:off x="548640" y="5080406"/>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5135270"/>
            <a:ext cx="5318607" cy="185927"/>
          </a:xfrm>
          <a:prstGeom prst="rect">
            <a:avLst/>
          </a:prstGeom>
          <a:noFill/>
        </p:spPr>
        <p:txBody>
          <a:bodyPr wrap="square" lIns="0" tIns="0" rIns="0" bIns="0" anchor="t">
            <a:spAutoFit/>
          </a:bodyPr>
          <a:lstStyle/>
          <a:p>
            <a:r>
              <a:rPr lang="sv-SE" sz="1200" b="1">
                <a:solidFill>
                  <a:srgbClr val="1A1A1A"/>
                </a:solidFill>
                <a:latin typeface="Roboto Condensed"/>
              </a:rPr>
              <a:t>Fördjupning på engelska</a:t>
            </a:r>
          </a:p>
        </p:txBody>
      </p:sp>
      <p:sp>
        <p:nvSpPr>
          <p:cNvPr id="23" name="TextBox 22"/>
          <p:cNvSpPr txBox="1"/>
          <p:nvPr/>
        </p:nvSpPr>
        <p:spPr>
          <a:xfrm>
            <a:off x="548640" y="5339486"/>
            <a:ext cx="5318607" cy="170434"/>
          </a:xfrm>
          <a:prstGeom prst="rect">
            <a:avLst/>
          </a:prstGeom>
          <a:noFill/>
        </p:spPr>
        <p:txBody>
          <a:bodyPr wrap="square" lIns="0" tIns="0" rIns="0" bIns="0" anchor="t">
            <a:spAutoFit/>
          </a:bodyPr>
          <a:lstStyle/>
          <a:p>
            <a:r>
              <a:rPr lang="sv-SE" sz="1100" b="0">
                <a:solidFill>
                  <a:srgbClr val="005A5F"/>
                </a:solidFill>
                <a:latin typeface="Roboto Condensed"/>
              </a:rPr>
              <a:t>Managing Conflict in Organizations (5:e uppl.)</a:t>
            </a:r>
          </a:p>
        </p:txBody>
      </p:sp>
      <p:sp>
        <p:nvSpPr>
          <p:cNvPr id="24" name="TextBox 23"/>
          <p:cNvSpPr txBox="1"/>
          <p:nvPr/>
        </p:nvSpPr>
        <p:spPr>
          <a:xfrm>
            <a:off x="548640" y="5546496"/>
            <a:ext cx="5318607" cy="162687"/>
          </a:xfrm>
          <a:prstGeom prst="rect">
            <a:avLst/>
          </a:prstGeom>
          <a:noFill/>
        </p:spPr>
        <p:txBody>
          <a:bodyPr wrap="square" lIns="0" tIns="0" rIns="0" bIns="0" anchor="t">
            <a:spAutoFit/>
          </a:bodyPr>
          <a:lstStyle/>
          <a:p>
            <a:r>
              <a:rPr lang="sv-SE" sz="1050" b="0">
                <a:solidFill>
                  <a:srgbClr val="4A4A4A"/>
                </a:solidFill>
                <a:latin typeface="Roboto Condensed"/>
              </a:rPr>
              <a:t>Rahim (2023). Routledge.</a:t>
            </a:r>
          </a:p>
        </p:txBody>
      </p:sp>
      <p:sp>
        <p:nvSpPr>
          <p:cNvPr id="25" name="TextBox 24"/>
          <p:cNvSpPr txBox="1"/>
          <p:nvPr/>
        </p:nvSpPr>
        <p:spPr>
          <a:xfrm>
            <a:off x="6324447" y="1417320"/>
            <a:ext cx="5318607" cy="320040"/>
          </a:xfrm>
          <a:prstGeom prst="rect">
            <a:avLst/>
          </a:prstGeom>
          <a:noFill/>
        </p:spPr>
        <p:txBody>
          <a:bodyPr wrap="square" lIns="0" tIns="0" rIns="0" bIns="0" anchor="t">
            <a:spAutoFit/>
          </a:bodyPr>
          <a:lstStyle/>
          <a:p>
            <a:r>
              <a:rPr lang="sv-SE" sz="1400" b="1" spc="200">
                <a:solidFill>
                  <a:srgbClr val="A50D1E"/>
                </a:solidFill>
                <a:latin typeface="Roboto Condensed"/>
              </a:rPr>
              <a:t>PODDAR</a:t>
            </a:r>
          </a:p>
        </p:txBody>
      </p:sp>
      <p:sp>
        <p:nvSpPr>
          <p:cNvPr id="26" name="Rectangle 25"/>
          <p:cNvSpPr/>
          <p:nvPr/>
        </p:nvSpPr>
        <p:spPr>
          <a:xfrm>
            <a:off x="6324447" y="181051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324447" y="186537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Konflikträdsla</a:t>
            </a:r>
          </a:p>
        </p:txBody>
      </p:sp>
      <p:sp>
        <p:nvSpPr>
          <p:cNvPr id="28" name="TextBox 27"/>
          <p:cNvSpPr txBox="1"/>
          <p:nvPr/>
        </p:nvSpPr>
        <p:spPr>
          <a:xfrm>
            <a:off x="6324447" y="206959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Fem sätt att bota din konflikträdsla (nr 306)</a:t>
            </a:r>
          </a:p>
        </p:txBody>
      </p:sp>
      <p:sp>
        <p:nvSpPr>
          <p:cNvPr id="29" name="TextBox 28"/>
          <p:cNvSpPr txBox="1"/>
          <p:nvPr/>
        </p:nvSpPr>
        <p:spPr>
          <a:xfrm>
            <a:off x="6324447" y="227660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Dumma människor (2026, 15 april). Acast.</a:t>
            </a:r>
          </a:p>
        </p:txBody>
      </p:sp>
      <p:sp>
        <p:nvSpPr>
          <p:cNvPr id="30" name="Rectangle 29"/>
          <p:cNvSpPr/>
          <p:nvPr/>
        </p:nvSpPr>
        <p:spPr>
          <a:xfrm>
            <a:off x="6324447" y="2795904"/>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24447" y="2850768"/>
            <a:ext cx="5318607" cy="185927"/>
          </a:xfrm>
          <a:prstGeom prst="rect">
            <a:avLst/>
          </a:prstGeom>
          <a:noFill/>
        </p:spPr>
        <p:txBody>
          <a:bodyPr wrap="square" lIns="0" tIns="0" rIns="0" bIns="0" anchor="t">
            <a:spAutoFit/>
          </a:bodyPr>
          <a:lstStyle/>
          <a:p>
            <a:r>
              <a:rPr lang="sv-SE" sz="1200" b="1">
                <a:solidFill>
                  <a:srgbClr val="1A1A1A"/>
                </a:solidFill>
                <a:latin typeface="Roboto Condensed"/>
              </a:rPr>
              <a:t>Desarmera ett bråk</a:t>
            </a:r>
          </a:p>
        </p:txBody>
      </p:sp>
      <p:sp>
        <p:nvSpPr>
          <p:cNvPr id="32" name="TextBox 31"/>
          <p:cNvSpPr txBox="1"/>
          <p:nvPr/>
        </p:nvSpPr>
        <p:spPr>
          <a:xfrm>
            <a:off x="6324447" y="3054984"/>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Tre trick som desarmerar relationsbråk (nr 287)</a:t>
            </a:r>
          </a:p>
        </p:txBody>
      </p:sp>
      <p:sp>
        <p:nvSpPr>
          <p:cNvPr id="33" name="TextBox 32"/>
          <p:cNvSpPr txBox="1"/>
          <p:nvPr/>
        </p:nvSpPr>
        <p:spPr>
          <a:xfrm>
            <a:off x="6324447" y="3261994"/>
            <a:ext cx="5318607" cy="162687"/>
          </a:xfrm>
          <a:prstGeom prst="rect">
            <a:avLst/>
          </a:prstGeom>
          <a:noFill/>
        </p:spPr>
        <p:txBody>
          <a:bodyPr wrap="square" lIns="0" tIns="0" rIns="0" bIns="0" anchor="t">
            <a:spAutoFit/>
          </a:bodyPr>
          <a:lstStyle/>
          <a:p>
            <a:r>
              <a:rPr lang="sv-SE" sz="1050" b="0">
                <a:solidFill>
                  <a:srgbClr val="4A4A4A"/>
                </a:solidFill>
                <a:latin typeface="Roboto Condensed"/>
              </a:rPr>
              <a:t>Dumma människor (2025, 3 december). Acast.</a:t>
            </a:r>
          </a:p>
        </p:txBody>
      </p:sp>
      <p:sp>
        <p:nvSpPr>
          <p:cNvPr id="34" name="Rectangle 33"/>
          <p:cNvSpPr/>
          <p:nvPr/>
        </p:nvSpPr>
        <p:spPr>
          <a:xfrm>
            <a:off x="6324447" y="3781297"/>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24447" y="3836161"/>
            <a:ext cx="5318607" cy="185927"/>
          </a:xfrm>
          <a:prstGeom prst="rect">
            <a:avLst/>
          </a:prstGeom>
          <a:noFill/>
        </p:spPr>
        <p:txBody>
          <a:bodyPr wrap="square" lIns="0" tIns="0" rIns="0" bIns="0" anchor="t">
            <a:spAutoFit/>
          </a:bodyPr>
          <a:lstStyle/>
          <a:p>
            <a:r>
              <a:rPr lang="sv-SE" sz="1200" b="1">
                <a:solidFill>
                  <a:srgbClr val="1A1A1A"/>
                </a:solidFill>
                <a:latin typeface="Roboto Condensed"/>
              </a:rPr>
              <a:t>Grälets psykologi</a:t>
            </a:r>
          </a:p>
        </p:txBody>
      </p:sp>
      <p:sp>
        <p:nvSpPr>
          <p:cNvPr id="36" name="TextBox 35"/>
          <p:cNvSpPr txBox="1"/>
          <p:nvPr/>
        </p:nvSpPr>
        <p:spPr>
          <a:xfrm>
            <a:off x="6324447" y="4040377"/>
            <a:ext cx="5318607" cy="170434"/>
          </a:xfrm>
          <a:prstGeom prst="rect">
            <a:avLst/>
          </a:prstGeom>
          <a:noFill/>
        </p:spPr>
        <p:txBody>
          <a:bodyPr wrap="square" lIns="0" tIns="0" rIns="0" bIns="0" anchor="t">
            <a:spAutoFit/>
          </a:bodyPr>
          <a:lstStyle/>
          <a:p>
            <a:r>
              <a:rPr lang="sv-SE" sz="1100" b="0">
                <a:solidFill>
                  <a:srgbClr val="005A5F"/>
                </a:solidFill>
                <a:latin typeface="Roboto Condensed"/>
              </a:rPr>
              <a:t>Bråka bra: grälets psykologi (nr 45)</a:t>
            </a:r>
          </a:p>
        </p:txBody>
      </p:sp>
      <p:sp>
        <p:nvSpPr>
          <p:cNvPr id="37" name="TextBox 36"/>
          <p:cNvSpPr txBox="1"/>
          <p:nvPr/>
        </p:nvSpPr>
        <p:spPr>
          <a:xfrm>
            <a:off x="6324447" y="4247387"/>
            <a:ext cx="5318607" cy="162687"/>
          </a:xfrm>
          <a:prstGeom prst="rect">
            <a:avLst/>
          </a:prstGeom>
          <a:noFill/>
        </p:spPr>
        <p:txBody>
          <a:bodyPr wrap="square" lIns="0" tIns="0" rIns="0" bIns="0" anchor="t">
            <a:spAutoFit/>
          </a:bodyPr>
          <a:lstStyle/>
          <a:p>
            <a:r>
              <a:rPr lang="sv-SE" sz="1050" b="0">
                <a:solidFill>
                  <a:srgbClr val="4A4A4A"/>
                </a:solidFill>
                <a:latin typeface="Roboto Condensed"/>
              </a:rPr>
              <a:t>Dumma människor (2020, 23 september). Acast.</a:t>
            </a:r>
          </a:p>
        </p:txBody>
      </p:sp>
      <p:sp>
        <p:nvSpPr>
          <p:cNvPr id="38" name="Rectangle 37"/>
          <p:cNvSpPr/>
          <p:nvPr/>
        </p:nvSpPr>
        <p:spPr>
          <a:xfrm>
            <a:off x="6324447" y="4766690"/>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324447" y="4821554"/>
            <a:ext cx="5318607" cy="185927"/>
          </a:xfrm>
          <a:prstGeom prst="rect">
            <a:avLst/>
          </a:prstGeom>
          <a:noFill/>
        </p:spPr>
        <p:txBody>
          <a:bodyPr wrap="square" lIns="0" tIns="0" rIns="0" bIns="0" anchor="t">
            <a:spAutoFit/>
          </a:bodyPr>
          <a:lstStyle/>
          <a:p>
            <a:r>
              <a:rPr lang="sv-SE" sz="1200" b="1">
                <a:solidFill>
                  <a:srgbClr val="1A1A1A"/>
                </a:solidFill>
                <a:latin typeface="Roboto Condensed"/>
              </a:rPr>
              <a:t>Facklig ingång</a:t>
            </a:r>
          </a:p>
        </p:txBody>
      </p:sp>
      <p:sp>
        <p:nvSpPr>
          <p:cNvPr id="40" name="TextBox 39"/>
          <p:cNvSpPr txBox="1"/>
          <p:nvPr/>
        </p:nvSpPr>
        <p:spPr>
          <a:xfrm>
            <a:off x="6324447" y="5025770"/>
            <a:ext cx="5318607" cy="170434"/>
          </a:xfrm>
          <a:prstGeom prst="rect">
            <a:avLst/>
          </a:prstGeom>
          <a:noFill/>
        </p:spPr>
        <p:txBody>
          <a:bodyPr wrap="square" lIns="0" tIns="0" rIns="0" bIns="0" anchor="t">
            <a:spAutoFit/>
          </a:bodyPr>
          <a:lstStyle/>
          <a:p>
            <a:r>
              <a:rPr lang="sv-SE" sz="1100" b="0">
                <a:solidFill>
                  <a:srgbClr val="005A5F"/>
                </a:solidFill>
                <a:latin typeface="Roboto Condensed"/>
              </a:rPr>
              <a:t>Konflikthantering</a:t>
            </a:r>
          </a:p>
        </p:txBody>
      </p:sp>
      <p:sp>
        <p:nvSpPr>
          <p:cNvPr id="41" name="TextBox 40"/>
          <p:cNvSpPr txBox="1"/>
          <p:nvPr/>
        </p:nvSpPr>
        <p:spPr>
          <a:xfrm>
            <a:off x="6324447" y="5232780"/>
            <a:ext cx="5318607" cy="162687"/>
          </a:xfrm>
          <a:prstGeom prst="rect">
            <a:avLst/>
          </a:prstGeom>
          <a:noFill/>
        </p:spPr>
        <p:txBody>
          <a:bodyPr wrap="square" lIns="0" tIns="0" rIns="0" bIns="0" anchor="t">
            <a:spAutoFit/>
          </a:bodyPr>
          <a:lstStyle/>
          <a:p>
            <a:r>
              <a:rPr lang="sv-SE" sz="1050" b="0">
                <a:solidFill>
                  <a:srgbClr val="4A4A4A"/>
                </a:solidFill>
                <a:latin typeface="Roboto Condensed"/>
              </a:rPr>
              <a:t>Tvärfackliga studier (2022, 28 februari). ABF och LO.</a:t>
            </a:r>
          </a:p>
        </p:txBody>
      </p:sp>
      <p:sp>
        <p:nvSpPr>
          <p:cNvPr id="42" name="TextBox 41"/>
          <p:cNvSpPr txBox="1"/>
          <p:nvPr/>
        </p:nvSpPr>
        <p:spPr>
          <a:xfrm>
            <a:off x="548640" y="6263640"/>
            <a:ext cx="11094415" cy="320040"/>
          </a:xfrm>
          <a:prstGeom prst="rect">
            <a:avLst/>
          </a:prstGeom>
          <a:noFill/>
        </p:spPr>
        <p:txBody>
          <a:bodyPr wrap="square" lIns="0" tIns="0" rIns="0" bIns="0" anchor="t">
            <a:spAutoFit/>
          </a:bodyPr>
          <a:lstStyle/>
          <a:p>
            <a:r>
              <a:rPr lang="sv-SE" sz="1400" b="0">
                <a:solidFill>
                  <a:srgbClr val="4A4A4A"/>
                </a:solidFill>
                <a:latin typeface="Roboto Condensed"/>
              </a:rPr>
              <a:t>Jordans texter finns på gu.se/socav/om-oss/samverkan/arbetsplatskonflikt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865815" y="320040"/>
            <a:ext cx="777240" cy="777240"/>
          </a:xfrm>
          <a:prstGeom prst="rect">
            <a:avLst/>
          </a:prstGeom>
        </p:spPr>
      </p:pic>
      <p:sp>
        <p:nvSpPr>
          <p:cNvPr id="3" name="TextBox 2"/>
          <p:cNvSpPr txBox="1"/>
          <p:nvPr/>
        </p:nvSpPr>
        <p:spPr>
          <a:xfrm rot="21480000">
            <a:off x="548640" y="457200"/>
            <a:ext cx="5480913" cy="713231"/>
          </a:xfrm>
          <a:prstGeom prst="rect">
            <a:avLst/>
          </a:prstGeom>
          <a:solidFill>
            <a:srgbClr val="D80811"/>
          </a:solidFill>
          <a:ln>
            <a:noFill/>
          </a:ln>
        </p:spPr>
        <p:txBody>
          <a:bodyPr wrap="square" lIns="0" tIns="0" rIns="0" bIns="0" anchor="ctr">
            <a:spAutoFit/>
          </a:bodyPr>
          <a:lstStyle/>
          <a:p>
            <a:pPr algn="ctr"/>
            <a:r>
              <a:rPr lang="sv-SE" sz="3000" b="1">
                <a:solidFill>
                  <a:srgbClr val="FFFFFF"/>
                </a:solidFill>
                <a:latin typeface="Roboto Condensed"/>
              </a:rPr>
              <a:t>Regler, hälsa och konflikttyper</a:t>
            </a:r>
          </a:p>
        </p:txBody>
      </p:sp>
      <p:sp>
        <p:nvSpPr>
          <p:cNvPr id="4" name="TextBox 3"/>
          <p:cNvSpPr txBox="1"/>
          <p:nvPr/>
        </p:nvSpPr>
        <p:spPr>
          <a:xfrm>
            <a:off x="548640" y="1417320"/>
            <a:ext cx="5318607" cy="320040"/>
          </a:xfrm>
          <a:prstGeom prst="rect">
            <a:avLst/>
          </a:prstGeom>
          <a:noFill/>
        </p:spPr>
        <p:txBody>
          <a:bodyPr wrap="square" lIns="0" tIns="0" rIns="0" bIns="0" anchor="t">
            <a:spAutoFit/>
          </a:bodyPr>
          <a:lstStyle/>
          <a:p>
            <a:r>
              <a:rPr lang="sv-SE" sz="1400" b="1" spc="200">
                <a:solidFill>
                  <a:srgbClr val="A50D1E"/>
                </a:solidFill>
                <a:latin typeface="Roboto Condensed"/>
              </a:rPr>
              <a:t>REGLER OCH HÄLSA</a:t>
            </a:r>
          </a:p>
        </p:txBody>
      </p:sp>
      <p:sp>
        <p:nvSpPr>
          <p:cNvPr id="5" name="Rectangle 4"/>
          <p:cNvSpPr/>
          <p:nvPr/>
        </p:nvSpPr>
        <p:spPr>
          <a:xfrm>
            <a:off x="548640" y="181051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6537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Föreskrifterna</a:t>
            </a:r>
          </a:p>
        </p:txBody>
      </p:sp>
      <p:sp>
        <p:nvSpPr>
          <p:cNvPr id="7" name="TextBox 6"/>
          <p:cNvSpPr txBox="1"/>
          <p:nvPr/>
        </p:nvSpPr>
        <p:spPr>
          <a:xfrm>
            <a:off x="548640" y="206959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Planering och organisering av arbetsmiljöarbete (AFS 2023:2)</a:t>
            </a:r>
          </a:p>
        </p:txBody>
      </p:sp>
      <p:sp>
        <p:nvSpPr>
          <p:cNvPr id="8" name="TextBox 7"/>
          <p:cNvSpPr txBox="1"/>
          <p:nvPr/>
        </p:nvSpPr>
        <p:spPr>
          <a:xfrm>
            <a:off x="548640" y="227660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Arbetsmiljöverket (2023). 2 kap. 10–11 §§. av.se</a:t>
            </a:r>
          </a:p>
        </p:txBody>
      </p:sp>
      <p:sp>
        <p:nvSpPr>
          <p:cNvPr id="9" name="Rectangle 8"/>
          <p:cNvSpPr/>
          <p:nvPr/>
        </p:nvSpPr>
        <p:spPr>
          <a:xfrm>
            <a:off x="548640" y="2627985"/>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2682849"/>
            <a:ext cx="5318607" cy="185927"/>
          </a:xfrm>
          <a:prstGeom prst="rect">
            <a:avLst/>
          </a:prstGeom>
          <a:noFill/>
        </p:spPr>
        <p:txBody>
          <a:bodyPr wrap="square" lIns="0" tIns="0" rIns="0" bIns="0" anchor="t">
            <a:spAutoFit/>
          </a:bodyPr>
          <a:lstStyle/>
          <a:p>
            <a:r>
              <a:rPr lang="sv-SE" sz="1200" b="1">
                <a:solidFill>
                  <a:srgbClr val="1A1A1A"/>
                </a:solidFill>
                <a:latin typeface="Roboto Condensed"/>
              </a:rPr>
              <a:t>Konflikt och depression</a:t>
            </a:r>
          </a:p>
        </p:txBody>
      </p:sp>
      <p:sp>
        <p:nvSpPr>
          <p:cNvPr id="11" name="TextBox 10"/>
          <p:cNvSpPr txBox="1"/>
          <p:nvPr/>
        </p:nvSpPr>
        <p:spPr>
          <a:xfrm>
            <a:off x="548640" y="2887065"/>
            <a:ext cx="5318607" cy="170434"/>
          </a:xfrm>
          <a:prstGeom prst="rect">
            <a:avLst/>
          </a:prstGeom>
          <a:noFill/>
        </p:spPr>
        <p:txBody>
          <a:bodyPr wrap="square" lIns="0" tIns="0" rIns="0" bIns="0" anchor="t">
            <a:spAutoFit/>
          </a:bodyPr>
          <a:lstStyle/>
          <a:p>
            <a:r>
              <a:rPr lang="sv-SE" sz="1100" b="0">
                <a:solidFill>
                  <a:srgbClr val="005A5F"/>
                </a:solidFill>
                <a:latin typeface="Roboto Condensed"/>
              </a:rPr>
              <a:t>Problematic interpersonal relationships at work and depression</a:t>
            </a:r>
          </a:p>
        </p:txBody>
      </p:sp>
      <p:sp>
        <p:nvSpPr>
          <p:cNvPr id="12" name="TextBox 11"/>
          <p:cNvSpPr txBox="1"/>
          <p:nvPr/>
        </p:nvSpPr>
        <p:spPr>
          <a:xfrm>
            <a:off x="548640" y="3094075"/>
            <a:ext cx="5318607" cy="162687"/>
          </a:xfrm>
          <a:prstGeom prst="rect">
            <a:avLst/>
          </a:prstGeom>
          <a:noFill/>
        </p:spPr>
        <p:txBody>
          <a:bodyPr wrap="square" lIns="0" tIns="0" rIns="0" bIns="0" anchor="t">
            <a:spAutoFit/>
          </a:bodyPr>
          <a:lstStyle/>
          <a:p>
            <a:r>
              <a:rPr lang="sv-SE" sz="1050" b="0">
                <a:solidFill>
                  <a:srgbClr val="4A4A4A"/>
                </a:solidFill>
                <a:latin typeface="Roboto Condensed"/>
              </a:rPr>
              <a:t>Stoetzer m.fl. (2009). Journal of Occupational Health, 51(2).</a:t>
            </a:r>
          </a:p>
        </p:txBody>
      </p:sp>
      <p:sp>
        <p:nvSpPr>
          <p:cNvPr id="13" name="Rectangle 12"/>
          <p:cNvSpPr/>
          <p:nvPr/>
        </p:nvSpPr>
        <p:spPr>
          <a:xfrm>
            <a:off x="548640" y="3445459"/>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3500323"/>
            <a:ext cx="5318607" cy="185927"/>
          </a:xfrm>
          <a:prstGeom prst="rect">
            <a:avLst/>
          </a:prstGeom>
          <a:noFill/>
        </p:spPr>
        <p:txBody>
          <a:bodyPr wrap="square" lIns="0" tIns="0" rIns="0" bIns="0" anchor="t">
            <a:spAutoFit/>
          </a:bodyPr>
          <a:lstStyle/>
          <a:p>
            <a:r>
              <a:rPr lang="sv-SE" sz="1200" b="1">
                <a:solidFill>
                  <a:srgbClr val="1A1A1A"/>
                </a:solidFill>
                <a:latin typeface="Roboto Condensed"/>
              </a:rPr>
              <a:t>Sociala stressorer och hälsa</a:t>
            </a:r>
          </a:p>
        </p:txBody>
      </p:sp>
      <p:sp>
        <p:nvSpPr>
          <p:cNvPr id="15" name="TextBox 14"/>
          <p:cNvSpPr txBox="1"/>
          <p:nvPr/>
        </p:nvSpPr>
        <p:spPr>
          <a:xfrm>
            <a:off x="548640" y="3704539"/>
            <a:ext cx="5318607" cy="170434"/>
          </a:xfrm>
          <a:prstGeom prst="rect">
            <a:avLst/>
          </a:prstGeom>
          <a:noFill/>
        </p:spPr>
        <p:txBody>
          <a:bodyPr wrap="square" lIns="0" tIns="0" rIns="0" bIns="0" anchor="t">
            <a:spAutoFit/>
          </a:bodyPr>
          <a:lstStyle/>
          <a:p>
            <a:r>
              <a:rPr lang="sv-SE" sz="1100" b="0">
                <a:solidFill>
                  <a:srgbClr val="005A5F"/>
                </a:solidFill>
                <a:latin typeface="Roboto Condensed"/>
              </a:rPr>
              <a:t>How are social stressors at work related to well-being and health?</a:t>
            </a:r>
          </a:p>
        </p:txBody>
      </p:sp>
      <p:sp>
        <p:nvSpPr>
          <p:cNvPr id="16" name="TextBox 15"/>
          <p:cNvSpPr txBox="1"/>
          <p:nvPr/>
        </p:nvSpPr>
        <p:spPr>
          <a:xfrm>
            <a:off x="548640" y="3911549"/>
            <a:ext cx="5318607" cy="162687"/>
          </a:xfrm>
          <a:prstGeom prst="rect">
            <a:avLst/>
          </a:prstGeom>
          <a:noFill/>
        </p:spPr>
        <p:txBody>
          <a:bodyPr wrap="square" lIns="0" tIns="0" rIns="0" bIns="0" anchor="t">
            <a:spAutoFit/>
          </a:bodyPr>
          <a:lstStyle/>
          <a:p>
            <a:r>
              <a:rPr lang="sv-SE" sz="1050" b="0">
                <a:solidFill>
                  <a:srgbClr val="4A4A4A"/>
                </a:solidFill>
                <a:latin typeface="Roboto Condensed"/>
              </a:rPr>
              <a:t>Gerhardt m.fl. (2021). BMC Public Health, 21.</a:t>
            </a:r>
          </a:p>
        </p:txBody>
      </p:sp>
      <p:sp>
        <p:nvSpPr>
          <p:cNvPr id="17" name="Rectangle 16"/>
          <p:cNvSpPr/>
          <p:nvPr/>
        </p:nvSpPr>
        <p:spPr>
          <a:xfrm>
            <a:off x="548640" y="426293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8640" y="431779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Samtal eller chefsbeslut</a:t>
            </a:r>
          </a:p>
        </p:txBody>
      </p:sp>
      <p:sp>
        <p:nvSpPr>
          <p:cNvPr id="19" name="TextBox 18"/>
          <p:cNvSpPr txBox="1"/>
          <p:nvPr/>
        </p:nvSpPr>
        <p:spPr>
          <a:xfrm>
            <a:off x="548640" y="4522012"/>
            <a:ext cx="5318607" cy="170434"/>
          </a:xfrm>
          <a:prstGeom prst="rect">
            <a:avLst/>
          </a:prstGeom>
          <a:noFill/>
        </p:spPr>
        <p:txBody>
          <a:bodyPr wrap="square" lIns="0" tIns="0" rIns="0" bIns="0" anchor="t">
            <a:spAutoFit/>
          </a:bodyPr>
          <a:lstStyle/>
          <a:p>
            <a:r>
              <a:rPr lang="sv-SE" sz="1100" b="0">
                <a:solidFill>
                  <a:srgbClr val="005A5F"/>
                </a:solidFill>
                <a:latin typeface="Roboto Condensed"/>
              </a:rPr>
              <a:t>Workplace conflict resolution and the health of employees</a:t>
            </a:r>
          </a:p>
        </p:txBody>
      </p:sp>
      <p:sp>
        <p:nvSpPr>
          <p:cNvPr id="20" name="TextBox 19"/>
          <p:cNvSpPr txBox="1"/>
          <p:nvPr/>
        </p:nvSpPr>
        <p:spPr>
          <a:xfrm>
            <a:off x="548640" y="4729022"/>
            <a:ext cx="5318607" cy="162687"/>
          </a:xfrm>
          <a:prstGeom prst="rect">
            <a:avLst/>
          </a:prstGeom>
          <a:noFill/>
        </p:spPr>
        <p:txBody>
          <a:bodyPr wrap="square" lIns="0" tIns="0" rIns="0" bIns="0" anchor="t">
            <a:spAutoFit/>
          </a:bodyPr>
          <a:lstStyle/>
          <a:p>
            <a:r>
              <a:rPr lang="sv-SE" sz="1050" b="0">
                <a:solidFill>
                  <a:srgbClr val="4A4A4A"/>
                </a:solidFill>
                <a:latin typeface="Roboto Condensed"/>
              </a:rPr>
              <a:t>Hyde m.fl. (2006). Social Science &amp; Medicine, 63(8).</a:t>
            </a:r>
          </a:p>
        </p:txBody>
      </p:sp>
      <p:sp>
        <p:nvSpPr>
          <p:cNvPr id="21" name="Rectangle 20"/>
          <p:cNvSpPr/>
          <p:nvPr/>
        </p:nvSpPr>
        <p:spPr>
          <a:xfrm>
            <a:off x="548640" y="5080406"/>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5135270"/>
            <a:ext cx="5318607" cy="185927"/>
          </a:xfrm>
          <a:prstGeom prst="rect">
            <a:avLst/>
          </a:prstGeom>
          <a:noFill/>
        </p:spPr>
        <p:txBody>
          <a:bodyPr wrap="square" lIns="0" tIns="0" rIns="0" bIns="0" anchor="t">
            <a:spAutoFit/>
          </a:bodyPr>
          <a:lstStyle/>
          <a:p>
            <a:r>
              <a:rPr lang="sv-SE" sz="1200" b="1">
                <a:solidFill>
                  <a:srgbClr val="1A1A1A"/>
                </a:solidFill>
                <a:latin typeface="Roboto Condensed"/>
              </a:rPr>
              <a:t>Passiv hantering och utmattning</a:t>
            </a:r>
          </a:p>
        </p:txBody>
      </p:sp>
      <p:sp>
        <p:nvSpPr>
          <p:cNvPr id="23" name="TextBox 22"/>
          <p:cNvSpPr txBox="1"/>
          <p:nvPr/>
        </p:nvSpPr>
        <p:spPr>
          <a:xfrm>
            <a:off x="548640" y="5339486"/>
            <a:ext cx="5318607" cy="170434"/>
          </a:xfrm>
          <a:prstGeom prst="rect">
            <a:avLst/>
          </a:prstGeom>
          <a:noFill/>
        </p:spPr>
        <p:txBody>
          <a:bodyPr wrap="square" lIns="0" tIns="0" rIns="0" bIns="0" anchor="t">
            <a:spAutoFit/>
          </a:bodyPr>
          <a:lstStyle/>
          <a:p>
            <a:r>
              <a:rPr lang="sv-SE" sz="1100" b="0">
                <a:solidFill>
                  <a:srgbClr val="005A5F"/>
                </a:solidFill>
                <a:latin typeface="Roboto Condensed"/>
              </a:rPr>
              <a:t>Passive responses to interpersonal conflict at work amplify employee strain</a:t>
            </a:r>
          </a:p>
        </p:txBody>
      </p:sp>
      <p:sp>
        <p:nvSpPr>
          <p:cNvPr id="24" name="TextBox 23"/>
          <p:cNvSpPr txBox="1"/>
          <p:nvPr/>
        </p:nvSpPr>
        <p:spPr>
          <a:xfrm>
            <a:off x="548640" y="5546496"/>
            <a:ext cx="5318607" cy="162687"/>
          </a:xfrm>
          <a:prstGeom prst="rect">
            <a:avLst/>
          </a:prstGeom>
          <a:noFill/>
        </p:spPr>
        <p:txBody>
          <a:bodyPr wrap="square" lIns="0" tIns="0" rIns="0" bIns="0" anchor="t">
            <a:spAutoFit/>
          </a:bodyPr>
          <a:lstStyle/>
          <a:p>
            <a:r>
              <a:rPr lang="sv-SE" sz="1050" b="0">
                <a:solidFill>
                  <a:srgbClr val="4A4A4A"/>
                </a:solidFill>
                <a:latin typeface="Roboto Condensed"/>
              </a:rPr>
              <a:t>Dijkstra m.fl. (2009). Eur. J. of Work and Org. Psychology, 18(4).</a:t>
            </a:r>
          </a:p>
        </p:txBody>
      </p:sp>
      <p:sp>
        <p:nvSpPr>
          <p:cNvPr id="25" name="TextBox 24"/>
          <p:cNvSpPr txBox="1"/>
          <p:nvPr/>
        </p:nvSpPr>
        <p:spPr>
          <a:xfrm>
            <a:off x="6324447" y="1417320"/>
            <a:ext cx="5318607" cy="320040"/>
          </a:xfrm>
          <a:prstGeom prst="rect">
            <a:avLst/>
          </a:prstGeom>
          <a:noFill/>
        </p:spPr>
        <p:txBody>
          <a:bodyPr wrap="square" lIns="0" tIns="0" rIns="0" bIns="0" anchor="t">
            <a:spAutoFit/>
          </a:bodyPr>
          <a:lstStyle/>
          <a:p>
            <a:r>
              <a:rPr lang="sv-SE" sz="1400" b="1" spc="200">
                <a:solidFill>
                  <a:srgbClr val="A50D1E"/>
                </a:solidFill>
                <a:latin typeface="Roboto Condensed"/>
              </a:rPr>
              <a:t>KONFLIKTTYPER I TEAM</a:t>
            </a:r>
          </a:p>
        </p:txBody>
      </p:sp>
      <p:sp>
        <p:nvSpPr>
          <p:cNvPr id="26" name="Rectangle 25"/>
          <p:cNvSpPr/>
          <p:nvPr/>
        </p:nvSpPr>
        <p:spPr>
          <a:xfrm>
            <a:off x="6324447" y="181051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324447" y="186537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Konflikttyper och prestation</a:t>
            </a:r>
          </a:p>
        </p:txBody>
      </p:sp>
      <p:sp>
        <p:nvSpPr>
          <p:cNvPr id="28" name="TextBox 27"/>
          <p:cNvSpPr txBox="1"/>
          <p:nvPr/>
        </p:nvSpPr>
        <p:spPr>
          <a:xfrm>
            <a:off x="6324447" y="206959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The paradox of team conflict revisited</a:t>
            </a:r>
          </a:p>
        </p:txBody>
      </p:sp>
      <p:sp>
        <p:nvSpPr>
          <p:cNvPr id="29" name="TextBox 28"/>
          <p:cNvSpPr txBox="1"/>
          <p:nvPr/>
        </p:nvSpPr>
        <p:spPr>
          <a:xfrm>
            <a:off x="6324447" y="227660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Yuan, Yin &amp; Sun (2026). Journal of Applied Psychology, 111(2).</a:t>
            </a:r>
          </a:p>
        </p:txBody>
      </p:sp>
      <p:sp>
        <p:nvSpPr>
          <p:cNvPr id="30" name="Rectangle 29"/>
          <p:cNvSpPr/>
          <p:nvPr/>
        </p:nvSpPr>
        <p:spPr>
          <a:xfrm>
            <a:off x="6324447" y="2627985"/>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24447" y="2682849"/>
            <a:ext cx="5318607" cy="185927"/>
          </a:xfrm>
          <a:prstGeom prst="rect">
            <a:avLst/>
          </a:prstGeom>
          <a:noFill/>
        </p:spPr>
        <p:txBody>
          <a:bodyPr wrap="square" lIns="0" tIns="0" rIns="0" bIns="0" anchor="t">
            <a:spAutoFit/>
          </a:bodyPr>
          <a:lstStyle/>
          <a:p>
            <a:r>
              <a:rPr lang="sv-SE" sz="1200" b="1">
                <a:solidFill>
                  <a:srgbClr val="1A1A1A"/>
                </a:solidFill>
                <a:latin typeface="Roboto Condensed"/>
              </a:rPr>
              <a:t>Föregångaren</a:t>
            </a:r>
          </a:p>
        </p:txBody>
      </p:sp>
      <p:sp>
        <p:nvSpPr>
          <p:cNvPr id="32" name="TextBox 31"/>
          <p:cNvSpPr txBox="1"/>
          <p:nvPr/>
        </p:nvSpPr>
        <p:spPr>
          <a:xfrm>
            <a:off x="6324447" y="2887065"/>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The paradox of intragroup conflict: A meta-analysis</a:t>
            </a:r>
          </a:p>
        </p:txBody>
      </p:sp>
      <p:sp>
        <p:nvSpPr>
          <p:cNvPr id="33" name="TextBox 32"/>
          <p:cNvSpPr txBox="1"/>
          <p:nvPr/>
        </p:nvSpPr>
        <p:spPr>
          <a:xfrm>
            <a:off x="6324447" y="3094075"/>
            <a:ext cx="5318607" cy="162687"/>
          </a:xfrm>
          <a:prstGeom prst="rect">
            <a:avLst/>
          </a:prstGeom>
          <a:noFill/>
        </p:spPr>
        <p:txBody>
          <a:bodyPr wrap="square" lIns="0" tIns="0" rIns="0" bIns="0" anchor="t">
            <a:spAutoFit/>
          </a:bodyPr>
          <a:lstStyle/>
          <a:p>
            <a:r>
              <a:rPr lang="sv-SE" sz="1050" b="0">
                <a:solidFill>
                  <a:srgbClr val="4A4A4A"/>
                </a:solidFill>
                <a:latin typeface="Roboto Condensed"/>
              </a:rPr>
              <a:t>de Wit, Greer &amp; Jehn (2012). Journal of Applied Psychology, 97(2).</a:t>
            </a:r>
          </a:p>
        </p:txBody>
      </p:sp>
      <p:sp>
        <p:nvSpPr>
          <p:cNvPr id="34" name="Rectangle 33"/>
          <p:cNvSpPr/>
          <p:nvPr/>
        </p:nvSpPr>
        <p:spPr>
          <a:xfrm>
            <a:off x="6324447" y="3445459"/>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24447" y="3500323"/>
            <a:ext cx="5318607" cy="185927"/>
          </a:xfrm>
          <a:prstGeom prst="rect">
            <a:avLst/>
          </a:prstGeom>
          <a:noFill/>
        </p:spPr>
        <p:txBody>
          <a:bodyPr wrap="square" lIns="0" tIns="0" rIns="0" bIns="0" anchor="t">
            <a:spAutoFit/>
          </a:bodyPr>
          <a:lstStyle/>
          <a:p>
            <a:r>
              <a:rPr lang="sv-SE" sz="1200" b="1">
                <a:solidFill>
                  <a:srgbClr val="1A1A1A"/>
                </a:solidFill>
                <a:latin typeface="Roboto Condensed"/>
              </a:rPr>
              <a:t>Psykologisk trygghet</a:t>
            </a:r>
          </a:p>
        </p:txBody>
      </p:sp>
      <p:sp>
        <p:nvSpPr>
          <p:cNvPr id="36" name="TextBox 35"/>
          <p:cNvSpPr txBox="1"/>
          <p:nvPr/>
        </p:nvSpPr>
        <p:spPr>
          <a:xfrm>
            <a:off x="6324447" y="3704539"/>
            <a:ext cx="5318607" cy="170434"/>
          </a:xfrm>
          <a:prstGeom prst="rect">
            <a:avLst/>
          </a:prstGeom>
          <a:noFill/>
        </p:spPr>
        <p:txBody>
          <a:bodyPr wrap="square" lIns="0" tIns="0" rIns="0" bIns="0" anchor="t">
            <a:spAutoFit/>
          </a:bodyPr>
          <a:lstStyle/>
          <a:p>
            <a:r>
              <a:rPr lang="sv-SE" sz="1100" b="0">
                <a:solidFill>
                  <a:srgbClr val="005A5F"/>
                </a:solidFill>
                <a:latin typeface="Roboto Condensed"/>
              </a:rPr>
              <a:t>Reaping the benefits of task conflict in teams</a:t>
            </a:r>
          </a:p>
        </p:txBody>
      </p:sp>
      <p:sp>
        <p:nvSpPr>
          <p:cNvPr id="37" name="TextBox 36"/>
          <p:cNvSpPr txBox="1"/>
          <p:nvPr/>
        </p:nvSpPr>
        <p:spPr>
          <a:xfrm>
            <a:off x="6324447" y="3911549"/>
            <a:ext cx="5318607" cy="162687"/>
          </a:xfrm>
          <a:prstGeom prst="rect">
            <a:avLst/>
          </a:prstGeom>
          <a:noFill/>
        </p:spPr>
        <p:txBody>
          <a:bodyPr wrap="square" lIns="0" tIns="0" rIns="0" bIns="0" anchor="t">
            <a:spAutoFit/>
          </a:bodyPr>
          <a:lstStyle/>
          <a:p>
            <a:r>
              <a:rPr lang="sv-SE" sz="1050" b="0">
                <a:solidFill>
                  <a:srgbClr val="4A4A4A"/>
                </a:solidFill>
                <a:latin typeface="Roboto Condensed"/>
              </a:rPr>
              <a:t>Bradley m.fl. (2012). Journal of Applied Psychology, 97(1).</a:t>
            </a:r>
          </a:p>
        </p:txBody>
      </p:sp>
      <p:sp>
        <p:nvSpPr>
          <p:cNvPr id="38" name="Rectangle 37"/>
          <p:cNvSpPr/>
          <p:nvPr/>
        </p:nvSpPr>
        <p:spPr>
          <a:xfrm>
            <a:off x="6324447" y="426293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324447" y="431779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Hur konflikt uttrycks</a:t>
            </a:r>
          </a:p>
        </p:txBody>
      </p:sp>
      <p:sp>
        <p:nvSpPr>
          <p:cNvPr id="40" name="TextBox 39"/>
          <p:cNvSpPr txBox="1"/>
          <p:nvPr/>
        </p:nvSpPr>
        <p:spPr>
          <a:xfrm>
            <a:off x="6324447" y="4522012"/>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The directness and oppositional intensity of conflict expression</a:t>
            </a:r>
          </a:p>
        </p:txBody>
      </p:sp>
      <p:sp>
        <p:nvSpPr>
          <p:cNvPr id="41" name="TextBox 40"/>
          <p:cNvSpPr txBox="1"/>
          <p:nvPr/>
        </p:nvSpPr>
        <p:spPr>
          <a:xfrm>
            <a:off x="6324447" y="4729022"/>
            <a:ext cx="5318607" cy="162687"/>
          </a:xfrm>
          <a:prstGeom prst="rect">
            <a:avLst/>
          </a:prstGeom>
          <a:noFill/>
        </p:spPr>
        <p:txBody>
          <a:bodyPr wrap="square" lIns="0" tIns="0" rIns="0" bIns="0" anchor="t">
            <a:spAutoFit/>
          </a:bodyPr>
          <a:lstStyle/>
          <a:p>
            <a:r>
              <a:rPr lang="sv-SE" sz="1050" b="0">
                <a:solidFill>
                  <a:srgbClr val="4A4A4A"/>
                </a:solidFill>
                <a:latin typeface="Roboto Condensed"/>
              </a:rPr>
              <a:t>Weingart m.fl. (2015). Academy of Management Review, 40(2).</a:t>
            </a:r>
          </a:p>
        </p:txBody>
      </p:sp>
      <p:sp>
        <p:nvSpPr>
          <p:cNvPr id="42" name="Rectangle 41"/>
          <p:cNvSpPr/>
          <p:nvPr/>
        </p:nvSpPr>
        <p:spPr>
          <a:xfrm>
            <a:off x="6324447" y="5080406"/>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24447" y="5135270"/>
            <a:ext cx="5318607" cy="185927"/>
          </a:xfrm>
          <a:prstGeom prst="rect">
            <a:avLst/>
          </a:prstGeom>
          <a:noFill/>
        </p:spPr>
        <p:txBody>
          <a:bodyPr wrap="square" lIns="0" tIns="0" rIns="0" bIns="0" anchor="t">
            <a:spAutoFit/>
          </a:bodyPr>
          <a:lstStyle/>
          <a:p>
            <a:r>
              <a:rPr lang="sv-SE" sz="1200" b="1">
                <a:solidFill>
                  <a:srgbClr val="1A1A1A"/>
                </a:solidFill>
                <a:latin typeface="Roboto Condensed"/>
              </a:rPr>
              <a:t>Öppenhet och relationskonflikt</a:t>
            </a:r>
          </a:p>
        </p:txBody>
      </p:sp>
      <p:sp>
        <p:nvSpPr>
          <p:cNvPr id="44" name="TextBox 43"/>
          <p:cNvSpPr txBox="1"/>
          <p:nvPr/>
        </p:nvSpPr>
        <p:spPr>
          <a:xfrm>
            <a:off x="6324447" y="5339486"/>
            <a:ext cx="5318607" cy="170434"/>
          </a:xfrm>
          <a:prstGeom prst="rect">
            <a:avLst/>
          </a:prstGeom>
          <a:noFill/>
        </p:spPr>
        <p:txBody>
          <a:bodyPr wrap="square" lIns="0" tIns="0" rIns="0" bIns="0" anchor="t">
            <a:spAutoFit/>
          </a:bodyPr>
          <a:lstStyle/>
          <a:p>
            <a:r>
              <a:rPr lang="sv-SE" sz="1100" b="0">
                <a:solidFill>
                  <a:srgbClr val="005A5F"/>
                </a:solidFill>
                <a:latin typeface="Roboto Condensed"/>
              </a:rPr>
              <a:t>Intragroup conflict in organizations</a:t>
            </a:r>
          </a:p>
        </p:txBody>
      </p:sp>
      <p:sp>
        <p:nvSpPr>
          <p:cNvPr id="45" name="TextBox 44"/>
          <p:cNvSpPr txBox="1"/>
          <p:nvPr/>
        </p:nvSpPr>
        <p:spPr>
          <a:xfrm>
            <a:off x="6324447" y="5546496"/>
            <a:ext cx="5318607" cy="162687"/>
          </a:xfrm>
          <a:prstGeom prst="rect">
            <a:avLst/>
          </a:prstGeom>
          <a:noFill/>
        </p:spPr>
        <p:txBody>
          <a:bodyPr wrap="square" lIns="0" tIns="0" rIns="0" bIns="0" anchor="t">
            <a:spAutoFit/>
          </a:bodyPr>
          <a:lstStyle/>
          <a:p>
            <a:r>
              <a:rPr lang="sv-SE" sz="1050" b="0">
                <a:solidFill>
                  <a:srgbClr val="4A4A4A"/>
                </a:solidFill>
                <a:latin typeface="Roboto Condensed"/>
              </a:rPr>
              <a:t>Jehn &amp; Bendersky (2003). Research in Organizational Behavior, 25.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865815" y="320040"/>
            <a:ext cx="777240" cy="777240"/>
          </a:xfrm>
          <a:prstGeom prst="rect">
            <a:avLst/>
          </a:prstGeom>
        </p:spPr>
      </p:pic>
      <p:sp>
        <p:nvSpPr>
          <p:cNvPr id="3" name="TextBox 2"/>
          <p:cNvSpPr txBox="1"/>
          <p:nvPr/>
        </p:nvSpPr>
        <p:spPr>
          <a:xfrm rot="21480000">
            <a:off x="548640" y="457200"/>
            <a:ext cx="5640019" cy="713231"/>
          </a:xfrm>
          <a:prstGeom prst="rect">
            <a:avLst/>
          </a:prstGeom>
          <a:solidFill>
            <a:srgbClr val="D80811"/>
          </a:solidFill>
          <a:ln>
            <a:noFill/>
          </a:ln>
        </p:spPr>
        <p:txBody>
          <a:bodyPr wrap="square" lIns="0" tIns="0" rIns="0" bIns="0" anchor="ctr">
            <a:spAutoFit/>
          </a:bodyPr>
          <a:lstStyle/>
          <a:p>
            <a:pPr algn="ctr"/>
            <a:r>
              <a:rPr lang="sv-SE" sz="3000" b="1">
                <a:solidFill>
                  <a:srgbClr val="FFFFFF"/>
                </a:solidFill>
                <a:latin typeface="Roboto Condensed"/>
              </a:rPr>
              <a:t>Hantering, tankegrepp och samtal</a:t>
            </a:r>
          </a:p>
        </p:txBody>
      </p:sp>
      <p:sp>
        <p:nvSpPr>
          <p:cNvPr id="4" name="TextBox 3"/>
          <p:cNvSpPr txBox="1"/>
          <p:nvPr/>
        </p:nvSpPr>
        <p:spPr>
          <a:xfrm>
            <a:off x="548640" y="1417320"/>
            <a:ext cx="5318607" cy="320040"/>
          </a:xfrm>
          <a:prstGeom prst="rect">
            <a:avLst/>
          </a:prstGeom>
          <a:noFill/>
        </p:spPr>
        <p:txBody>
          <a:bodyPr wrap="square" lIns="0" tIns="0" rIns="0" bIns="0" anchor="t">
            <a:spAutoFit/>
          </a:bodyPr>
          <a:lstStyle/>
          <a:p>
            <a:r>
              <a:rPr lang="sv-SE" sz="1400" b="1" spc="200">
                <a:solidFill>
                  <a:srgbClr val="A50D1E"/>
                </a:solidFill>
                <a:latin typeface="Roboto Condensed"/>
              </a:rPr>
              <a:t>HANTERING OCH GROGRUND</a:t>
            </a:r>
          </a:p>
        </p:txBody>
      </p:sp>
      <p:sp>
        <p:nvSpPr>
          <p:cNvPr id="5" name="Rectangle 4"/>
          <p:cNvSpPr/>
          <p:nvPr/>
        </p:nvSpPr>
        <p:spPr>
          <a:xfrm>
            <a:off x="548640" y="181051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6537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Hantering och teamprofiler</a:t>
            </a:r>
          </a:p>
        </p:txBody>
      </p:sp>
      <p:sp>
        <p:nvSpPr>
          <p:cNvPr id="7" name="TextBox 6"/>
          <p:cNvSpPr txBox="1"/>
          <p:nvPr/>
        </p:nvSpPr>
        <p:spPr>
          <a:xfrm>
            <a:off x="548640" y="206959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Optimizing team conflict dynamics for high performance teamwork</a:t>
            </a:r>
          </a:p>
        </p:txBody>
      </p:sp>
      <p:sp>
        <p:nvSpPr>
          <p:cNvPr id="8" name="TextBox 7"/>
          <p:cNvSpPr txBox="1"/>
          <p:nvPr/>
        </p:nvSpPr>
        <p:spPr>
          <a:xfrm>
            <a:off x="548640" y="227660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O'Neill &amp; McLarnon (2018). Human Resource Management Review, 28(4).</a:t>
            </a:r>
          </a:p>
        </p:txBody>
      </p:sp>
      <p:sp>
        <p:nvSpPr>
          <p:cNvPr id="9" name="Rectangle 8"/>
          <p:cNvSpPr/>
          <p:nvPr/>
        </p:nvSpPr>
        <p:spPr>
          <a:xfrm>
            <a:off x="548640" y="2627985"/>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2682849"/>
            <a:ext cx="5318607" cy="185927"/>
          </a:xfrm>
          <a:prstGeom prst="rect">
            <a:avLst/>
          </a:prstGeom>
          <a:noFill/>
        </p:spPr>
        <p:txBody>
          <a:bodyPr wrap="square" lIns="0" tIns="0" rIns="0" bIns="0" anchor="t">
            <a:spAutoFit/>
          </a:bodyPr>
          <a:lstStyle/>
          <a:p>
            <a:r>
              <a:rPr lang="sv-SE" sz="1200" b="1">
                <a:solidFill>
                  <a:srgbClr val="1A1A1A"/>
                </a:solidFill>
                <a:latin typeface="Roboto Condensed"/>
              </a:rPr>
              <a:t>Hur team löser konflikter</a:t>
            </a:r>
          </a:p>
        </p:txBody>
      </p:sp>
      <p:sp>
        <p:nvSpPr>
          <p:cNvPr id="11" name="TextBox 10"/>
          <p:cNvSpPr txBox="1"/>
          <p:nvPr/>
        </p:nvSpPr>
        <p:spPr>
          <a:xfrm>
            <a:off x="548640" y="2887065"/>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The critical role of conflict resolution in teams</a:t>
            </a:r>
          </a:p>
        </p:txBody>
      </p:sp>
      <p:sp>
        <p:nvSpPr>
          <p:cNvPr id="12" name="TextBox 11"/>
          <p:cNvSpPr txBox="1"/>
          <p:nvPr/>
        </p:nvSpPr>
        <p:spPr>
          <a:xfrm>
            <a:off x="548640" y="3094075"/>
            <a:ext cx="5318607" cy="162687"/>
          </a:xfrm>
          <a:prstGeom prst="rect">
            <a:avLst/>
          </a:prstGeom>
          <a:noFill/>
        </p:spPr>
        <p:txBody>
          <a:bodyPr wrap="square" lIns="0" tIns="0" rIns="0" bIns="0" anchor="t">
            <a:spAutoFit/>
          </a:bodyPr>
          <a:lstStyle/>
          <a:p>
            <a:r>
              <a:rPr lang="sv-SE" sz="1050" b="0">
                <a:solidFill>
                  <a:srgbClr val="4A4A4A"/>
                </a:solidFill>
                <a:latin typeface="Roboto Condensed"/>
              </a:rPr>
              <a:t>Behfar m.fl. (2008). Journal of Applied Psychology, 93(1).</a:t>
            </a:r>
          </a:p>
        </p:txBody>
      </p:sp>
      <p:sp>
        <p:nvSpPr>
          <p:cNvPr id="13" name="Rectangle 12"/>
          <p:cNvSpPr/>
          <p:nvPr/>
        </p:nvSpPr>
        <p:spPr>
          <a:xfrm>
            <a:off x="548640" y="3445459"/>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3500323"/>
            <a:ext cx="5318607" cy="185927"/>
          </a:xfrm>
          <a:prstGeom prst="rect">
            <a:avLst/>
          </a:prstGeom>
          <a:noFill/>
        </p:spPr>
        <p:txBody>
          <a:bodyPr wrap="square" lIns="0" tIns="0" rIns="0" bIns="0" anchor="t">
            <a:spAutoFit/>
          </a:bodyPr>
          <a:lstStyle/>
          <a:p>
            <a:r>
              <a:rPr lang="sv-SE" sz="1200" b="1">
                <a:solidFill>
                  <a:srgbClr val="1A1A1A"/>
                </a:solidFill>
                <a:latin typeface="Roboto Condensed"/>
              </a:rPr>
              <a:t>Konfliktens grogrund</a:t>
            </a:r>
          </a:p>
        </p:txBody>
      </p:sp>
      <p:sp>
        <p:nvSpPr>
          <p:cNvPr id="15" name="TextBox 14"/>
          <p:cNvSpPr txBox="1"/>
          <p:nvPr/>
        </p:nvSpPr>
        <p:spPr>
          <a:xfrm>
            <a:off x="548640" y="3704539"/>
            <a:ext cx="5318607" cy="170434"/>
          </a:xfrm>
          <a:prstGeom prst="rect">
            <a:avLst/>
          </a:prstGeom>
          <a:noFill/>
        </p:spPr>
        <p:txBody>
          <a:bodyPr wrap="square" lIns="0" tIns="0" rIns="0" bIns="0" anchor="t">
            <a:spAutoFit/>
          </a:bodyPr>
          <a:lstStyle/>
          <a:p>
            <a:r>
              <a:rPr lang="sv-SE" sz="1100" b="0">
                <a:solidFill>
                  <a:srgbClr val="005A5F"/>
                </a:solidFill>
                <a:latin typeface="Roboto Condensed"/>
              </a:rPr>
              <a:t>Managing and mitigating conflict in healthcare teams</a:t>
            </a:r>
          </a:p>
        </p:txBody>
      </p:sp>
      <p:sp>
        <p:nvSpPr>
          <p:cNvPr id="16" name="TextBox 15"/>
          <p:cNvSpPr txBox="1"/>
          <p:nvPr/>
        </p:nvSpPr>
        <p:spPr>
          <a:xfrm>
            <a:off x="548640" y="3911549"/>
            <a:ext cx="5318607" cy="162687"/>
          </a:xfrm>
          <a:prstGeom prst="rect">
            <a:avLst/>
          </a:prstGeom>
          <a:noFill/>
        </p:spPr>
        <p:txBody>
          <a:bodyPr wrap="square" lIns="0" tIns="0" rIns="0" bIns="0" anchor="t">
            <a:spAutoFit/>
          </a:bodyPr>
          <a:lstStyle/>
          <a:p>
            <a:r>
              <a:rPr lang="sv-SE" sz="1050" b="0">
                <a:solidFill>
                  <a:srgbClr val="4A4A4A"/>
                </a:solidFill>
                <a:latin typeface="Roboto Condensed"/>
              </a:rPr>
              <a:t>Almost m.fl. (2016). Journal of Advanced Nursing, 72(7).</a:t>
            </a:r>
          </a:p>
        </p:txBody>
      </p:sp>
      <p:sp>
        <p:nvSpPr>
          <p:cNvPr id="17" name="Rectangle 16"/>
          <p:cNvSpPr/>
          <p:nvPr/>
        </p:nvSpPr>
        <p:spPr>
          <a:xfrm>
            <a:off x="548640" y="426293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8640" y="431779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Låt gå-ledarskap och mobbning</a:t>
            </a:r>
          </a:p>
        </p:txBody>
      </p:sp>
      <p:sp>
        <p:nvSpPr>
          <p:cNvPr id="19" name="TextBox 18"/>
          <p:cNvSpPr txBox="1"/>
          <p:nvPr/>
        </p:nvSpPr>
        <p:spPr>
          <a:xfrm>
            <a:off x="548640" y="4522012"/>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The destructiveness of laissez-faire leadership behavior</a:t>
            </a:r>
          </a:p>
        </p:txBody>
      </p:sp>
      <p:sp>
        <p:nvSpPr>
          <p:cNvPr id="20" name="TextBox 19"/>
          <p:cNvSpPr txBox="1"/>
          <p:nvPr/>
        </p:nvSpPr>
        <p:spPr>
          <a:xfrm>
            <a:off x="548640" y="4729022"/>
            <a:ext cx="5318607" cy="162687"/>
          </a:xfrm>
          <a:prstGeom prst="rect">
            <a:avLst/>
          </a:prstGeom>
          <a:noFill/>
        </p:spPr>
        <p:txBody>
          <a:bodyPr wrap="square" lIns="0" tIns="0" rIns="0" bIns="0" anchor="t">
            <a:spAutoFit/>
          </a:bodyPr>
          <a:lstStyle/>
          <a:p>
            <a:r>
              <a:rPr lang="sv-SE" sz="1050" b="0">
                <a:solidFill>
                  <a:srgbClr val="4A4A4A"/>
                </a:solidFill>
                <a:latin typeface="Roboto Condensed"/>
              </a:rPr>
              <a:t>Skogstad m.fl. (2007). Journal of Occupational Health Psychology, 12(1).</a:t>
            </a:r>
          </a:p>
        </p:txBody>
      </p:sp>
      <p:sp>
        <p:nvSpPr>
          <p:cNvPr id="21" name="Rectangle 20"/>
          <p:cNvSpPr/>
          <p:nvPr/>
        </p:nvSpPr>
        <p:spPr>
          <a:xfrm>
            <a:off x="548640" y="5080406"/>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5135270"/>
            <a:ext cx="5318607" cy="185927"/>
          </a:xfrm>
          <a:prstGeom prst="rect">
            <a:avLst/>
          </a:prstGeom>
          <a:noFill/>
        </p:spPr>
        <p:txBody>
          <a:bodyPr wrap="square" lIns="0" tIns="0" rIns="0" bIns="0" anchor="t">
            <a:spAutoFit/>
          </a:bodyPr>
          <a:lstStyle/>
          <a:p>
            <a:r>
              <a:rPr lang="sv-SE" sz="1200" b="1">
                <a:solidFill>
                  <a:srgbClr val="1A1A1A"/>
                </a:solidFill>
                <a:latin typeface="Roboto Condensed"/>
              </a:rPr>
              <a:t>Individ och organisation</a:t>
            </a:r>
          </a:p>
        </p:txBody>
      </p:sp>
      <p:sp>
        <p:nvSpPr>
          <p:cNvPr id="23" name="TextBox 22"/>
          <p:cNvSpPr txBox="1"/>
          <p:nvPr/>
        </p:nvSpPr>
        <p:spPr>
          <a:xfrm>
            <a:off x="548640" y="5339486"/>
            <a:ext cx="5318607" cy="170434"/>
          </a:xfrm>
          <a:prstGeom prst="rect">
            <a:avLst/>
          </a:prstGeom>
          <a:noFill/>
        </p:spPr>
        <p:txBody>
          <a:bodyPr wrap="square" lIns="0" tIns="0" rIns="0" bIns="0" anchor="t">
            <a:spAutoFit/>
          </a:bodyPr>
          <a:lstStyle/>
          <a:p>
            <a:r>
              <a:rPr lang="sv-SE" sz="1100" b="0">
                <a:solidFill>
                  <a:srgbClr val="005A5F"/>
                </a:solidFill>
                <a:latin typeface="Roboto Condensed"/>
              </a:rPr>
              <a:t>Individual and organizational factors promoting successful responses to workplace conflict</a:t>
            </a:r>
          </a:p>
        </p:txBody>
      </p:sp>
      <p:sp>
        <p:nvSpPr>
          <p:cNvPr id="24" name="TextBox 23"/>
          <p:cNvSpPr txBox="1"/>
          <p:nvPr/>
        </p:nvSpPr>
        <p:spPr>
          <a:xfrm>
            <a:off x="548640" y="5546496"/>
            <a:ext cx="5318607" cy="162687"/>
          </a:xfrm>
          <a:prstGeom prst="rect">
            <a:avLst/>
          </a:prstGeom>
          <a:noFill/>
        </p:spPr>
        <p:txBody>
          <a:bodyPr wrap="square" lIns="0" tIns="0" rIns="0" bIns="0" anchor="t">
            <a:spAutoFit/>
          </a:bodyPr>
          <a:lstStyle/>
          <a:p>
            <a:r>
              <a:rPr lang="sv-SE" sz="1050" b="0">
                <a:solidFill>
                  <a:srgbClr val="4A4A4A"/>
                </a:solidFill>
                <a:latin typeface="Roboto Condensed"/>
              </a:rPr>
              <a:t>Gilin Oore, Leiter &amp; LeBlanc (2015). Canadian Psychology, 56(3).</a:t>
            </a:r>
          </a:p>
        </p:txBody>
      </p:sp>
      <p:sp>
        <p:nvSpPr>
          <p:cNvPr id="25" name="TextBox 24"/>
          <p:cNvSpPr txBox="1"/>
          <p:nvPr/>
        </p:nvSpPr>
        <p:spPr>
          <a:xfrm>
            <a:off x="6324447" y="1417320"/>
            <a:ext cx="5318607" cy="320040"/>
          </a:xfrm>
          <a:prstGeom prst="rect">
            <a:avLst/>
          </a:prstGeom>
          <a:noFill/>
        </p:spPr>
        <p:txBody>
          <a:bodyPr wrap="square" lIns="0" tIns="0" rIns="0" bIns="0" anchor="t">
            <a:spAutoFit/>
          </a:bodyPr>
          <a:lstStyle/>
          <a:p>
            <a:r>
              <a:rPr lang="sv-SE" sz="1400" b="1" spc="200">
                <a:solidFill>
                  <a:srgbClr val="A50D1E"/>
                </a:solidFill>
                <a:latin typeface="Roboto Condensed"/>
              </a:rPr>
              <a:t>TANKEGREPP OCH SAMTAL</a:t>
            </a:r>
          </a:p>
        </p:txBody>
      </p:sp>
      <p:sp>
        <p:nvSpPr>
          <p:cNvPr id="26" name="Rectangle 25"/>
          <p:cNvSpPr/>
          <p:nvPr/>
        </p:nvSpPr>
        <p:spPr>
          <a:xfrm>
            <a:off x="6324447" y="1810512"/>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324447" y="1865376"/>
            <a:ext cx="5318607" cy="185927"/>
          </a:xfrm>
          <a:prstGeom prst="rect">
            <a:avLst/>
          </a:prstGeom>
          <a:noFill/>
        </p:spPr>
        <p:txBody>
          <a:bodyPr wrap="square" lIns="0" tIns="0" rIns="0" bIns="0" anchor="t">
            <a:spAutoFit/>
          </a:bodyPr>
          <a:lstStyle/>
          <a:p>
            <a:r>
              <a:rPr lang="sv-SE" sz="1200" b="1">
                <a:solidFill>
                  <a:srgbClr val="1A1A1A"/>
                </a:solidFill>
                <a:latin typeface="Roboto Condensed"/>
              </a:rPr>
              <a:t>Perspektivtagande</a:t>
            </a:r>
          </a:p>
        </p:txBody>
      </p:sp>
      <p:sp>
        <p:nvSpPr>
          <p:cNvPr id="28" name="TextBox 27"/>
          <p:cNvSpPr txBox="1"/>
          <p:nvPr/>
        </p:nvSpPr>
        <p:spPr>
          <a:xfrm>
            <a:off x="6324447" y="206959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Why it pays to get inside the head of your opponent</a:t>
            </a:r>
          </a:p>
        </p:txBody>
      </p:sp>
      <p:sp>
        <p:nvSpPr>
          <p:cNvPr id="29" name="TextBox 28"/>
          <p:cNvSpPr txBox="1"/>
          <p:nvPr/>
        </p:nvSpPr>
        <p:spPr>
          <a:xfrm>
            <a:off x="6324447" y="227660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Galinsky m.fl. (2008). Psychological Science, 19(4).</a:t>
            </a:r>
          </a:p>
        </p:txBody>
      </p:sp>
      <p:sp>
        <p:nvSpPr>
          <p:cNvPr id="30" name="Rectangle 29"/>
          <p:cNvSpPr/>
          <p:nvPr/>
        </p:nvSpPr>
        <p:spPr>
          <a:xfrm>
            <a:off x="6324447" y="2482595"/>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24447" y="2537459"/>
            <a:ext cx="5318607" cy="185927"/>
          </a:xfrm>
          <a:prstGeom prst="rect">
            <a:avLst/>
          </a:prstGeom>
          <a:noFill/>
        </p:spPr>
        <p:txBody>
          <a:bodyPr wrap="square" lIns="0" tIns="0" rIns="0" bIns="0" anchor="t">
            <a:spAutoFit/>
          </a:bodyPr>
          <a:lstStyle/>
          <a:p>
            <a:r>
              <a:rPr lang="sv-SE" sz="1200" b="1">
                <a:solidFill>
                  <a:srgbClr val="1A1A1A"/>
                </a:solidFill>
                <a:latin typeface="Roboto Condensed"/>
              </a:rPr>
              <a:t>Klokare på avstånd</a:t>
            </a:r>
          </a:p>
        </p:txBody>
      </p:sp>
      <p:sp>
        <p:nvSpPr>
          <p:cNvPr id="32" name="TextBox 31"/>
          <p:cNvSpPr txBox="1"/>
          <p:nvPr/>
        </p:nvSpPr>
        <p:spPr>
          <a:xfrm>
            <a:off x="6324447" y="2741675"/>
            <a:ext cx="5318607" cy="170434"/>
          </a:xfrm>
          <a:prstGeom prst="rect">
            <a:avLst/>
          </a:prstGeom>
          <a:noFill/>
        </p:spPr>
        <p:txBody>
          <a:bodyPr wrap="square" lIns="0" tIns="0" rIns="0" bIns="0" anchor="t">
            <a:spAutoFit/>
          </a:bodyPr>
          <a:lstStyle/>
          <a:p>
            <a:r>
              <a:rPr lang="sv-SE" sz="1100" b="0">
                <a:solidFill>
                  <a:srgbClr val="005A5F"/>
                </a:solidFill>
                <a:latin typeface="Roboto Condensed"/>
              </a:rPr>
              <a:t>Exploring Solomon's paradox</a:t>
            </a:r>
          </a:p>
        </p:txBody>
      </p:sp>
      <p:sp>
        <p:nvSpPr>
          <p:cNvPr id="33" name="TextBox 32"/>
          <p:cNvSpPr txBox="1"/>
          <p:nvPr/>
        </p:nvSpPr>
        <p:spPr>
          <a:xfrm>
            <a:off x="6324447" y="2948685"/>
            <a:ext cx="5318607" cy="162687"/>
          </a:xfrm>
          <a:prstGeom prst="rect">
            <a:avLst/>
          </a:prstGeom>
          <a:noFill/>
        </p:spPr>
        <p:txBody>
          <a:bodyPr wrap="square" lIns="0" tIns="0" rIns="0" bIns="0" anchor="t">
            <a:spAutoFit/>
          </a:bodyPr>
          <a:lstStyle/>
          <a:p>
            <a:r>
              <a:rPr lang="sv-SE" sz="1050" b="0">
                <a:solidFill>
                  <a:srgbClr val="4A4A4A"/>
                </a:solidFill>
                <a:latin typeface="Roboto Condensed"/>
              </a:rPr>
              <a:t>Grossmann &amp; Kross (2014). Psychological Science, 25(8).</a:t>
            </a:r>
          </a:p>
        </p:txBody>
      </p:sp>
      <p:sp>
        <p:nvSpPr>
          <p:cNvPr id="34" name="Rectangle 33"/>
          <p:cNvSpPr/>
          <p:nvPr/>
        </p:nvSpPr>
        <p:spPr>
          <a:xfrm>
            <a:off x="6324447" y="3154679"/>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24447" y="3209543"/>
            <a:ext cx="5318607" cy="185927"/>
          </a:xfrm>
          <a:prstGeom prst="rect">
            <a:avLst/>
          </a:prstGeom>
          <a:noFill/>
        </p:spPr>
        <p:txBody>
          <a:bodyPr wrap="square" lIns="0" tIns="0" rIns="0" bIns="0" anchor="t">
            <a:spAutoFit/>
          </a:bodyPr>
          <a:lstStyle/>
          <a:p>
            <a:r>
              <a:rPr lang="sv-SE" sz="1200" b="1">
                <a:solidFill>
                  <a:srgbClr val="1A1A1A"/>
                </a:solidFill>
                <a:latin typeface="Roboto Condensed"/>
              </a:rPr>
              <a:t>Sju minuters skrivande</a:t>
            </a:r>
          </a:p>
        </p:txBody>
      </p:sp>
      <p:sp>
        <p:nvSpPr>
          <p:cNvPr id="36" name="TextBox 35"/>
          <p:cNvSpPr txBox="1"/>
          <p:nvPr/>
        </p:nvSpPr>
        <p:spPr>
          <a:xfrm>
            <a:off x="6324447" y="3413759"/>
            <a:ext cx="5318607" cy="170434"/>
          </a:xfrm>
          <a:prstGeom prst="rect">
            <a:avLst/>
          </a:prstGeom>
          <a:noFill/>
        </p:spPr>
        <p:txBody>
          <a:bodyPr wrap="square" lIns="0" tIns="0" rIns="0" bIns="0" anchor="t">
            <a:spAutoFit/>
          </a:bodyPr>
          <a:lstStyle/>
          <a:p>
            <a:r>
              <a:rPr lang="sv-SE" sz="1100" b="0">
                <a:solidFill>
                  <a:srgbClr val="005A5F"/>
                </a:solidFill>
                <a:latin typeface="Roboto Condensed"/>
              </a:rPr>
              <a:t>A brief intervention to promote conflict reappraisal</a:t>
            </a:r>
          </a:p>
        </p:txBody>
      </p:sp>
      <p:sp>
        <p:nvSpPr>
          <p:cNvPr id="37" name="TextBox 36"/>
          <p:cNvSpPr txBox="1"/>
          <p:nvPr/>
        </p:nvSpPr>
        <p:spPr>
          <a:xfrm>
            <a:off x="6324447" y="3620769"/>
            <a:ext cx="5318607" cy="162687"/>
          </a:xfrm>
          <a:prstGeom prst="rect">
            <a:avLst/>
          </a:prstGeom>
          <a:noFill/>
        </p:spPr>
        <p:txBody>
          <a:bodyPr wrap="square" lIns="0" tIns="0" rIns="0" bIns="0" anchor="t">
            <a:spAutoFit/>
          </a:bodyPr>
          <a:lstStyle/>
          <a:p>
            <a:r>
              <a:rPr lang="sv-SE" sz="1050" b="0">
                <a:solidFill>
                  <a:srgbClr val="4A4A4A"/>
                </a:solidFill>
                <a:latin typeface="Roboto Condensed"/>
              </a:rPr>
              <a:t>Finkel m.fl. (2013). Psychological Science, 24(8).</a:t>
            </a:r>
          </a:p>
        </p:txBody>
      </p:sp>
      <p:sp>
        <p:nvSpPr>
          <p:cNvPr id="38" name="Rectangle 37"/>
          <p:cNvSpPr/>
          <p:nvPr/>
        </p:nvSpPr>
        <p:spPr>
          <a:xfrm>
            <a:off x="6324447" y="3826763"/>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324447" y="3881627"/>
            <a:ext cx="5318607" cy="185927"/>
          </a:xfrm>
          <a:prstGeom prst="rect">
            <a:avLst/>
          </a:prstGeom>
          <a:noFill/>
        </p:spPr>
        <p:txBody>
          <a:bodyPr wrap="square" lIns="0" tIns="0" rIns="0" bIns="0" anchor="t">
            <a:spAutoFit/>
          </a:bodyPr>
          <a:lstStyle/>
          <a:p>
            <a:r>
              <a:rPr lang="sv-SE" sz="1200" b="1">
                <a:solidFill>
                  <a:srgbClr val="1A1A1A"/>
                </a:solidFill>
                <a:latin typeface="Roboto Condensed"/>
              </a:rPr>
              <a:t>Mottaglighet i samtal</a:t>
            </a:r>
          </a:p>
        </p:txBody>
      </p:sp>
      <p:sp>
        <p:nvSpPr>
          <p:cNvPr id="40" name="TextBox 39"/>
          <p:cNvSpPr txBox="1"/>
          <p:nvPr/>
        </p:nvSpPr>
        <p:spPr>
          <a:xfrm>
            <a:off x="6324447" y="4085843"/>
            <a:ext cx="5318607" cy="170434"/>
          </a:xfrm>
          <a:prstGeom prst="rect">
            <a:avLst/>
          </a:prstGeom>
          <a:noFill/>
        </p:spPr>
        <p:txBody>
          <a:bodyPr wrap="square" lIns="0" tIns="0" rIns="0" bIns="0" anchor="t">
            <a:spAutoFit/>
          </a:bodyPr>
          <a:lstStyle/>
          <a:p>
            <a:r>
              <a:rPr lang="sv-SE" sz="1100" b="0">
                <a:solidFill>
                  <a:srgbClr val="005A5F"/>
                </a:solidFill>
                <a:latin typeface="Roboto Condensed"/>
              </a:rPr>
              <a:t>Conversational receptiveness</a:t>
            </a:r>
          </a:p>
        </p:txBody>
      </p:sp>
      <p:sp>
        <p:nvSpPr>
          <p:cNvPr id="41" name="TextBox 40"/>
          <p:cNvSpPr txBox="1"/>
          <p:nvPr/>
        </p:nvSpPr>
        <p:spPr>
          <a:xfrm>
            <a:off x="6324447" y="4292853"/>
            <a:ext cx="5318607" cy="162687"/>
          </a:xfrm>
          <a:prstGeom prst="rect">
            <a:avLst/>
          </a:prstGeom>
          <a:noFill/>
        </p:spPr>
        <p:txBody>
          <a:bodyPr wrap="square" lIns="0" tIns="0" rIns="0" bIns="0" anchor="t">
            <a:spAutoFit/>
          </a:bodyPr>
          <a:lstStyle/>
          <a:p>
            <a:r>
              <a:rPr lang="sv-SE" sz="1050" b="0">
                <a:solidFill>
                  <a:srgbClr val="4A4A4A"/>
                </a:solidFill>
                <a:latin typeface="Roboto Condensed"/>
              </a:rPr>
              <a:t>Yeomans m.fl. (2020). Org. Behavior and Human Decision Processes, 160.</a:t>
            </a:r>
          </a:p>
        </p:txBody>
      </p:sp>
      <p:sp>
        <p:nvSpPr>
          <p:cNvPr id="42" name="Rectangle 41"/>
          <p:cNvSpPr/>
          <p:nvPr/>
        </p:nvSpPr>
        <p:spPr>
          <a:xfrm>
            <a:off x="6324447" y="4498847"/>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24447" y="4553711"/>
            <a:ext cx="5318607" cy="185927"/>
          </a:xfrm>
          <a:prstGeom prst="rect">
            <a:avLst/>
          </a:prstGeom>
          <a:noFill/>
        </p:spPr>
        <p:txBody>
          <a:bodyPr wrap="square" lIns="0" tIns="0" rIns="0" bIns="0" anchor="t">
            <a:spAutoFit/>
          </a:bodyPr>
          <a:lstStyle/>
          <a:p>
            <a:r>
              <a:rPr lang="sv-SE" sz="1200" b="1">
                <a:solidFill>
                  <a:srgbClr val="1A1A1A"/>
                </a:solidFill>
                <a:latin typeface="Roboto Condensed"/>
              </a:rPr>
              <a:t>Lyssnande</a:t>
            </a:r>
          </a:p>
        </p:txBody>
      </p:sp>
      <p:sp>
        <p:nvSpPr>
          <p:cNvPr id="44" name="TextBox 43"/>
          <p:cNvSpPr txBox="1"/>
          <p:nvPr/>
        </p:nvSpPr>
        <p:spPr>
          <a:xfrm>
            <a:off x="6324447" y="4757927"/>
            <a:ext cx="5318607" cy="170434"/>
          </a:xfrm>
          <a:prstGeom prst="rect">
            <a:avLst/>
          </a:prstGeom>
          <a:noFill/>
        </p:spPr>
        <p:txBody>
          <a:bodyPr wrap="square" lIns="0" tIns="0" rIns="0" bIns="0" anchor="t">
            <a:spAutoFit/>
          </a:bodyPr>
          <a:lstStyle/>
          <a:p>
            <a:r>
              <a:rPr lang="sv-SE" sz="1100" b="0">
                <a:solidFill>
                  <a:srgbClr val="005A5F"/>
                </a:solidFill>
                <a:latin typeface="Roboto Condensed"/>
              </a:rPr>
              <a:t>The effects of perceived listening on work outcomes</a:t>
            </a:r>
          </a:p>
        </p:txBody>
      </p:sp>
      <p:sp>
        <p:nvSpPr>
          <p:cNvPr id="45" name="TextBox 44"/>
          <p:cNvSpPr txBox="1"/>
          <p:nvPr/>
        </p:nvSpPr>
        <p:spPr>
          <a:xfrm>
            <a:off x="6324447" y="4964937"/>
            <a:ext cx="5318607" cy="162687"/>
          </a:xfrm>
          <a:prstGeom prst="rect">
            <a:avLst/>
          </a:prstGeom>
          <a:noFill/>
        </p:spPr>
        <p:txBody>
          <a:bodyPr wrap="square" lIns="0" tIns="0" rIns="0" bIns="0" anchor="t">
            <a:spAutoFit/>
          </a:bodyPr>
          <a:lstStyle/>
          <a:p>
            <a:r>
              <a:rPr lang="sv-SE" sz="1050" b="0">
                <a:solidFill>
                  <a:srgbClr val="4A4A4A"/>
                </a:solidFill>
                <a:latin typeface="Roboto Condensed"/>
              </a:rPr>
              <a:t>Kluger m.fl. (2024). Journal of Business and Psychology, 39(2).</a:t>
            </a:r>
          </a:p>
        </p:txBody>
      </p:sp>
      <p:sp>
        <p:nvSpPr>
          <p:cNvPr id="46" name="Rectangle 45"/>
          <p:cNvSpPr/>
          <p:nvPr/>
        </p:nvSpPr>
        <p:spPr>
          <a:xfrm>
            <a:off x="6324447" y="5170931"/>
            <a:ext cx="5318607" cy="13716"/>
          </a:xfrm>
          <a:prstGeom prst="rect">
            <a:avLst/>
          </a:prstGeom>
          <a:solidFill>
            <a:srgbClr val="BDB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324447" y="5225795"/>
            <a:ext cx="5318607" cy="185927"/>
          </a:xfrm>
          <a:prstGeom prst="rect">
            <a:avLst/>
          </a:prstGeom>
          <a:noFill/>
        </p:spPr>
        <p:txBody>
          <a:bodyPr wrap="square" lIns="0" tIns="0" rIns="0" bIns="0" anchor="t">
            <a:spAutoFit/>
          </a:bodyPr>
          <a:lstStyle/>
          <a:p>
            <a:r>
              <a:rPr lang="sv-SE" sz="1200" b="1">
                <a:solidFill>
                  <a:srgbClr val="1A1A1A"/>
                </a:solidFill>
                <a:latin typeface="Roboto Condensed"/>
              </a:rPr>
              <a:t>Naiv realism</a:t>
            </a:r>
          </a:p>
        </p:txBody>
      </p:sp>
      <p:sp>
        <p:nvSpPr>
          <p:cNvPr id="48" name="TextBox 47"/>
          <p:cNvSpPr txBox="1"/>
          <p:nvPr/>
        </p:nvSpPr>
        <p:spPr>
          <a:xfrm>
            <a:off x="6324447" y="5430011"/>
            <a:ext cx="5318607" cy="170434"/>
          </a:xfrm>
          <a:prstGeom prst="rect">
            <a:avLst/>
          </a:prstGeom>
          <a:noFill/>
        </p:spPr>
        <p:txBody>
          <a:bodyPr wrap="square" lIns="0" tIns="0" rIns="0" bIns="0" anchor="t">
            <a:spAutoFit/>
          </a:bodyPr>
          <a:lstStyle/>
          <a:p>
            <a:r>
              <a:rPr lang="sv-SE" sz="1100" b="0">
                <a:solidFill>
                  <a:srgbClr val="005A5F"/>
                </a:solidFill>
                <a:latin typeface="Roboto Condensed"/>
              </a:rPr>
              <a:t>When disagreement gets ugly</a:t>
            </a:r>
          </a:p>
        </p:txBody>
      </p:sp>
      <p:sp>
        <p:nvSpPr>
          <p:cNvPr id="49" name="TextBox 48"/>
          <p:cNvSpPr txBox="1"/>
          <p:nvPr/>
        </p:nvSpPr>
        <p:spPr>
          <a:xfrm>
            <a:off x="6324447" y="5637021"/>
            <a:ext cx="5318607" cy="162687"/>
          </a:xfrm>
          <a:prstGeom prst="rect">
            <a:avLst/>
          </a:prstGeom>
          <a:noFill/>
        </p:spPr>
        <p:txBody>
          <a:bodyPr wrap="square" lIns="0" tIns="0" rIns="0" bIns="0" anchor="t">
            <a:spAutoFit/>
          </a:bodyPr>
          <a:lstStyle/>
          <a:p>
            <a:r>
              <a:rPr lang="sv-SE" sz="1050" b="0">
                <a:solidFill>
                  <a:srgbClr val="4A4A4A"/>
                </a:solidFill>
                <a:latin typeface="Roboto Condensed"/>
              </a:rPr>
              <a:t>Kennedy &amp; Pronin (2008). Personality and Social Psychology Bulletin, 34(6).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EXTRABILD</a:t>
            </a:r>
            <a:endParaRPr lang="sv-SE" sz="1400" dirty="0"/>
          </a:p>
        </p:txBody>
      </p:sp>
      <p:sp>
        <p:nvSpPr>
          <p:cNvPr id="4" name="Text 1"/>
          <p:cNvSpPr txBox="1"/>
          <p:nvPr/>
        </p:nvSpPr>
        <p:spPr>
          <a:xfrm rot="21480000">
            <a:off x="548640" y="502920"/>
            <a:ext cx="5799125"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Synligt och osynligt i konflikten</a:t>
            </a:r>
            <a:endParaRPr lang="sv-SE" sz="3000" dirty="0"/>
          </a:p>
        </p:txBody>
      </p:sp>
      <p:sp>
        <p:nvSpPr>
          <p:cNvPr id="5" name="Shape 2"/>
          <p:cNvSpPr/>
          <p:nvPr/>
        </p:nvSpPr>
        <p:spPr>
          <a:xfrm>
            <a:off x="1691640" y="1600200"/>
            <a:ext cx="2651760" cy="1280160"/>
          </a:xfrm>
          <a:prstGeom prst="roundRect">
            <a:avLst>
              <a:gd name="adj" fmla="val 7143"/>
            </a:avLst>
          </a:prstGeom>
          <a:solidFill>
            <a:srgbClr val="D80811"/>
          </a:solidFill>
          <a:ln w="12700">
            <a:solidFill>
              <a:srgbClr val="D80811"/>
            </a:solidFill>
            <a:prstDash val="solid"/>
          </a:ln>
        </p:spPr>
        <p:txBody>
          <a:bodyPr/>
          <a:lstStyle/>
          <a:p>
            <a:endParaRPr lang="sv-SE"/>
          </a:p>
        </p:txBody>
      </p:sp>
      <p:sp>
        <p:nvSpPr>
          <p:cNvPr id="6" name="Text 3"/>
          <p:cNvSpPr txBox="1"/>
          <p:nvPr/>
        </p:nvSpPr>
        <p:spPr>
          <a:xfrm>
            <a:off x="1691640" y="1600200"/>
            <a:ext cx="2651760" cy="1280160"/>
          </a:xfrm>
          <a:prstGeom prst="rect">
            <a:avLst/>
          </a:prstGeom>
          <a:noFill/>
          <a:ln/>
        </p:spPr>
        <p:txBody>
          <a:bodyPr wrap="square" lIns="0" tIns="0" rIns="0" bIns="0" rtlCol="0" anchor="ctr"/>
          <a:lstStyle/>
          <a:p>
            <a:pPr marL="0" indent="0" algn="ctr">
              <a:buNone/>
            </a:pPr>
            <a:r>
              <a:rPr lang="sv-SE" altLang="en-US" sz="1900" b="1" dirty="0">
                <a:solidFill>
                  <a:srgbClr val="FFFFFF"/>
                </a:solidFill>
                <a:latin typeface="Roboto Condensed" pitchFamily="34" charset="0"/>
                <a:ea typeface="Roboto Condensed" pitchFamily="34" charset="-122"/>
                <a:cs typeface="Roboto Condensed" pitchFamily="34" charset="-120"/>
              </a:rPr>
              <a:t>Presenterat problem</a:t>
            </a:r>
            <a:endParaRPr lang="sv-SE" sz="1900" dirty="0"/>
          </a:p>
        </p:txBody>
      </p:sp>
      <p:sp>
        <p:nvSpPr>
          <p:cNvPr id="7" name="Text 4"/>
          <p:cNvSpPr txBox="1"/>
          <p:nvPr/>
        </p:nvSpPr>
        <p:spPr>
          <a:xfrm>
            <a:off x="6035040" y="1673352"/>
            <a:ext cx="557784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Det parterna säger att det handlar om</a:t>
            </a:r>
            <a:endParaRPr lang="sv-SE" sz="2100" dirty="0"/>
          </a:p>
        </p:txBody>
      </p:sp>
      <p:sp>
        <p:nvSpPr>
          <p:cNvPr id="8" name="Text 5"/>
          <p:cNvSpPr txBox="1"/>
          <p:nvPr/>
        </p:nvSpPr>
        <p:spPr>
          <a:xfrm>
            <a:off x="6035040" y="2075688"/>
            <a:ext cx="5577840" cy="822960"/>
          </a:xfrm>
          <a:prstGeom prst="rect">
            <a:avLst/>
          </a:prstGeom>
          <a:noFill/>
          <a:ln/>
        </p:spPr>
        <p:txBody>
          <a:bodyPr wrap="square" lIns="0" tIns="0" rIns="0" bIns="0" rtlCol="0" anchor="t"/>
          <a:lstStyle/>
          <a:p>
            <a:pPr marL="0" indent="0">
              <a:buNone/>
            </a:pPr>
            <a:r>
              <a:rPr lang="sv-SE" altLang="en-US" sz="1700" dirty="0">
                <a:solidFill>
                  <a:srgbClr val="1A1A1A"/>
                </a:solidFill>
                <a:latin typeface="Georgia" pitchFamily="34" charset="0"/>
                <a:ea typeface="Georgia" pitchFamily="34" charset="-122"/>
                <a:cs typeface="Georgia" pitchFamily="34" charset="-120"/>
              </a:rPr>
              <a:t>Sakfrågor, strategier, uttalade ståndpunkter. Ofta toppen på ett isberg.</a:t>
            </a:r>
            <a:endParaRPr lang="sv-SE" sz="1700" dirty="0"/>
          </a:p>
        </p:txBody>
      </p:sp>
      <p:sp>
        <p:nvSpPr>
          <p:cNvPr id="9" name="Shape 6"/>
          <p:cNvSpPr/>
          <p:nvPr/>
        </p:nvSpPr>
        <p:spPr>
          <a:xfrm>
            <a:off x="1234440" y="3108960"/>
            <a:ext cx="3566160" cy="1280160"/>
          </a:xfrm>
          <a:prstGeom prst="roundRect">
            <a:avLst>
              <a:gd name="adj" fmla="val 7143"/>
            </a:avLst>
          </a:prstGeom>
          <a:solidFill>
            <a:srgbClr val="A50D1E"/>
          </a:solidFill>
          <a:ln w="12700">
            <a:solidFill>
              <a:srgbClr val="A50D1E"/>
            </a:solidFill>
            <a:prstDash val="solid"/>
          </a:ln>
        </p:spPr>
        <p:txBody>
          <a:bodyPr/>
          <a:lstStyle/>
          <a:p>
            <a:endParaRPr lang="sv-SE"/>
          </a:p>
        </p:txBody>
      </p:sp>
      <p:sp>
        <p:nvSpPr>
          <p:cNvPr id="10" name="Text 7"/>
          <p:cNvSpPr txBox="1"/>
          <p:nvPr/>
        </p:nvSpPr>
        <p:spPr>
          <a:xfrm>
            <a:off x="1234440" y="3108960"/>
            <a:ext cx="3566160" cy="1280160"/>
          </a:xfrm>
          <a:prstGeom prst="rect">
            <a:avLst/>
          </a:prstGeom>
          <a:noFill/>
          <a:ln/>
        </p:spPr>
        <p:txBody>
          <a:bodyPr wrap="square" lIns="0" tIns="0" rIns="0" bIns="0" rtlCol="0" anchor="ctr"/>
          <a:lstStyle/>
          <a:p>
            <a:pPr marL="0" indent="0" algn="ctr">
              <a:buNone/>
            </a:pPr>
            <a:r>
              <a:rPr lang="sv-SE" altLang="en-US" sz="1900" b="1" dirty="0">
                <a:solidFill>
                  <a:srgbClr val="FFFFFF"/>
                </a:solidFill>
                <a:latin typeface="Roboto Condensed" pitchFamily="34" charset="0"/>
                <a:ea typeface="Roboto Condensed" pitchFamily="34" charset="-122"/>
                <a:cs typeface="Roboto Condensed" pitchFamily="34" charset="-120"/>
              </a:rPr>
              <a:t>Dold agenda</a:t>
            </a:r>
            <a:endParaRPr lang="sv-SE" sz="1900" dirty="0"/>
          </a:p>
        </p:txBody>
      </p:sp>
      <p:sp>
        <p:nvSpPr>
          <p:cNvPr id="11" name="Text 8"/>
          <p:cNvSpPr txBox="1"/>
          <p:nvPr/>
        </p:nvSpPr>
        <p:spPr>
          <a:xfrm>
            <a:off x="6035040" y="3182112"/>
            <a:ext cx="557784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Det man vet men inte visar</a:t>
            </a:r>
            <a:endParaRPr lang="sv-SE" sz="2100" dirty="0"/>
          </a:p>
        </p:txBody>
      </p:sp>
      <p:sp>
        <p:nvSpPr>
          <p:cNvPr id="12" name="Text 9"/>
          <p:cNvSpPr txBox="1"/>
          <p:nvPr/>
        </p:nvSpPr>
        <p:spPr>
          <a:xfrm>
            <a:off x="6035040" y="3584448"/>
            <a:ext cx="5577840" cy="822960"/>
          </a:xfrm>
          <a:prstGeom prst="rect">
            <a:avLst/>
          </a:prstGeom>
          <a:noFill/>
          <a:ln/>
        </p:spPr>
        <p:txBody>
          <a:bodyPr wrap="square" lIns="0" tIns="0" rIns="0" bIns="0" rtlCol="0" anchor="t"/>
          <a:lstStyle/>
          <a:p>
            <a:pPr marL="0" indent="0">
              <a:buNone/>
            </a:pPr>
            <a:r>
              <a:rPr lang="sv-SE" altLang="en-US" sz="1700" dirty="0">
                <a:solidFill>
                  <a:srgbClr val="1A1A1A"/>
                </a:solidFill>
                <a:latin typeface="Georgia" pitchFamily="34" charset="0"/>
                <a:ea typeface="Georgia" pitchFamily="34" charset="-122"/>
                <a:cs typeface="Georgia" pitchFamily="34" charset="-120"/>
              </a:rPr>
              <a:t>Taktik, intressen, sådant man skäms för. Fantasier om andras dolda agenda har låg träffsäkerhet.</a:t>
            </a:r>
            <a:endParaRPr lang="sv-SE" sz="1700" dirty="0"/>
          </a:p>
        </p:txBody>
      </p:sp>
      <p:sp>
        <p:nvSpPr>
          <p:cNvPr id="13" name="Shape 10"/>
          <p:cNvSpPr/>
          <p:nvPr/>
        </p:nvSpPr>
        <p:spPr>
          <a:xfrm>
            <a:off x="548640" y="4617720"/>
            <a:ext cx="4937760" cy="1280160"/>
          </a:xfrm>
          <a:prstGeom prst="roundRect">
            <a:avLst>
              <a:gd name="adj" fmla="val 7143"/>
            </a:avLst>
          </a:prstGeom>
          <a:solidFill>
            <a:srgbClr val="1A1A1A"/>
          </a:solidFill>
          <a:ln w="12700">
            <a:solidFill>
              <a:srgbClr val="1A1A1A"/>
            </a:solidFill>
            <a:prstDash val="solid"/>
          </a:ln>
        </p:spPr>
        <p:txBody>
          <a:bodyPr/>
          <a:lstStyle/>
          <a:p>
            <a:endParaRPr lang="sv-SE"/>
          </a:p>
        </p:txBody>
      </p:sp>
      <p:sp>
        <p:nvSpPr>
          <p:cNvPr id="14" name="Text 11"/>
          <p:cNvSpPr txBox="1"/>
          <p:nvPr/>
        </p:nvSpPr>
        <p:spPr>
          <a:xfrm>
            <a:off x="548640" y="4617720"/>
            <a:ext cx="4937760" cy="1280160"/>
          </a:xfrm>
          <a:prstGeom prst="rect">
            <a:avLst/>
          </a:prstGeom>
          <a:noFill/>
          <a:ln/>
        </p:spPr>
        <p:txBody>
          <a:bodyPr wrap="square" lIns="0" tIns="0" rIns="0" bIns="0" rtlCol="0" anchor="ctr"/>
          <a:lstStyle/>
          <a:p>
            <a:pPr marL="0" indent="0" algn="ctr">
              <a:buNone/>
            </a:pPr>
            <a:r>
              <a:rPr lang="sv-SE" altLang="en-US" sz="1900" b="1" dirty="0">
                <a:solidFill>
                  <a:srgbClr val="FFFFFF"/>
                </a:solidFill>
                <a:latin typeface="Roboto Condensed" pitchFamily="34" charset="0"/>
                <a:ea typeface="Roboto Condensed" pitchFamily="34" charset="-122"/>
                <a:cs typeface="Roboto Condensed" pitchFamily="34" charset="-120"/>
              </a:rPr>
              <a:t>Omedvetet</a:t>
            </a:r>
            <a:endParaRPr lang="sv-SE" sz="1900" dirty="0"/>
          </a:p>
        </p:txBody>
      </p:sp>
      <p:sp>
        <p:nvSpPr>
          <p:cNvPr id="15" name="Text 12"/>
          <p:cNvSpPr txBox="1"/>
          <p:nvPr/>
        </p:nvSpPr>
        <p:spPr>
          <a:xfrm>
            <a:off x="6035040" y="4690872"/>
            <a:ext cx="5577840" cy="365760"/>
          </a:xfrm>
          <a:prstGeom prst="rect">
            <a:avLst/>
          </a:prstGeom>
          <a:noFill/>
          <a:ln/>
        </p:spPr>
        <p:txBody>
          <a:bodyPr wrap="square" lIns="0" tIns="0" rIns="0" bIns="0" rtlCol="0" anchor="t"/>
          <a:lstStyle/>
          <a:p>
            <a:pPr marL="0" indent="0">
              <a:buNone/>
            </a:pPr>
            <a:r>
              <a:rPr lang="sv-SE" altLang="en-US" sz="2100" b="1" dirty="0">
                <a:solidFill>
                  <a:srgbClr val="1A1A1A"/>
                </a:solidFill>
                <a:latin typeface="Roboto Condensed" pitchFamily="34" charset="0"/>
                <a:ea typeface="Roboto Condensed" pitchFamily="34" charset="-122"/>
                <a:cs typeface="Roboto Condensed" pitchFamily="34" charset="-120"/>
              </a:rPr>
              <a:t>Det oreflekterade</a:t>
            </a:r>
            <a:endParaRPr lang="sv-SE" sz="2100" dirty="0"/>
          </a:p>
        </p:txBody>
      </p:sp>
      <p:sp>
        <p:nvSpPr>
          <p:cNvPr id="16" name="Text 13"/>
          <p:cNvSpPr txBox="1"/>
          <p:nvPr/>
        </p:nvSpPr>
        <p:spPr>
          <a:xfrm>
            <a:off x="6035040" y="5093208"/>
            <a:ext cx="5577840" cy="822960"/>
          </a:xfrm>
          <a:prstGeom prst="rect">
            <a:avLst/>
          </a:prstGeom>
          <a:noFill/>
          <a:ln/>
        </p:spPr>
        <p:txBody>
          <a:bodyPr wrap="square" lIns="0" tIns="0" rIns="0" bIns="0" rtlCol="0" anchor="t"/>
          <a:lstStyle/>
          <a:p>
            <a:pPr marL="0" indent="0">
              <a:buNone/>
            </a:pPr>
            <a:r>
              <a:rPr lang="sv-SE" altLang="en-US" sz="1700" dirty="0">
                <a:solidFill>
                  <a:srgbClr val="1A1A1A"/>
                </a:solidFill>
                <a:latin typeface="Georgia" pitchFamily="34" charset="0"/>
                <a:ea typeface="Georgia" pitchFamily="34" charset="-122"/>
                <a:cs typeface="Georgia" pitchFamily="34" charset="-120"/>
              </a:rPr>
              <a:t>Antaganden, känslor man inte har koll på, kroppsspråk och grundbehov som klär sig i krav.</a:t>
            </a:r>
            <a:endParaRPr lang="sv-SE"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EXTRABILD · FAS 1 · VINNA–VINNA</a:t>
            </a:r>
            <a:endParaRPr lang="sv-SE" sz="1400" dirty="0"/>
          </a:p>
        </p:txBody>
      </p:sp>
      <p:sp>
        <p:nvSpPr>
          <p:cNvPr id="4" name="Text 1"/>
          <p:cNvSpPr txBox="1"/>
          <p:nvPr/>
        </p:nvSpPr>
        <p:spPr>
          <a:xfrm rot="21480000">
            <a:off x="548640" y="502920"/>
            <a:ext cx="5640019" cy="713232"/>
          </a:xfrm>
          <a:prstGeom prst="rect">
            <a:avLst/>
          </a:prstGeom>
          <a:solidFill>
            <a:srgbClr val="00797F"/>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Steg 1–3: från ord till handling</a:t>
            </a:r>
            <a:endParaRPr lang="sv-SE" sz="3000" dirty="0"/>
          </a:p>
        </p:txBody>
      </p:sp>
      <p:sp>
        <p:nvSpPr>
          <p:cNvPr id="5" name="Shape 2"/>
          <p:cNvSpPr/>
          <p:nvPr/>
        </p:nvSpPr>
        <p:spPr>
          <a:xfrm>
            <a:off x="548640"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822960"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STEG 1</a:t>
            </a:r>
            <a:endParaRPr lang="sv-SE" sz="1400" dirty="0"/>
          </a:p>
        </p:txBody>
      </p:sp>
      <p:sp>
        <p:nvSpPr>
          <p:cNvPr id="7" name="Text 4"/>
          <p:cNvSpPr txBox="1"/>
          <p:nvPr/>
        </p:nvSpPr>
        <p:spPr>
          <a:xfrm>
            <a:off x="822960" y="2139696"/>
            <a:ext cx="2966618" cy="41148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Hårdnande ståndpunkter</a:t>
            </a:r>
            <a:endParaRPr lang="sv-SE" sz="2200" dirty="0"/>
          </a:p>
        </p:txBody>
      </p:sp>
      <p:sp>
        <p:nvSpPr>
          <p:cNvPr id="8" name="Text 5"/>
          <p:cNvSpPr txBox="1"/>
          <p:nvPr/>
        </p:nvSpPr>
        <p:spPr>
          <a:xfrm>
            <a:off x="822960" y="2670048"/>
            <a:ext cx="2966618" cy="213055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Åsikter blir ståndpunkter. Grupperingar bildas och fungerar som filter. Men parterna tror ännu på förnuftig argumentation.</a:t>
            </a:r>
            <a:endParaRPr lang="sv-SE" sz="1800" dirty="0"/>
          </a:p>
        </p:txBody>
      </p:sp>
      <p:sp>
        <p:nvSpPr>
          <p:cNvPr id="9" name="Shape 6"/>
          <p:cNvSpPr/>
          <p:nvPr/>
        </p:nvSpPr>
        <p:spPr>
          <a:xfrm>
            <a:off x="4338218"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10" name="Text 7"/>
          <p:cNvSpPr txBox="1"/>
          <p:nvPr/>
        </p:nvSpPr>
        <p:spPr>
          <a:xfrm>
            <a:off x="4612538"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STEG 2</a:t>
            </a:r>
            <a:endParaRPr lang="sv-SE" sz="1400" dirty="0"/>
          </a:p>
        </p:txBody>
      </p:sp>
      <p:sp>
        <p:nvSpPr>
          <p:cNvPr id="11" name="Text 8"/>
          <p:cNvSpPr txBox="1"/>
          <p:nvPr/>
        </p:nvSpPr>
        <p:spPr>
          <a:xfrm>
            <a:off x="4612538" y="2139696"/>
            <a:ext cx="2966618" cy="41148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Polarisering och debatt</a:t>
            </a:r>
            <a:endParaRPr lang="sv-SE" sz="2200" dirty="0"/>
          </a:p>
        </p:txBody>
      </p:sp>
      <p:sp>
        <p:nvSpPr>
          <p:cNvPr id="12" name="Text 9"/>
          <p:cNvSpPr txBox="1"/>
          <p:nvPr/>
        </p:nvSpPr>
        <p:spPr>
          <a:xfrm>
            <a:off x="4612538" y="2670048"/>
            <a:ext cx="2966618" cy="213055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Samtal blir debatter. Kvasi-rationella knep. Konflikten blir en fråga om prestige: vem företräder sin sak bäst?</a:t>
            </a:r>
            <a:endParaRPr lang="sv-SE" sz="1800" dirty="0"/>
          </a:p>
        </p:txBody>
      </p:sp>
      <p:sp>
        <p:nvSpPr>
          <p:cNvPr id="13" name="Shape 10"/>
          <p:cNvSpPr/>
          <p:nvPr/>
        </p:nvSpPr>
        <p:spPr>
          <a:xfrm>
            <a:off x="8127797"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14" name="Text 11"/>
          <p:cNvSpPr txBox="1"/>
          <p:nvPr/>
        </p:nvSpPr>
        <p:spPr>
          <a:xfrm>
            <a:off x="8402117"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005A5F"/>
                </a:solidFill>
                <a:latin typeface="Roboto Condensed" pitchFamily="34" charset="0"/>
                <a:ea typeface="Roboto Condensed" pitchFamily="34" charset="-122"/>
                <a:cs typeface="Roboto Condensed" pitchFamily="34" charset="-120"/>
              </a:rPr>
              <a:t>STEG 3</a:t>
            </a:r>
            <a:endParaRPr lang="sv-SE" sz="1400" dirty="0"/>
          </a:p>
        </p:txBody>
      </p:sp>
      <p:sp>
        <p:nvSpPr>
          <p:cNvPr id="15" name="Text 12"/>
          <p:cNvSpPr txBox="1"/>
          <p:nvPr/>
        </p:nvSpPr>
        <p:spPr>
          <a:xfrm>
            <a:off x="8402117" y="2139696"/>
            <a:ext cx="2966618" cy="41148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Handling i stället för ord</a:t>
            </a:r>
            <a:endParaRPr lang="sv-SE" sz="2200" dirty="0"/>
          </a:p>
        </p:txBody>
      </p:sp>
      <p:sp>
        <p:nvSpPr>
          <p:cNvPr id="16" name="Text 13"/>
          <p:cNvSpPr txBox="1"/>
          <p:nvPr/>
        </p:nvSpPr>
        <p:spPr>
          <a:xfrm>
            <a:off x="8402117" y="2670048"/>
            <a:ext cx="2966618" cy="213055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Tron på diskussion är borta. Icke-verbala signaler tolkas, och pessimistiskt. Ingen känner sig längre fullt ansvarig.</a:t>
            </a:r>
            <a:endParaRPr lang="sv-SE" sz="1800" dirty="0"/>
          </a:p>
        </p:txBody>
      </p:sp>
      <p:sp>
        <p:nvSpPr>
          <p:cNvPr id="17" name="Shape 14"/>
          <p:cNvSpPr/>
          <p:nvPr/>
        </p:nvSpPr>
        <p:spPr>
          <a:xfrm>
            <a:off x="548640" y="5212080"/>
            <a:ext cx="11094415" cy="960120"/>
          </a:xfrm>
          <a:prstGeom prst="roundRect">
            <a:avLst>
              <a:gd name="adj" fmla="val 9524"/>
            </a:avLst>
          </a:prstGeom>
          <a:solidFill>
            <a:srgbClr val="E6F5F6"/>
          </a:solidFill>
          <a:ln w="12700">
            <a:solidFill>
              <a:srgbClr val="E6F5F6"/>
            </a:solidFill>
            <a:prstDash val="solid"/>
          </a:ln>
        </p:spPr>
        <p:txBody>
          <a:bodyPr/>
          <a:lstStyle/>
          <a:p>
            <a:endParaRPr lang="sv-SE"/>
          </a:p>
        </p:txBody>
      </p:sp>
      <p:sp>
        <p:nvSpPr>
          <p:cNvPr id="18" name="Text 15"/>
          <p:cNvSpPr txBox="1"/>
          <p:nvPr/>
        </p:nvSpPr>
        <p:spPr>
          <a:xfrm>
            <a:off x="868680" y="5212080"/>
            <a:ext cx="10454335" cy="960120"/>
          </a:xfrm>
          <a:prstGeom prst="rect">
            <a:avLst/>
          </a:prstGeom>
          <a:noFill/>
          <a:ln/>
        </p:spPr>
        <p:txBody>
          <a:bodyPr wrap="square" lIns="0" tIns="0" rIns="0" bIns="0" rtlCol="0" anchor="ctr"/>
          <a:lstStyle/>
          <a:p>
            <a:pPr marL="0" indent="0">
              <a:buNone/>
            </a:pPr>
            <a:r>
              <a:rPr lang="sv-SE" altLang="en-US" sz="1800" b="1" dirty="0">
                <a:solidFill>
                  <a:srgbClr val="005A5F"/>
                </a:solidFill>
                <a:latin typeface="Roboto Condensed" pitchFamily="34" charset="0"/>
                <a:ea typeface="Roboto Condensed" pitchFamily="34" charset="-122"/>
                <a:cs typeface="Roboto Condensed" pitchFamily="34" charset="-120"/>
              </a:rPr>
              <a:t>Trösklar  </a:t>
            </a:r>
            <a:r>
              <a:rPr lang="sv-SE" altLang="en-US" sz="1650" dirty="0">
                <a:solidFill>
                  <a:srgbClr val="1A1A1A"/>
                </a:solidFill>
                <a:latin typeface="Roboto Condensed" pitchFamily="34" charset="0"/>
                <a:ea typeface="Roboto Condensed" pitchFamily="34" charset="-122"/>
                <a:cs typeface="Roboto Condensed" pitchFamily="34" charset="-120"/>
              </a:rPr>
              <a:t>Manipulativa argument (1 till 2) · Fullbordat faktum (2 till 3) · Förtäckta personangrepp (3 till 4)</a:t>
            </a:r>
            <a:endParaRPr lang="sv-SE"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EXTRABILD · FAS 2 · VINNA–FÖRLORA</a:t>
            </a:r>
            <a:endParaRPr lang="sv-SE" sz="1400" dirty="0"/>
          </a:p>
        </p:txBody>
      </p:sp>
      <p:sp>
        <p:nvSpPr>
          <p:cNvPr id="4" name="Text 1"/>
          <p:cNvSpPr txBox="1"/>
          <p:nvPr/>
        </p:nvSpPr>
        <p:spPr>
          <a:xfrm rot="21480000">
            <a:off x="548640" y="502920"/>
            <a:ext cx="5162702"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Steg 4–6: relationen tar över</a:t>
            </a:r>
            <a:endParaRPr lang="sv-SE" sz="3000" dirty="0"/>
          </a:p>
        </p:txBody>
      </p:sp>
      <p:sp>
        <p:nvSpPr>
          <p:cNvPr id="5" name="Shape 2"/>
          <p:cNvSpPr/>
          <p:nvPr/>
        </p:nvSpPr>
        <p:spPr>
          <a:xfrm>
            <a:off x="548640"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822960"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4</a:t>
            </a:r>
            <a:endParaRPr lang="sv-SE" sz="1400" dirty="0"/>
          </a:p>
        </p:txBody>
      </p:sp>
      <p:sp>
        <p:nvSpPr>
          <p:cNvPr id="7" name="Text 4"/>
          <p:cNvSpPr txBox="1"/>
          <p:nvPr/>
        </p:nvSpPr>
        <p:spPr>
          <a:xfrm>
            <a:off x="822960" y="2139696"/>
            <a:ext cx="2966618"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Värnad image och koalitioner</a:t>
            </a:r>
            <a:endParaRPr lang="sv-SE" sz="2200" dirty="0"/>
          </a:p>
        </p:txBody>
      </p:sp>
      <p:sp>
        <p:nvSpPr>
          <p:cNvPr id="8" name="Text 5"/>
          <p:cNvSpPr txBox="1"/>
          <p:nvPr/>
        </p:nvSpPr>
        <p:spPr>
          <a:xfrm>
            <a:off x="822960" y="3035808"/>
            <a:ext cx="2966618" cy="176479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Svart eller vitt. Fixerade stereotyper. Dementerbart straffbeteende: ironi, antydningar. Man söker allierade. »Jag bara reagerar.«</a:t>
            </a:r>
            <a:endParaRPr lang="sv-SE" sz="1800" dirty="0"/>
          </a:p>
        </p:txBody>
      </p:sp>
      <p:sp>
        <p:nvSpPr>
          <p:cNvPr id="9" name="Shape 6"/>
          <p:cNvSpPr/>
          <p:nvPr/>
        </p:nvSpPr>
        <p:spPr>
          <a:xfrm>
            <a:off x="4338218"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10" name="Text 7"/>
          <p:cNvSpPr txBox="1"/>
          <p:nvPr/>
        </p:nvSpPr>
        <p:spPr>
          <a:xfrm>
            <a:off x="4612538"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5</a:t>
            </a:r>
            <a:endParaRPr lang="sv-SE" sz="1400" dirty="0"/>
          </a:p>
        </p:txBody>
      </p:sp>
      <p:sp>
        <p:nvSpPr>
          <p:cNvPr id="11" name="Text 8"/>
          <p:cNvSpPr txBox="1"/>
          <p:nvPr/>
        </p:nvSpPr>
        <p:spPr>
          <a:xfrm>
            <a:off x="4612538" y="2139696"/>
            <a:ext cx="2966618"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Ansiktsförlust</a:t>
            </a:r>
            <a:endParaRPr lang="sv-SE" sz="2200" dirty="0"/>
          </a:p>
        </p:txBody>
      </p:sp>
      <p:sp>
        <p:nvSpPr>
          <p:cNvPr id="12" name="Text 9"/>
          <p:cNvSpPr txBox="1"/>
          <p:nvPr/>
        </p:nvSpPr>
        <p:spPr>
          <a:xfrm>
            <a:off x="4612538" y="3035808"/>
            <a:ext cx="2966618" cy="176479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»Plötsligt föll fjällen från mina ögon.« Motparten var oärlig från början. Gamla händelser omtolkas. Kroppslig avsky.</a:t>
            </a:r>
            <a:endParaRPr lang="sv-SE" sz="1800" dirty="0"/>
          </a:p>
        </p:txBody>
      </p:sp>
      <p:sp>
        <p:nvSpPr>
          <p:cNvPr id="13" name="Shape 10"/>
          <p:cNvSpPr/>
          <p:nvPr/>
        </p:nvSpPr>
        <p:spPr>
          <a:xfrm>
            <a:off x="8127797"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14" name="Text 11"/>
          <p:cNvSpPr txBox="1"/>
          <p:nvPr/>
        </p:nvSpPr>
        <p:spPr>
          <a:xfrm>
            <a:off x="8402117"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6</a:t>
            </a:r>
            <a:endParaRPr lang="sv-SE" sz="1400" dirty="0"/>
          </a:p>
        </p:txBody>
      </p:sp>
      <p:sp>
        <p:nvSpPr>
          <p:cNvPr id="15" name="Text 12"/>
          <p:cNvSpPr txBox="1"/>
          <p:nvPr/>
        </p:nvSpPr>
        <p:spPr>
          <a:xfrm>
            <a:off x="8402117" y="2139696"/>
            <a:ext cx="2966618" cy="77724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Strategiska hot</a:t>
            </a:r>
            <a:endParaRPr lang="sv-SE" sz="2200" dirty="0"/>
          </a:p>
        </p:txBody>
      </p:sp>
      <p:sp>
        <p:nvSpPr>
          <p:cNvPr id="16" name="Text 13"/>
          <p:cNvSpPr txBox="1"/>
          <p:nvPr/>
        </p:nvSpPr>
        <p:spPr>
          <a:xfrm>
            <a:off x="8402117" y="3035808"/>
            <a:ext cx="2966618" cy="176479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Ultimatum för att tvinga fram lydnad. Hotet binder den som hotar. Utgår från värsta fall och framkallar ofta just det.</a:t>
            </a:r>
            <a:endParaRPr lang="sv-SE" sz="1800" dirty="0"/>
          </a:p>
        </p:txBody>
      </p:sp>
      <p:sp>
        <p:nvSpPr>
          <p:cNvPr id="17" name="Shape 14"/>
          <p:cNvSpPr/>
          <p:nvPr/>
        </p:nvSpPr>
        <p:spPr>
          <a:xfrm>
            <a:off x="548640" y="5212080"/>
            <a:ext cx="11094415" cy="960120"/>
          </a:xfrm>
          <a:prstGeom prst="roundRect">
            <a:avLst>
              <a:gd name="adj" fmla="val 9524"/>
            </a:avLst>
          </a:prstGeom>
          <a:solidFill>
            <a:srgbClr val="F8E0D8"/>
          </a:solidFill>
          <a:ln w="12700">
            <a:solidFill>
              <a:srgbClr val="F8E0D8"/>
            </a:solidFill>
            <a:prstDash val="solid"/>
          </a:ln>
        </p:spPr>
        <p:txBody>
          <a:bodyPr/>
          <a:lstStyle/>
          <a:p>
            <a:endParaRPr lang="sv-SE"/>
          </a:p>
        </p:txBody>
      </p:sp>
      <p:sp>
        <p:nvSpPr>
          <p:cNvPr id="18" name="Text 15"/>
          <p:cNvSpPr txBox="1"/>
          <p:nvPr/>
        </p:nvSpPr>
        <p:spPr>
          <a:xfrm>
            <a:off x="868680" y="5212080"/>
            <a:ext cx="10454335" cy="960120"/>
          </a:xfrm>
          <a:prstGeom prst="rect">
            <a:avLst/>
          </a:prstGeom>
          <a:noFill/>
          <a:ln/>
        </p:spPr>
        <p:txBody>
          <a:bodyPr wrap="square" lIns="0" tIns="0" rIns="0" bIns="0" rtlCol="0" anchor="ctr"/>
          <a:lstStyle/>
          <a:p>
            <a:pPr marL="0" indent="0">
              <a:buNone/>
            </a:pPr>
            <a:r>
              <a:rPr lang="sv-SE" altLang="en-US" sz="1800" b="1" dirty="0">
                <a:solidFill>
                  <a:srgbClr val="A50D1E"/>
                </a:solidFill>
                <a:latin typeface="Roboto Condensed" pitchFamily="34" charset="0"/>
                <a:ea typeface="Roboto Condensed" pitchFamily="34" charset="-122"/>
                <a:cs typeface="Roboto Condensed" pitchFamily="34" charset="-120"/>
              </a:rPr>
              <a:t>Trösklar  </a:t>
            </a:r>
            <a:r>
              <a:rPr lang="sv-SE" altLang="en-US" sz="1650" dirty="0">
                <a:solidFill>
                  <a:srgbClr val="1A1A1A"/>
                </a:solidFill>
                <a:latin typeface="Roboto Condensed" pitchFamily="34" charset="0"/>
                <a:ea typeface="Roboto Condensed" pitchFamily="34" charset="-122"/>
                <a:cs typeface="Roboto Condensed" pitchFamily="34" charset="-120"/>
              </a:rPr>
              <a:t>Offentlig kränkning av anseendet (4 till 5) · Ultimatum och hot (5 till 6) · Angrepp på motpartens maktmedel (6 till 7)</a:t>
            </a:r>
            <a:endParaRPr lang="sv-SE"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EXTRABILD · FAS 3 · FÖRLORA–FÖRLORA</a:t>
            </a:r>
            <a:endParaRPr lang="sv-SE" sz="1400" dirty="0"/>
          </a:p>
        </p:txBody>
      </p:sp>
      <p:sp>
        <p:nvSpPr>
          <p:cNvPr id="4" name="Text 1"/>
          <p:cNvSpPr txBox="1"/>
          <p:nvPr/>
        </p:nvSpPr>
        <p:spPr>
          <a:xfrm rot="21480000">
            <a:off x="548640" y="502920"/>
            <a:ext cx="5321808" cy="713232"/>
          </a:xfrm>
          <a:prstGeom prst="rect">
            <a:avLst/>
          </a:prstGeom>
          <a:solidFill>
            <a:srgbClr val="A50D1E"/>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Steg 7–9: att skada blir målet</a:t>
            </a:r>
            <a:endParaRPr lang="sv-SE" sz="3000" dirty="0"/>
          </a:p>
        </p:txBody>
      </p:sp>
      <p:sp>
        <p:nvSpPr>
          <p:cNvPr id="5" name="Shape 2"/>
          <p:cNvSpPr/>
          <p:nvPr/>
        </p:nvSpPr>
        <p:spPr>
          <a:xfrm>
            <a:off x="548640"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6" name="Text 3"/>
          <p:cNvSpPr txBox="1"/>
          <p:nvPr/>
        </p:nvSpPr>
        <p:spPr>
          <a:xfrm>
            <a:off x="822960"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7</a:t>
            </a:r>
            <a:endParaRPr lang="sv-SE" sz="1400" dirty="0"/>
          </a:p>
        </p:txBody>
      </p:sp>
      <p:sp>
        <p:nvSpPr>
          <p:cNvPr id="7" name="Text 4"/>
          <p:cNvSpPr txBox="1"/>
          <p:nvPr/>
        </p:nvSpPr>
        <p:spPr>
          <a:xfrm>
            <a:off x="822960" y="2139696"/>
            <a:ext cx="2966618" cy="41148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Begränsade förintelseslag</a:t>
            </a:r>
            <a:endParaRPr lang="sv-SE" sz="2200" dirty="0"/>
          </a:p>
        </p:txBody>
      </p:sp>
      <p:sp>
        <p:nvSpPr>
          <p:cNvPr id="8" name="Text 5"/>
          <p:cNvSpPr txBox="1"/>
          <p:nvPr/>
        </p:nvSpPr>
        <p:spPr>
          <a:xfrm>
            <a:off x="822960" y="2670048"/>
            <a:ext cx="2966618" cy="213055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Motparten ses som ett ting utan mänskligt värde. Slag mot dess sanktionsmakt. Den andres förlust bokförs som egen vinst.</a:t>
            </a:r>
            <a:endParaRPr lang="sv-SE" sz="1800" dirty="0"/>
          </a:p>
        </p:txBody>
      </p:sp>
      <p:sp>
        <p:nvSpPr>
          <p:cNvPr id="9" name="Shape 6"/>
          <p:cNvSpPr/>
          <p:nvPr/>
        </p:nvSpPr>
        <p:spPr>
          <a:xfrm>
            <a:off x="4338218"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10" name="Text 7"/>
          <p:cNvSpPr txBox="1"/>
          <p:nvPr/>
        </p:nvSpPr>
        <p:spPr>
          <a:xfrm>
            <a:off x="4612538"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8</a:t>
            </a:r>
            <a:endParaRPr lang="sv-SE" sz="1400" dirty="0"/>
          </a:p>
        </p:txBody>
      </p:sp>
      <p:sp>
        <p:nvSpPr>
          <p:cNvPr id="11" name="Text 8"/>
          <p:cNvSpPr txBox="1"/>
          <p:nvPr/>
        </p:nvSpPr>
        <p:spPr>
          <a:xfrm>
            <a:off x="4612538" y="2139696"/>
            <a:ext cx="2966618" cy="41148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Attack mot nervcentra</a:t>
            </a:r>
            <a:endParaRPr lang="sv-SE" sz="2200" dirty="0"/>
          </a:p>
        </p:txBody>
      </p:sp>
      <p:sp>
        <p:nvSpPr>
          <p:cNvPr id="12" name="Text 9"/>
          <p:cNvSpPr txBox="1"/>
          <p:nvPr/>
        </p:nvSpPr>
        <p:spPr>
          <a:xfrm>
            <a:off x="4612538" y="2670048"/>
            <a:ext cx="2966618" cy="213055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Angrepp på det som håller motparten samman: ledning, legitimitet, identitet. Målet är att motparten faller isär.</a:t>
            </a:r>
            <a:endParaRPr lang="sv-SE" sz="1800" dirty="0"/>
          </a:p>
        </p:txBody>
      </p:sp>
      <p:sp>
        <p:nvSpPr>
          <p:cNvPr id="13" name="Shape 10"/>
          <p:cNvSpPr/>
          <p:nvPr/>
        </p:nvSpPr>
        <p:spPr>
          <a:xfrm>
            <a:off x="8127797" y="1554480"/>
            <a:ext cx="3515258" cy="3429000"/>
          </a:xfrm>
          <a:prstGeom prst="roundRect">
            <a:avLst>
              <a:gd name="adj" fmla="val 2667"/>
            </a:avLst>
          </a:prstGeom>
          <a:solidFill>
            <a:srgbClr val="F2F0EF"/>
          </a:solidFill>
          <a:ln w="12700">
            <a:solidFill>
              <a:srgbClr val="F2F0EF"/>
            </a:solidFill>
            <a:prstDash val="solid"/>
          </a:ln>
        </p:spPr>
        <p:txBody>
          <a:bodyPr/>
          <a:lstStyle/>
          <a:p>
            <a:endParaRPr lang="sv-SE"/>
          </a:p>
        </p:txBody>
      </p:sp>
      <p:sp>
        <p:nvSpPr>
          <p:cNvPr id="14" name="Text 11"/>
          <p:cNvSpPr txBox="1"/>
          <p:nvPr/>
        </p:nvSpPr>
        <p:spPr>
          <a:xfrm>
            <a:off x="8402117" y="1810512"/>
            <a:ext cx="2966618" cy="274320"/>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STEG 9</a:t>
            </a:r>
            <a:endParaRPr lang="sv-SE" sz="1400" dirty="0"/>
          </a:p>
        </p:txBody>
      </p:sp>
      <p:sp>
        <p:nvSpPr>
          <p:cNvPr id="15" name="Text 12"/>
          <p:cNvSpPr txBox="1"/>
          <p:nvPr/>
        </p:nvSpPr>
        <p:spPr>
          <a:xfrm>
            <a:off x="8402117" y="2139696"/>
            <a:ext cx="2966618" cy="411480"/>
          </a:xfrm>
          <a:prstGeom prst="rect">
            <a:avLst/>
          </a:prstGeom>
          <a:noFill/>
          <a:ln/>
        </p:spPr>
        <p:txBody>
          <a:bodyPr wrap="square" lIns="0" tIns="0" rIns="0" bIns="0" rtlCol="0" anchor="t"/>
          <a:lstStyle/>
          <a:p>
            <a:pPr marL="0" indent="0">
              <a:buNone/>
            </a:pPr>
            <a:r>
              <a:rPr lang="sv-SE" altLang="en-US" sz="2200" b="1" dirty="0">
                <a:solidFill>
                  <a:srgbClr val="1A1A1A"/>
                </a:solidFill>
                <a:latin typeface="Roboto Condensed" pitchFamily="34" charset="0"/>
                <a:ea typeface="Roboto Condensed" pitchFamily="34" charset="-122"/>
                <a:cs typeface="Roboto Condensed" pitchFamily="34" charset="-120"/>
              </a:rPr>
              <a:t>Total förintelse</a:t>
            </a:r>
            <a:endParaRPr lang="sv-SE" sz="2200" dirty="0"/>
          </a:p>
        </p:txBody>
      </p:sp>
      <p:sp>
        <p:nvSpPr>
          <p:cNvPr id="16" name="Text 13"/>
          <p:cNvSpPr txBox="1"/>
          <p:nvPr/>
        </p:nvSpPr>
        <p:spPr>
          <a:xfrm>
            <a:off x="8402117" y="2670048"/>
            <a:ext cx="2966618" cy="2130552"/>
          </a:xfrm>
          <a:prstGeom prst="rect">
            <a:avLst/>
          </a:prstGeom>
          <a:noFill/>
          <a:ln/>
        </p:spPr>
        <p:txBody>
          <a:bodyPr wrap="square" lIns="0" tIns="0" rIns="0" bIns="0" rtlCol="0" anchor="t"/>
          <a:lstStyle/>
          <a:p>
            <a:pPr marL="0" indent="0">
              <a:spcAft>
                <a:spcPts val="600"/>
              </a:spcAft>
              <a:buNone/>
            </a:pPr>
            <a:r>
              <a:rPr lang="sv-SE" altLang="en-US" sz="1800" dirty="0">
                <a:solidFill>
                  <a:srgbClr val="1A1A1A"/>
                </a:solidFill>
                <a:latin typeface="Georgia" pitchFamily="34" charset="0"/>
                <a:ea typeface="Georgia" pitchFamily="34" charset="-122"/>
                <a:cs typeface="Georgia" pitchFamily="34" charset="-120"/>
              </a:rPr>
              <a:t>Självbevarelsedriften sätts ur spel. Fienden ska falla även till priset av egen undergång.</a:t>
            </a:r>
            <a:endParaRPr lang="sv-SE" sz="1800" dirty="0"/>
          </a:p>
        </p:txBody>
      </p:sp>
      <p:sp>
        <p:nvSpPr>
          <p:cNvPr id="17" name="Shape 14"/>
          <p:cNvSpPr/>
          <p:nvPr/>
        </p:nvSpPr>
        <p:spPr>
          <a:xfrm>
            <a:off x="548640" y="5212080"/>
            <a:ext cx="11094415" cy="960120"/>
          </a:xfrm>
          <a:prstGeom prst="roundRect">
            <a:avLst>
              <a:gd name="adj" fmla="val 9524"/>
            </a:avLst>
          </a:prstGeom>
          <a:solidFill>
            <a:srgbClr val="F2F0EF"/>
          </a:solidFill>
          <a:ln w="12700">
            <a:solidFill>
              <a:srgbClr val="F2F0EF"/>
            </a:solidFill>
            <a:prstDash val="solid"/>
          </a:ln>
        </p:spPr>
        <p:txBody>
          <a:bodyPr/>
          <a:lstStyle/>
          <a:p>
            <a:endParaRPr lang="sv-SE"/>
          </a:p>
        </p:txBody>
      </p:sp>
      <p:sp>
        <p:nvSpPr>
          <p:cNvPr id="18" name="Text 15"/>
          <p:cNvSpPr txBox="1"/>
          <p:nvPr/>
        </p:nvSpPr>
        <p:spPr>
          <a:xfrm>
            <a:off x="868680" y="5212080"/>
            <a:ext cx="10454335" cy="960120"/>
          </a:xfrm>
          <a:prstGeom prst="rect">
            <a:avLst/>
          </a:prstGeom>
          <a:noFill/>
          <a:ln/>
        </p:spPr>
        <p:txBody>
          <a:bodyPr wrap="square" lIns="0" tIns="0" rIns="0" bIns="0" rtlCol="0" anchor="ctr"/>
          <a:lstStyle/>
          <a:p>
            <a:pPr marL="0" indent="0">
              <a:buNone/>
            </a:pPr>
            <a:r>
              <a:rPr lang="sv-SE" altLang="en-US" sz="1800" b="1" dirty="0">
                <a:solidFill>
                  <a:srgbClr val="A50D1E"/>
                </a:solidFill>
                <a:latin typeface="Roboto Condensed" pitchFamily="34" charset="0"/>
                <a:ea typeface="Roboto Condensed" pitchFamily="34" charset="-122"/>
                <a:cs typeface="Roboto Condensed" pitchFamily="34" charset="-120"/>
              </a:rPr>
              <a:t>Lärdom  </a:t>
            </a:r>
            <a:r>
              <a:rPr lang="sv-SE" altLang="en-US" sz="1650" dirty="0">
                <a:solidFill>
                  <a:srgbClr val="1A1A1A"/>
                </a:solidFill>
                <a:latin typeface="Roboto Condensed" pitchFamily="34" charset="0"/>
                <a:ea typeface="Roboto Condensed" pitchFamily="34" charset="-122"/>
                <a:cs typeface="Roboto Condensed" pitchFamily="34" charset="-120"/>
              </a:rPr>
              <a:t>Varje steg gör vägen tillbaka svårare. Det lönar sig att känna igen trösklarna tidigt, hos andra och hos sig själv.</a:t>
            </a:r>
            <a:endParaRPr lang="sv-SE"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EXTRABILD</a:t>
            </a:r>
            <a:endParaRPr lang="sv-SE" sz="1400" dirty="0"/>
          </a:p>
        </p:txBody>
      </p:sp>
      <p:sp>
        <p:nvSpPr>
          <p:cNvPr id="4" name="Text 1"/>
          <p:cNvSpPr txBox="1"/>
          <p:nvPr/>
        </p:nvSpPr>
        <p:spPr>
          <a:xfrm rot="21480000">
            <a:off x="548640" y="502920"/>
            <a:ext cx="5640019"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Vad förändras under eskalationen</a:t>
            </a:r>
            <a:endParaRPr lang="sv-SE" sz="3000" dirty="0"/>
          </a:p>
        </p:txBody>
      </p:sp>
      <p:sp>
        <p:nvSpPr>
          <p:cNvPr id="5" name="Text 2"/>
          <p:cNvSpPr txBox="1"/>
          <p:nvPr/>
        </p:nvSpPr>
        <p:spPr>
          <a:xfrm>
            <a:off x="548640" y="1508760"/>
            <a:ext cx="9875520" cy="68580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De mest genomgripande förändringarna sker i A-hörnet, och de sker utan att vi märker det.</a:t>
            </a:r>
            <a:endParaRPr lang="sv-SE" sz="1900" dirty="0"/>
          </a:p>
        </p:txBody>
      </p:sp>
      <p:sp>
        <p:nvSpPr>
          <p:cNvPr id="6" name="Shape 3"/>
          <p:cNvSpPr/>
          <p:nvPr/>
        </p:nvSpPr>
        <p:spPr>
          <a:xfrm>
            <a:off x="548640" y="2148840"/>
            <a:ext cx="11094415"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7" name="Shape 4"/>
          <p:cNvSpPr/>
          <p:nvPr/>
        </p:nvSpPr>
        <p:spPr>
          <a:xfrm>
            <a:off x="548640" y="2148840"/>
            <a:ext cx="2468880" cy="1188720"/>
          </a:xfrm>
          <a:prstGeom prst="roundRect">
            <a:avLst>
              <a:gd name="adj" fmla="val 7692"/>
            </a:avLst>
          </a:prstGeom>
          <a:solidFill>
            <a:srgbClr val="00797F"/>
          </a:solidFill>
          <a:ln w="12700">
            <a:solidFill>
              <a:srgbClr val="00797F"/>
            </a:solidFill>
            <a:prstDash val="solid"/>
          </a:ln>
        </p:spPr>
        <p:txBody>
          <a:bodyPr/>
          <a:lstStyle/>
          <a:p>
            <a:endParaRPr lang="sv-SE"/>
          </a:p>
        </p:txBody>
      </p:sp>
      <p:sp>
        <p:nvSpPr>
          <p:cNvPr id="8" name="Text 5"/>
          <p:cNvSpPr txBox="1"/>
          <p:nvPr/>
        </p:nvSpPr>
        <p:spPr>
          <a:xfrm>
            <a:off x="548640" y="2148840"/>
            <a:ext cx="2468880" cy="1188720"/>
          </a:xfrm>
          <a:prstGeom prst="rect">
            <a:avLst/>
          </a:prstGeom>
          <a:noFill/>
          <a:ln/>
        </p:spPr>
        <p:txBody>
          <a:bodyPr wrap="square" lIns="0" tIns="0" rIns="0" bIns="0" rtlCol="0" anchor="ctr"/>
          <a:lstStyle/>
          <a:p>
            <a:pPr marL="0" indent="0" algn="ctr">
              <a:buNone/>
            </a:pPr>
            <a:r>
              <a:rPr lang="sv-SE" altLang="en-US" sz="2400" b="1" dirty="0">
                <a:solidFill>
                  <a:srgbClr val="FFFFFF"/>
                </a:solidFill>
                <a:latin typeface="Roboto Condensed" pitchFamily="34" charset="0"/>
                <a:ea typeface="Roboto Condensed" pitchFamily="34" charset="-122"/>
                <a:cs typeface="Roboto Condensed" pitchFamily="34" charset="-120"/>
              </a:rPr>
              <a:t>Kognition</a:t>
            </a:r>
            <a:endParaRPr lang="sv-SE" sz="2400" dirty="0"/>
          </a:p>
        </p:txBody>
      </p:sp>
      <p:sp>
        <p:nvSpPr>
          <p:cNvPr id="9" name="Text 6"/>
          <p:cNvSpPr txBox="1"/>
          <p:nvPr/>
        </p:nvSpPr>
        <p:spPr>
          <a:xfrm>
            <a:off x="3291840" y="2148840"/>
            <a:ext cx="8076895" cy="1188720"/>
          </a:xfrm>
          <a:prstGeom prst="rect">
            <a:avLst/>
          </a:prstGeom>
          <a:noFill/>
          <a:ln/>
        </p:spPr>
        <p:txBody>
          <a:bodyPr wrap="square" lIns="0" tIns="0" rIns="0" bIns="0" rtlCol="0" anchor="ctr"/>
          <a:lstStyle/>
          <a:p>
            <a:pPr marL="0" indent="0">
              <a:buNone/>
            </a:pPr>
            <a:r>
              <a:rPr lang="sv-SE" altLang="en-US" sz="1800" dirty="0">
                <a:solidFill>
                  <a:srgbClr val="1A1A1A"/>
                </a:solidFill>
                <a:latin typeface="Georgia" pitchFamily="34" charset="0"/>
                <a:ea typeface="Georgia" pitchFamily="34" charset="-122"/>
                <a:cs typeface="Georgia" pitchFamily="34" charset="-120"/>
              </a:rPr>
              <a:t>Selektiv varseblivning: andras negativa sidor, egna positiva. Perspektivet krymper i tid och rum. Orsakssamband förenklas.</a:t>
            </a:r>
            <a:endParaRPr lang="sv-SE" sz="1800" dirty="0"/>
          </a:p>
        </p:txBody>
      </p:sp>
      <p:sp>
        <p:nvSpPr>
          <p:cNvPr id="10" name="Shape 7"/>
          <p:cNvSpPr/>
          <p:nvPr/>
        </p:nvSpPr>
        <p:spPr>
          <a:xfrm>
            <a:off x="548640" y="3520440"/>
            <a:ext cx="11094415"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11" name="Shape 8"/>
          <p:cNvSpPr/>
          <p:nvPr/>
        </p:nvSpPr>
        <p:spPr>
          <a:xfrm>
            <a:off x="548640" y="3520440"/>
            <a:ext cx="2468880" cy="1188720"/>
          </a:xfrm>
          <a:prstGeom prst="roundRect">
            <a:avLst>
              <a:gd name="adj" fmla="val 7692"/>
            </a:avLst>
          </a:prstGeom>
          <a:solidFill>
            <a:srgbClr val="00797F"/>
          </a:solidFill>
          <a:ln w="12700">
            <a:solidFill>
              <a:srgbClr val="00797F"/>
            </a:solidFill>
            <a:prstDash val="solid"/>
          </a:ln>
        </p:spPr>
        <p:txBody>
          <a:bodyPr/>
          <a:lstStyle/>
          <a:p>
            <a:endParaRPr lang="sv-SE"/>
          </a:p>
        </p:txBody>
      </p:sp>
      <p:sp>
        <p:nvSpPr>
          <p:cNvPr id="12" name="Text 9"/>
          <p:cNvSpPr txBox="1"/>
          <p:nvPr/>
        </p:nvSpPr>
        <p:spPr>
          <a:xfrm>
            <a:off x="548640" y="3520440"/>
            <a:ext cx="2468880" cy="1188720"/>
          </a:xfrm>
          <a:prstGeom prst="rect">
            <a:avLst/>
          </a:prstGeom>
          <a:noFill/>
          <a:ln/>
        </p:spPr>
        <p:txBody>
          <a:bodyPr wrap="square" lIns="0" tIns="0" rIns="0" bIns="0" rtlCol="0" anchor="ctr"/>
          <a:lstStyle/>
          <a:p>
            <a:pPr marL="0" indent="0" algn="ctr">
              <a:buNone/>
            </a:pPr>
            <a:r>
              <a:rPr lang="sv-SE" altLang="en-US" sz="2400" b="1" dirty="0">
                <a:solidFill>
                  <a:srgbClr val="FFFFFF"/>
                </a:solidFill>
                <a:latin typeface="Roboto Condensed" pitchFamily="34" charset="0"/>
                <a:ea typeface="Roboto Condensed" pitchFamily="34" charset="-122"/>
                <a:cs typeface="Roboto Condensed" pitchFamily="34" charset="-120"/>
              </a:rPr>
              <a:t>Känslor</a:t>
            </a:r>
            <a:endParaRPr lang="sv-SE" sz="2400" dirty="0"/>
          </a:p>
        </p:txBody>
      </p:sp>
      <p:sp>
        <p:nvSpPr>
          <p:cNvPr id="13" name="Text 10"/>
          <p:cNvSpPr txBox="1"/>
          <p:nvPr/>
        </p:nvSpPr>
        <p:spPr>
          <a:xfrm>
            <a:off x="3291840" y="3520440"/>
            <a:ext cx="8076895" cy="1188720"/>
          </a:xfrm>
          <a:prstGeom prst="rect">
            <a:avLst/>
          </a:prstGeom>
          <a:noFill/>
          <a:ln/>
        </p:spPr>
        <p:txBody>
          <a:bodyPr wrap="square" lIns="0" tIns="0" rIns="0" bIns="0" rtlCol="0" anchor="ctr"/>
          <a:lstStyle/>
          <a:p>
            <a:pPr marL="0" indent="0">
              <a:buNone/>
            </a:pPr>
            <a:r>
              <a:rPr lang="sv-SE" altLang="en-US" sz="1800" dirty="0">
                <a:solidFill>
                  <a:srgbClr val="1A1A1A"/>
                </a:solidFill>
                <a:latin typeface="Georgia" pitchFamily="34" charset="0"/>
                <a:ea typeface="Georgia" pitchFamily="34" charset="-122"/>
                <a:cs typeface="Georgia" pitchFamily="34" charset="-120"/>
              </a:rPr>
              <a:t>Lättretlighet. Sympati inåt, antipati utåt. Man döljer vad man känner. Empatin minskar drastiskt.</a:t>
            </a:r>
            <a:endParaRPr lang="sv-SE" sz="1800" dirty="0"/>
          </a:p>
        </p:txBody>
      </p:sp>
      <p:sp>
        <p:nvSpPr>
          <p:cNvPr id="14" name="Shape 11"/>
          <p:cNvSpPr/>
          <p:nvPr/>
        </p:nvSpPr>
        <p:spPr>
          <a:xfrm>
            <a:off x="548640" y="4892040"/>
            <a:ext cx="11094415" cy="1188720"/>
          </a:xfrm>
          <a:prstGeom prst="roundRect">
            <a:avLst>
              <a:gd name="adj" fmla="val 7692"/>
            </a:avLst>
          </a:prstGeom>
          <a:solidFill>
            <a:srgbClr val="F2F0EF"/>
          </a:solidFill>
          <a:ln w="12700">
            <a:solidFill>
              <a:srgbClr val="F2F0EF"/>
            </a:solidFill>
            <a:prstDash val="solid"/>
          </a:ln>
        </p:spPr>
        <p:txBody>
          <a:bodyPr/>
          <a:lstStyle/>
          <a:p>
            <a:endParaRPr lang="sv-SE"/>
          </a:p>
        </p:txBody>
      </p:sp>
      <p:sp>
        <p:nvSpPr>
          <p:cNvPr id="15" name="Shape 12"/>
          <p:cNvSpPr/>
          <p:nvPr/>
        </p:nvSpPr>
        <p:spPr>
          <a:xfrm>
            <a:off x="548640" y="4892040"/>
            <a:ext cx="2468880" cy="1188720"/>
          </a:xfrm>
          <a:prstGeom prst="roundRect">
            <a:avLst>
              <a:gd name="adj" fmla="val 7692"/>
            </a:avLst>
          </a:prstGeom>
          <a:solidFill>
            <a:srgbClr val="00797F"/>
          </a:solidFill>
          <a:ln w="12700">
            <a:solidFill>
              <a:srgbClr val="00797F"/>
            </a:solidFill>
            <a:prstDash val="solid"/>
          </a:ln>
        </p:spPr>
        <p:txBody>
          <a:bodyPr/>
          <a:lstStyle/>
          <a:p>
            <a:endParaRPr lang="sv-SE"/>
          </a:p>
        </p:txBody>
      </p:sp>
      <p:sp>
        <p:nvSpPr>
          <p:cNvPr id="16" name="Text 13"/>
          <p:cNvSpPr txBox="1"/>
          <p:nvPr/>
        </p:nvSpPr>
        <p:spPr>
          <a:xfrm>
            <a:off x="548640" y="4892040"/>
            <a:ext cx="2468880" cy="1188720"/>
          </a:xfrm>
          <a:prstGeom prst="rect">
            <a:avLst/>
          </a:prstGeom>
          <a:noFill/>
          <a:ln/>
        </p:spPr>
        <p:txBody>
          <a:bodyPr wrap="square" lIns="0" tIns="0" rIns="0" bIns="0" rtlCol="0" anchor="ctr"/>
          <a:lstStyle/>
          <a:p>
            <a:pPr marL="0" indent="0" algn="ctr">
              <a:buNone/>
            </a:pPr>
            <a:r>
              <a:rPr lang="sv-SE" altLang="en-US" sz="2400" b="1" dirty="0">
                <a:solidFill>
                  <a:srgbClr val="FFFFFF"/>
                </a:solidFill>
                <a:latin typeface="Roboto Condensed" pitchFamily="34" charset="0"/>
                <a:ea typeface="Roboto Condensed" pitchFamily="34" charset="-122"/>
                <a:cs typeface="Roboto Condensed" pitchFamily="34" charset="-120"/>
              </a:rPr>
              <a:t>Motivation</a:t>
            </a:r>
            <a:endParaRPr lang="sv-SE" sz="2400" dirty="0"/>
          </a:p>
        </p:txBody>
      </p:sp>
      <p:sp>
        <p:nvSpPr>
          <p:cNvPr id="17" name="Text 14"/>
          <p:cNvSpPr txBox="1"/>
          <p:nvPr/>
        </p:nvSpPr>
        <p:spPr>
          <a:xfrm>
            <a:off x="3291840" y="4892040"/>
            <a:ext cx="8076895" cy="1188720"/>
          </a:xfrm>
          <a:prstGeom prst="rect">
            <a:avLst/>
          </a:prstGeom>
          <a:noFill/>
          <a:ln/>
        </p:spPr>
        <p:txBody>
          <a:bodyPr wrap="square" lIns="0" tIns="0" rIns="0" bIns="0" rtlCol="0" anchor="ctr"/>
          <a:lstStyle/>
          <a:p>
            <a:pPr marL="0" indent="0">
              <a:buNone/>
            </a:pPr>
            <a:r>
              <a:rPr lang="sv-SE" altLang="en-US" sz="1800" dirty="0">
                <a:solidFill>
                  <a:srgbClr val="1A1A1A"/>
                </a:solidFill>
                <a:latin typeface="Georgia" pitchFamily="34" charset="0"/>
                <a:ea typeface="Georgia" pitchFamily="34" charset="-122"/>
                <a:cs typeface="Georgia" pitchFamily="34" charset="-120"/>
              </a:rPr>
              <a:t>Fixerade ståndpunkter. Bara ett sätt att lösa frågan. Från egna intressen till att skada motparten och vinna tvekampen.</a:t>
            </a:r>
            <a:endParaRPr lang="sv-SE"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5">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EXTRABILD</a:t>
            </a:r>
            <a:endParaRPr lang="sv-SE" sz="1400" dirty="0"/>
          </a:p>
        </p:txBody>
      </p:sp>
      <p:sp>
        <p:nvSpPr>
          <p:cNvPr id="4" name="Text 1"/>
          <p:cNvSpPr txBox="1"/>
          <p:nvPr/>
        </p:nvSpPr>
        <p:spPr>
          <a:xfrm rot="21480000">
            <a:off x="548640" y="502920"/>
            <a:ext cx="3412541"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Sex inre processer</a:t>
            </a:r>
            <a:endParaRPr lang="sv-SE"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026664">
                  <a:extLst>
                    <a:ext uri="{9D8B030D-6E8A-4147-A177-3AD203B41FA5}">
                      <a16:colId xmlns:a16="http://schemas.microsoft.com/office/drawing/2014/main" val="20001"/>
                    </a:ext>
                  </a:extLst>
                </a:gridCol>
                <a:gridCol w="3026664">
                  <a:extLst>
                    <a:ext uri="{9D8B030D-6E8A-4147-A177-3AD203B41FA5}">
                      <a16:colId xmlns:a16="http://schemas.microsoft.com/office/drawing/2014/main" val="20002"/>
                    </a:ext>
                  </a:extLst>
                </a:gridCol>
                <a:gridCol w="3026664">
                  <a:extLst>
                    <a:ext uri="{9D8B030D-6E8A-4147-A177-3AD203B41FA5}">
                      <a16:colId xmlns:a16="http://schemas.microsoft.com/office/drawing/2014/main" val="20003"/>
                    </a:ext>
                  </a:extLst>
                </a:gridCol>
              </a:tblGrid>
              <a:tr h="411480">
                <a:tc>
                  <a:txBody>
                    <a:bodyPr/>
                    <a:lstStyle/>
                    <a:p>
                      <a:pPr marL="0" indent="0">
                        <a:buNone/>
                      </a:pPr>
                      <a:r>
                        <a:rPr lang="en-US" sz="1600" b="1" dirty="0">
                          <a:solidFill>
                            <a:srgbClr val="4A4A4A"/>
                          </a:solidFill>
                          <a:latin typeface="Roboto Condensed" pitchFamily="34" charset="0"/>
                          <a:ea typeface="Roboto Condensed" pitchFamily="34" charset="-122"/>
                          <a:cs typeface="Roboto Condensed" pitchFamily="34" charset="-120"/>
                        </a:rPr>
                        <a:t>Process</a:t>
                      </a:r>
                      <a:endParaRPr lang="en-US" sz="1600" dirty="0">
                        <a:latin typeface="Roboto Condensed" charset="0"/>
                        <a:ea typeface="Roboto Condensed" charset="0"/>
                        <a:cs typeface="Roboto Condensed" charset="0"/>
                      </a:endParaRPr>
                    </a:p>
                  </a:txBody>
                  <a:tcPr anchor="b">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b="1" dirty="0">
                          <a:solidFill>
                            <a:srgbClr val="A50D1E"/>
                          </a:solidFill>
                          <a:latin typeface="Roboto Condensed" pitchFamily="34" charset="0"/>
                          <a:ea typeface="Roboto Condensed" pitchFamily="34" charset="-122"/>
                          <a:cs typeface="Roboto Condensed" pitchFamily="34" charset="-120"/>
                        </a:rPr>
                        <a:t>I. Varsebli</a:t>
                      </a:r>
                      <a:endParaRPr lang="en-US" sz="1600" dirty="0">
                        <a:latin typeface="Roboto Condensed" charset="0"/>
                        <a:ea typeface="Roboto Condensed" charset="0"/>
                        <a:cs typeface="Roboto Condensed" charset="0"/>
                      </a:endParaRPr>
                    </a:p>
                  </a:txBody>
                  <a:tcPr anchor="b">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b="1" dirty="0">
                          <a:solidFill>
                            <a:srgbClr val="A50D1E"/>
                          </a:solidFill>
                          <a:latin typeface="Roboto Condensed" pitchFamily="34" charset="0"/>
                          <a:ea typeface="Roboto Condensed" pitchFamily="34" charset="-122"/>
                          <a:cs typeface="Roboto Condensed" pitchFamily="34" charset="-120"/>
                        </a:rPr>
                        <a:t>II. Tolka och utvärdera</a:t>
                      </a:r>
                      <a:endParaRPr lang="en-US" sz="1600" dirty="0">
                        <a:latin typeface="Roboto Condensed" charset="0"/>
                        <a:ea typeface="Roboto Condensed" charset="0"/>
                        <a:cs typeface="Roboto Condensed" charset="0"/>
                      </a:endParaRPr>
                    </a:p>
                  </a:txBody>
                  <a:tcPr anchor="b">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b="1" dirty="0">
                          <a:solidFill>
                            <a:srgbClr val="A50D1E"/>
                          </a:solidFill>
                          <a:latin typeface="Roboto Condensed" pitchFamily="34" charset="0"/>
                          <a:ea typeface="Roboto Condensed" pitchFamily="34" charset="-122"/>
                          <a:cs typeface="Roboto Condensed" pitchFamily="34" charset="-120"/>
                        </a:rPr>
                        <a:t>III. Transformera</a:t>
                      </a:r>
                      <a:endParaRPr lang="en-US" sz="1600" dirty="0">
                        <a:latin typeface="Roboto Condensed" charset="0"/>
                        <a:ea typeface="Roboto Condensed" charset="0"/>
                        <a:cs typeface="Roboto Condensed" charset="0"/>
                      </a:endParaRPr>
                    </a:p>
                  </a:txBody>
                  <a:tcPr anchor="b">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58368">
                <a:tc>
                  <a:txBody>
                    <a:bodyPr/>
                    <a:lstStyle/>
                    <a:p>
                      <a:pPr marL="0" indent="0">
                        <a:buNone/>
                      </a:pPr>
                      <a:r>
                        <a:rPr lang="en-US" sz="1700" b="1" dirty="0">
                          <a:solidFill>
                            <a:srgbClr val="1A1A1A"/>
                          </a:solidFill>
                          <a:latin typeface="Roboto Condensed" pitchFamily="34" charset="0"/>
                          <a:ea typeface="Roboto Condensed" pitchFamily="34" charset="-122"/>
                          <a:cs typeface="Roboto Condensed" pitchFamily="34" charset="-120"/>
                        </a:rPr>
                        <a:t>Varseblivning</a:t>
                      </a:r>
                      <a:endParaRPr lang="en-US" sz="170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Formulera upplevelser till en sammanhängande berättelse</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Ta ställning till upplevelserna</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Omtolka dem så att de blir lärande</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E6F5F6"/>
                    </a:solidFill>
                  </a:tcPr>
                </a:tc>
                <a:extLst>
                  <a:ext uri="{0D108BD9-81ED-4DB2-BD59-A6C34878D82A}">
                    <a16:rowId xmlns:a16="http://schemas.microsoft.com/office/drawing/2014/main" val="10001"/>
                  </a:ext>
                </a:extLst>
              </a:tr>
              <a:tr h="658368">
                <a:tc>
                  <a:txBody>
                    <a:bodyPr/>
                    <a:lstStyle/>
                    <a:p>
                      <a:pPr marL="0" indent="0">
                        <a:buNone/>
                      </a:pPr>
                      <a:r>
                        <a:rPr lang="en-US" sz="1700" b="1" dirty="0">
                          <a:solidFill>
                            <a:srgbClr val="1A1A1A"/>
                          </a:solidFill>
                          <a:latin typeface="Roboto Condensed" pitchFamily="34" charset="0"/>
                          <a:ea typeface="Roboto Condensed" pitchFamily="34" charset="-122"/>
                          <a:cs typeface="Roboto Condensed" pitchFamily="34" charset="-120"/>
                        </a:rPr>
                        <a:t>Känslor</a:t>
                      </a:r>
                      <a:endParaRPr lang="en-US" sz="170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Sätta ord på vilka känslor jag har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Värdera om känslan är önskvärd</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Aktivt påverka känslor och stämningar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E6F5F6"/>
                    </a:solidFill>
                  </a:tcPr>
                </a:tc>
                <a:extLst>
                  <a:ext uri="{0D108BD9-81ED-4DB2-BD59-A6C34878D82A}">
                    <a16:rowId xmlns:a16="http://schemas.microsoft.com/office/drawing/2014/main" val="10002"/>
                  </a:ext>
                </a:extLst>
              </a:tr>
              <a:tr h="658368">
                <a:tc>
                  <a:txBody>
                    <a:bodyPr/>
                    <a:lstStyle/>
                    <a:p>
                      <a:pPr marL="0" indent="0">
                        <a:buNone/>
                      </a:pPr>
                      <a:r>
                        <a:rPr lang="en-US" sz="1700" b="1" dirty="0">
                          <a:solidFill>
                            <a:srgbClr val="1A1A1A"/>
                          </a:solidFill>
                          <a:latin typeface="Roboto Condensed" pitchFamily="34" charset="0"/>
                          <a:ea typeface="Roboto Condensed" pitchFamily="34" charset="-122"/>
                          <a:cs typeface="Roboto Condensed" pitchFamily="34" charset="-120"/>
                        </a:rPr>
                        <a:t>Tänkande</a:t>
                      </a:r>
                      <a:endParaRPr lang="en-US" sz="170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Notera egna tankemönster och tolkningar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Pröva om tolkningarna är adekvata</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Förändra invanda tankemönster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E6F5F6"/>
                    </a:solidFill>
                  </a:tcPr>
                </a:tc>
                <a:extLst>
                  <a:ext uri="{0D108BD9-81ED-4DB2-BD59-A6C34878D82A}">
                    <a16:rowId xmlns:a16="http://schemas.microsoft.com/office/drawing/2014/main" val="10003"/>
                  </a:ext>
                </a:extLst>
              </a:tr>
              <a:tr h="658368">
                <a:tc>
                  <a:txBody>
                    <a:bodyPr/>
                    <a:lstStyle/>
                    <a:p>
                      <a:pPr marL="0" indent="0">
                        <a:buNone/>
                      </a:pPr>
                      <a:r>
                        <a:rPr lang="en-US" sz="1700" b="1" dirty="0">
                          <a:solidFill>
                            <a:srgbClr val="1A1A1A"/>
                          </a:solidFill>
                          <a:latin typeface="Roboto Condensed" pitchFamily="34" charset="0"/>
                          <a:ea typeface="Roboto Condensed" pitchFamily="34" charset="-122"/>
                          <a:cs typeface="Roboto Condensed" pitchFamily="34" charset="-120"/>
                        </a:rPr>
                        <a:t>Tyckande</a:t>
                      </a:r>
                      <a:endParaRPr lang="en-US" sz="170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Notera att jag tycker bra eller illa om något</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Jämföra tyckandet med mina principer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Söka mer information, tänka om</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E6F5F6"/>
                    </a:solidFill>
                  </a:tcPr>
                </a:tc>
                <a:extLst>
                  <a:ext uri="{0D108BD9-81ED-4DB2-BD59-A6C34878D82A}">
                    <a16:rowId xmlns:a16="http://schemas.microsoft.com/office/drawing/2014/main" val="10004"/>
                  </a:ext>
                </a:extLst>
              </a:tr>
              <a:tr h="658368">
                <a:tc>
                  <a:txBody>
                    <a:bodyPr/>
                    <a:lstStyle/>
                    <a:p>
                      <a:pPr marL="0" indent="0">
                        <a:buNone/>
                      </a:pPr>
                      <a:r>
                        <a:rPr lang="en-US" sz="1700" b="1" dirty="0">
                          <a:solidFill>
                            <a:srgbClr val="1A1A1A"/>
                          </a:solidFill>
                          <a:latin typeface="Roboto Condensed" pitchFamily="34" charset="0"/>
                          <a:ea typeface="Roboto Condensed" pitchFamily="34" charset="-122"/>
                          <a:cs typeface="Roboto Condensed" pitchFamily="34" charset="-120"/>
                        </a:rPr>
                        <a:t>Önskningar</a:t>
                      </a:r>
                      <a:endParaRPr lang="en-US" sz="170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Artikulera egna motiv och önskemål</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Väga dem mot principiella värden och andras</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Omforma vad jag strävar efter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E6F5F6"/>
                    </a:solidFill>
                  </a:tcPr>
                </a:tc>
                <a:extLst>
                  <a:ext uri="{0D108BD9-81ED-4DB2-BD59-A6C34878D82A}">
                    <a16:rowId xmlns:a16="http://schemas.microsoft.com/office/drawing/2014/main" val="10005"/>
                  </a:ext>
                </a:extLst>
              </a:tr>
              <a:tr h="658368">
                <a:tc>
                  <a:txBody>
                    <a:bodyPr/>
                    <a:lstStyle/>
                    <a:p>
                      <a:pPr marL="0" indent="0">
                        <a:buNone/>
                      </a:pPr>
                      <a:r>
                        <a:rPr lang="en-US" sz="1700" b="1" dirty="0">
                          <a:solidFill>
                            <a:srgbClr val="1A1A1A"/>
                          </a:solidFill>
                          <a:latin typeface="Roboto Condensed" pitchFamily="34" charset="0"/>
                          <a:ea typeface="Roboto Condensed" pitchFamily="34" charset="-122"/>
                          <a:cs typeface="Roboto Condensed" pitchFamily="34" charset="-120"/>
                        </a:rPr>
                        <a:t>Handlingsimpulser</a:t>
                      </a:r>
                      <a:endParaRPr lang="en-US" sz="170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Känna igen mina typiska reaktionssätt</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Ta ställning till mina vanor och reflexer</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2F0EF"/>
                    </a:solidFill>
                  </a:tcPr>
                </a:tc>
                <a:tc>
                  <a:txBody>
                    <a:bodyPr/>
                    <a:lstStyle/>
                    <a:p>
                      <a:pPr marL="0" indent="0">
                        <a:buNone/>
                      </a:pPr>
                      <a:r>
                        <a:rPr lang="en-US" sz="1550" dirty="0">
                          <a:solidFill>
                            <a:srgbClr val="1A1A1A"/>
                          </a:solidFill>
                          <a:latin typeface="Roboto Condensed" pitchFamily="34" charset="0"/>
                          <a:ea typeface="Roboto Condensed" pitchFamily="34" charset="-122"/>
                          <a:cs typeface="Roboto Condensed" pitchFamily="34" charset="-120"/>
                        </a:rPr>
                        <a:t>Hejda impulsen i stunden och välja beteende</a:t>
                      </a:r>
                      <a:endParaRPr lang="en-US" sz="1550" dirty="0">
                        <a:latin typeface="Roboto Condensed" charset="0"/>
                        <a:ea typeface="Roboto Condensed" charset="0"/>
                        <a:cs typeface="Roboto Condensed" charset="0"/>
                      </a:endParaRPr>
                    </a:p>
                  </a:txBody>
                  <a:tcPr marL="109728" marR="109728" marT="36576" marB="36576"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E6F5F6"/>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548640" y="6336792"/>
            <a:ext cx="11094415" cy="365760"/>
          </a:xfrm>
          <a:prstGeom prst="rect">
            <a:avLst/>
          </a:prstGeom>
          <a:noFill/>
          <a:ln/>
        </p:spPr>
        <p:txBody>
          <a:bodyPr wrap="square" lIns="0" tIns="0" rIns="0" bIns="0" rtlCol="0" anchor="t"/>
          <a:lstStyle/>
          <a:p>
            <a:pPr marL="0" indent="0">
              <a:buNone/>
            </a:pPr>
            <a:r>
              <a:rPr lang="sv-SE" altLang="en-US" sz="1200" dirty="0">
                <a:solidFill>
                  <a:srgbClr val="4A4A4A"/>
                </a:solidFill>
                <a:latin typeface="Roboto Condensed" pitchFamily="34" charset="0"/>
                <a:ea typeface="Roboto Condensed" pitchFamily="34" charset="-122"/>
                <a:cs typeface="Roboto Condensed" pitchFamily="34" charset="-120"/>
              </a:rPr>
              <a:t>Efter Jordan (2002), figur 1. Motsatsen: processen som subjekt, den styr utan att jag märker den.</a:t>
            </a:r>
            <a:endParaRPr lang="sv-SE"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6">
    <p:bg>
      <p:bgPr>
        <a:solidFill>
          <a:srgbClr val="FFFFFF"/>
        </a:solidFill>
        <a:effectLst/>
      </p:bgPr>
    </p:bg>
    <p:spTree>
      <p:nvGrpSpPr>
        <p:cNvPr id="1" name=""/>
        <p:cNvGrpSpPr/>
        <p:nvPr/>
      </p:nvGrpSpPr>
      <p:grpSpPr>
        <a:xfrm>
          <a:off x="0" y="0"/>
          <a:ext cx="0" cy="0"/>
          <a:chOff x="0" y="0"/>
          <a:chExt cx="0" cy="0"/>
        </a:xfrm>
      </p:grpSpPr>
      <p:pic>
        <p:nvPicPr>
          <p:cNvPr id="2" name="Image 0" descr="ABF:s logotyp"/>
          <p:cNvPicPr>
            <a:picLocks noChangeAspect="1"/>
          </p:cNvPicPr>
          <p:nvPr/>
        </p:nvPicPr>
        <p:blipFill>
          <a:blip r:embed="rId3"/>
          <a:stretch>
            <a:fillRect/>
          </a:stretch>
        </p:blipFill>
        <p:spPr>
          <a:xfrm>
            <a:off x="10865815" y="320040"/>
            <a:ext cx="777240" cy="777240"/>
          </a:xfrm>
          <a:prstGeom prst="rect">
            <a:avLst/>
          </a:prstGeom>
        </p:spPr>
      </p:pic>
      <p:sp>
        <p:nvSpPr>
          <p:cNvPr id="3" name="Text 0"/>
          <p:cNvSpPr txBox="1"/>
          <p:nvPr/>
        </p:nvSpPr>
        <p:spPr>
          <a:xfrm>
            <a:off x="548640" y="146304"/>
            <a:ext cx="8229600" cy="292608"/>
          </a:xfrm>
          <a:prstGeom prst="rect">
            <a:avLst/>
          </a:prstGeom>
          <a:noFill/>
          <a:ln/>
        </p:spPr>
        <p:txBody>
          <a:bodyPr wrap="square" lIns="0" tIns="0" rIns="0" bIns="0" rtlCol="0" anchor="t"/>
          <a:lstStyle/>
          <a:p>
            <a:pPr marL="0" indent="0">
              <a:buNone/>
            </a:pPr>
            <a:r>
              <a:rPr lang="sv-SE" altLang="en-US" sz="1400" b="1" kern="0" spc="200" dirty="0">
                <a:solidFill>
                  <a:srgbClr val="A50D1E"/>
                </a:solidFill>
                <a:latin typeface="Roboto Condensed" pitchFamily="34" charset="0"/>
                <a:ea typeface="Roboto Condensed" pitchFamily="34" charset="-122"/>
                <a:cs typeface="Roboto Condensed" pitchFamily="34" charset="-120"/>
              </a:rPr>
              <a:t>EXTRABILD</a:t>
            </a:r>
            <a:endParaRPr lang="sv-SE" sz="1400" dirty="0"/>
          </a:p>
        </p:txBody>
      </p:sp>
      <p:sp>
        <p:nvSpPr>
          <p:cNvPr id="4" name="Text 1"/>
          <p:cNvSpPr txBox="1"/>
          <p:nvPr/>
        </p:nvSpPr>
        <p:spPr>
          <a:xfrm rot="21480000">
            <a:off x="548640" y="502920"/>
            <a:ext cx="4208069" cy="713232"/>
          </a:xfrm>
          <a:prstGeom prst="rect">
            <a:avLst/>
          </a:prstGeom>
          <a:solidFill>
            <a:srgbClr val="D80811"/>
          </a:solidFill>
          <a:ln/>
        </p:spPr>
        <p:txBody>
          <a:bodyPr wrap="square" lIns="0" tIns="0" rIns="0" bIns="0" rtlCol="0" anchor="ctr"/>
          <a:lstStyle/>
          <a:p>
            <a:pPr marL="0" indent="0" algn="ctr">
              <a:buNone/>
            </a:pPr>
            <a:r>
              <a:rPr lang="sv-SE" altLang="en-US" sz="3000" b="1" dirty="0">
                <a:solidFill>
                  <a:srgbClr val="FFFFFF"/>
                </a:solidFill>
                <a:latin typeface="Roboto Condensed" pitchFamily="34" charset="0"/>
                <a:ea typeface="Roboto Condensed" pitchFamily="34" charset="-122"/>
                <a:cs typeface="Roboto Condensed" pitchFamily="34" charset="-120"/>
              </a:rPr>
              <a:t>Så används arbetsbladet</a:t>
            </a:r>
            <a:endParaRPr lang="sv-SE" sz="3000" dirty="0"/>
          </a:p>
        </p:txBody>
      </p:sp>
      <p:sp>
        <p:nvSpPr>
          <p:cNvPr id="5" name="Shape 2"/>
          <p:cNvSpPr/>
          <p:nvPr/>
        </p:nvSpPr>
        <p:spPr>
          <a:xfrm>
            <a:off x="548640" y="1645920"/>
            <a:ext cx="640080" cy="640080"/>
          </a:xfrm>
          <a:prstGeom prst="ellipse">
            <a:avLst/>
          </a:prstGeom>
          <a:solidFill>
            <a:srgbClr val="D80811"/>
          </a:solidFill>
          <a:ln w="12700">
            <a:solidFill>
              <a:srgbClr val="D80811"/>
            </a:solidFill>
            <a:prstDash val="solid"/>
          </a:ln>
        </p:spPr>
        <p:txBody>
          <a:bodyPr/>
          <a:lstStyle/>
          <a:p>
            <a:endParaRPr lang="sv-SE"/>
          </a:p>
        </p:txBody>
      </p:sp>
      <p:sp>
        <p:nvSpPr>
          <p:cNvPr id="6" name="Text 3"/>
          <p:cNvSpPr txBox="1"/>
          <p:nvPr/>
        </p:nvSpPr>
        <p:spPr>
          <a:xfrm>
            <a:off x="548640" y="164592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1</a:t>
            </a:r>
            <a:endParaRPr lang="en-US" sz="2380" dirty="0"/>
          </a:p>
        </p:txBody>
      </p:sp>
      <p:sp>
        <p:nvSpPr>
          <p:cNvPr id="7" name="Text 4"/>
          <p:cNvSpPr txBox="1"/>
          <p:nvPr/>
        </p:nvSpPr>
        <p:spPr>
          <a:xfrm>
            <a:off x="1463040" y="1627632"/>
            <a:ext cx="5486400" cy="128016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Gå igenom de nio områdena ett och ett, gärna i mindre grupper med både chefer och medarbetare.</a:t>
            </a:r>
            <a:endParaRPr lang="sv-SE" sz="1900" dirty="0"/>
          </a:p>
        </p:txBody>
      </p:sp>
      <p:sp>
        <p:nvSpPr>
          <p:cNvPr id="8" name="Shape 5"/>
          <p:cNvSpPr/>
          <p:nvPr/>
        </p:nvSpPr>
        <p:spPr>
          <a:xfrm>
            <a:off x="548640" y="3108960"/>
            <a:ext cx="640080" cy="640080"/>
          </a:xfrm>
          <a:prstGeom prst="ellipse">
            <a:avLst/>
          </a:prstGeom>
          <a:solidFill>
            <a:srgbClr val="D80811"/>
          </a:solidFill>
          <a:ln w="12700">
            <a:solidFill>
              <a:srgbClr val="D80811"/>
            </a:solidFill>
            <a:prstDash val="solid"/>
          </a:ln>
        </p:spPr>
        <p:txBody>
          <a:bodyPr/>
          <a:lstStyle/>
          <a:p>
            <a:endParaRPr lang="sv-SE"/>
          </a:p>
        </p:txBody>
      </p:sp>
      <p:sp>
        <p:nvSpPr>
          <p:cNvPr id="9" name="Text 6"/>
          <p:cNvSpPr txBox="1"/>
          <p:nvPr/>
        </p:nvSpPr>
        <p:spPr>
          <a:xfrm>
            <a:off x="548640" y="310896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2</a:t>
            </a:r>
            <a:endParaRPr lang="en-US" sz="2380" dirty="0"/>
          </a:p>
        </p:txBody>
      </p:sp>
      <p:sp>
        <p:nvSpPr>
          <p:cNvPr id="10" name="Text 7"/>
          <p:cNvSpPr txBox="1"/>
          <p:nvPr/>
        </p:nvSpPr>
        <p:spPr>
          <a:xfrm>
            <a:off x="1463040" y="3090672"/>
            <a:ext cx="5486400" cy="128016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Färglägg varje område: fungerar det bra som det är, eller finns obalanser, brister och problem? Oftast blir det både och.</a:t>
            </a:r>
            <a:endParaRPr lang="sv-SE" sz="1900" dirty="0"/>
          </a:p>
        </p:txBody>
      </p:sp>
      <p:sp>
        <p:nvSpPr>
          <p:cNvPr id="11" name="Shape 8"/>
          <p:cNvSpPr/>
          <p:nvPr/>
        </p:nvSpPr>
        <p:spPr>
          <a:xfrm>
            <a:off x="548640" y="4572000"/>
            <a:ext cx="640080" cy="640080"/>
          </a:xfrm>
          <a:prstGeom prst="ellipse">
            <a:avLst/>
          </a:prstGeom>
          <a:solidFill>
            <a:srgbClr val="D80811"/>
          </a:solidFill>
          <a:ln w="12700">
            <a:solidFill>
              <a:srgbClr val="D80811"/>
            </a:solidFill>
            <a:prstDash val="solid"/>
          </a:ln>
        </p:spPr>
        <p:txBody>
          <a:bodyPr/>
          <a:lstStyle/>
          <a:p>
            <a:endParaRPr lang="sv-SE"/>
          </a:p>
        </p:txBody>
      </p:sp>
      <p:sp>
        <p:nvSpPr>
          <p:cNvPr id="12" name="Text 9"/>
          <p:cNvSpPr txBox="1"/>
          <p:nvPr/>
        </p:nvSpPr>
        <p:spPr>
          <a:xfrm>
            <a:off x="548640" y="4572000"/>
            <a:ext cx="640080" cy="640080"/>
          </a:xfrm>
          <a:prstGeom prst="rect">
            <a:avLst/>
          </a:prstGeom>
          <a:noFill/>
          <a:ln/>
        </p:spPr>
        <p:txBody>
          <a:bodyPr wrap="square" lIns="0" tIns="0" rIns="0" bIns="0" rtlCol="0" anchor="ctr"/>
          <a:lstStyle/>
          <a:p>
            <a:pPr marL="0" indent="0" algn="ctr">
              <a:buNone/>
            </a:pPr>
            <a:r>
              <a:rPr lang="en-US" sz="2380" b="1" dirty="0">
                <a:solidFill>
                  <a:srgbClr val="FFFFFF"/>
                </a:solidFill>
                <a:latin typeface="Roboto Condensed" pitchFamily="34" charset="0"/>
                <a:ea typeface="Roboto Condensed" pitchFamily="34" charset="-122"/>
                <a:cs typeface="Roboto Condensed" pitchFamily="34" charset="-120"/>
              </a:rPr>
              <a:t>3</a:t>
            </a:r>
            <a:endParaRPr lang="en-US" sz="2380" dirty="0"/>
          </a:p>
        </p:txBody>
      </p:sp>
      <p:sp>
        <p:nvSpPr>
          <p:cNvPr id="13" name="Text 10"/>
          <p:cNvSpPr txBox="1"/>
          <p:nvPr/>
        </p:nvSpPr>
        <p:spPr>
          <a:xfrm>
            <a:off x="1463040" y="4553712"/>
            <a:ext cx="5486400" cy="1280160"/>
          </a:xfrm>
          <a:prstGeom prst="rect">
            <a:avLst/>
          </a:prstGeom>
          <a:noFill/>
          <a:ln/>
        </p:spPr>
        <p:txBody>
          <a:bodyPr wrap="square" lIns="0" tIns="0" rIns="0" bIns="0" rtlCol="0" anchor="t"/>
          <a:lstStyle/>
          <a:p>
            <a:pPr marL="0" indent="0">
              <a:buNone/>
            </a:pPr>
            <a:r>
              <a:rPr lang="sv-SE" altLang="en-US" sz="1900" dirty="0">
                <a:solidFill>
                  <a:srgbClr val="1A1A1A"/>
                </a:solidFill>
                <a:latin typeface="Georgia" pitchFamily="34" charset="0"/>
                <a:ea typeface="Georgia" pitchFamily="34" charset="-122"/>
                <a:cs typeface="Georgia" pitchFamily="34" charset="-120"/>
              </a:rPr>
              <a:t>Ta ställning och förklara varför. Anteckna synpunkterna. De kan bli grunden för en skriftlig organisationsdiagnos.</a:t>
            </a:r>
            <a:endParaRPr lang="sv-SE" sz="1900" dirty="0"/>
          </a:p>
        </p:txBody>
      </p:sp>
      <p:sp>
        <p:nvSpPr>
          <p:cNvPr id="14" name="Shape 11"/>
          <p:cNvSpPr/>
          <p:nvPr/>
        </p:nvSpPr>
        <p:spPr>
          <a:xfrm>
            <a:off x="7498080" y="1554480"/>
            <a:ext cx="4142232" cy="2194560"/>
          </a:xfrm>
          <a:prstGeom prst="roundRect">
            <a:avLst>
              <a:gd name="adj" fmla="val 4167"/>
            </a:avLst>
          </a:prstGeom>
          <a:solidFill>
            <a:srgbClr val="A50D1E"/>
          </a:solidFill>
          <a:ln w="12700">
            <a:solidFill>
              <a:srgbClr val="A50D1E"/>
            </a:solidFill>
            <a:prstDash val="solid"/>
          </a:ln>
        </p:spPr>
        <p:txBody>
          <a:bodyPr/>
          <a:lstStyle/>
          <a:p>
            <a:endParaRPr lang="sv-SE"/>
          </a:p>
        </p:txBody>
      </p:sp>
      <p:sp>
        <p:nvSpPr>
          <p:cNvPr id="15" name="Text 12"/>
          <p:cNvSpPr txBox="1"/>
          <p:nvPr/>
        </p:nvSpPr>
        <p:spPr>
          <a:xfrm>
            <a:off x="7772400" y="1691640"/>
            <a:ext cx="3657600" cy="822960"/>
          </a:xfrm>
          <a:prstGeom prst="rect">
            <a:avLst/>
          </a:prstGeom>
          <a:noFill/>
          <a:ln/>
        </p:spPr>
        <p:txBody>
          <a:bodyPr wrap="square" lIns="0" tIns="0" rIns="0" bIns="0" rtlCol="0" anchor="t"/>
          <a:lstStyle/>
          <a:p>
            <a:pPr marL="0" indent="0">
              <a:buNone/>
            </a:pPr>
            <a:r>
              <a:rPr lang="sv-SE" altLang="en-US" sz="4800" b="1" dirty="0">
                <a:solidFill>
                  <a:srgbClr val="FFFFFF"/>
                </a:solidFill>
                <a:latin typeface="Roboto Condensed" pitchFamily="34" charset="0"/>
                <a:ea typeface="Roboto Condensed" pitchFamily="34" charset="-122"/>
                <a:cs typeface="Roboto Condensed" pitchFamily="34" charset="-120"/>
              </a:rPr>
              <a:t>15–20 min</a:t>
            </a:r>
            <a:endParaRPr lang="sv-SE" sz="4800" dirty="0"/>
          </a:p>
        </p:txBody>
      </p:sp>
      <p:sp>
        <p:nvSpPr>
          <p:cNvPr id="16" name="Text 13"/>
          <p:cNvSpPr txBox="1"/>
          <p:nvPr/>
        </p:nvSpPr>
        <p:spPr>
          <a:xfrm>
            <a:off x="7772400" y="2514600"/>
            <a:ext cx="3657600" cy="1143000"/>
          </a:xfrm>
          <a:prstGeom prst="rect">
            <a:avLst/>
          </a:prstGeom>
          <a:noFill/>
          <a:ln/>
        </p:spPr>
        <p:txBody>
          <a:bodyPr wrap="square" lIns="0" tIns="0" rIns="0" bIns="0" rtlCol="0" anchor="t"/>
          <a:lstStyle/>
          <a:p>
            <a:pPr marL="0" indent="0">
              <a:buNone/>
            </a:pPr>
            <a:r>
              <a:rPr lang="sv-SE" altLang="en-US" sz="1700" dirty="0">
                <a:solidFill>
                  <a:srgbClr val="FFFFFF"/>
                </a:solidFill>
                <a:latin typeface="Roboto Condensed" pitchFamily="34" charset="0"/>
                <a:ea typeface="Roboto Condensed" pitchFamily="34" charset="-122"/>
                <a:cs typeface="Roboto Condensed" pitchFamily="34" charset="-120"/>
              </a:rPr>
              <a:t>räcker ofta för en god överblick över olösta frågor, problematiska förutsättningar och blockerade önskemål.</a:t>
            </a:r>
            <a:endParaRPr lang="sv-SE" sz="1700" dirty="0"/>
          </a:p>
        </p:txBody>
      </p:sp>
      <p:sp>
        <p:nvSpPr>
          <p:cNvPr id="17" name="Shape 14"/>
          <p:cNvSpPr/>
          <p:nvPr/>
        </p:nvSpPr>
        <p:spPr>
          <a:xfrm>
            <a:off x="7498080" y="3977640"/>
            <a:ext cx="4142232" cy="2103120"/>
          </a:xfrm>
          <a:prstGeom prst="roundRect">
            <a:avLst>
              <a:gd name="adj" fmla="val 4348"/>
            </a:avLst>
          </a:prstGeom>
          <a:solidFill>
            <a:srgbClr val="E6F5F6"/>
          </a:solidFill>
          <a:ln w="12700">
            <a:solidFill>
              <a:srgbClr val="E6F5F6"/>
            </a:solidFill>
            <a:prstDash val="solid"/>
          </a:ln>
        </p:spPr>
        <p:txBody>
          <a:bodyPr/>
          <a:lstStyle/>
          <a:p>
            <a:endParaRPr lang="sv-SE"/>
          </a:p>
        </p:txBody>
      </p:sp>
      <p:sp>
        <p:nvSpPr>
          <p:cNvPr id="18" name="Text 15"/>
          <p:cNvSpPr txBox="1"/>
          <p:nvPr/>
        </p:nvSpPr>
        <p:spPr>
          <a:xfrm>
            <a:off x="7772400" y="4160520"/>
            <a:ext cx="3657600" cy="411480"/>
          </a:xfrm>
          <a:prstGeom prst="rect">
            <a:avLst/>
          </a:prstGeom>
          <a:noFill/>
          <a:ln/>
        </p:spPr>
        <p:txBody>
          <a:bodyPr wrap="square" lIns="0" tIns="0" rIns="0" bIns="0" rtlCol="0" anchor="t"/>
          <a:lstStyle/>
          <a:p>
            <a:pPr marL="0" indent="0">
              <a:buNone/>
            </a:pPr>
            <a:r>
              <a:rPr lang="sv-SE" altLang="en-US" sz="2100" b="1" dirty="0">
                <a:solidFill>
                  <a:srgbClr val="005A5F"/>
                </a:solidFill>
                <a:latin typeface="Roboto Condensed" pitchFamily="34" charset="0"/>
                <a:ea typeface="Roboto Condensed" pitchFamily="34" charset="-122"/>
                <a:cs typeface="Roboto Condensed" pitchFamily="34" charset="-120"/>
              </a:rPr>
              <a:t>Kombinerar analys och intuition</a:t>
            </a:r>
            <a:endParaRPr lang="sv-SE" sz="2100" dirty="0"/>
          </a:p>
        </p:txBody>
      </p:sp>
      <p:sp>
        <p:nvSpPr>
          <p:cNvPr id="19" name="Text 16"/>
          <p:cNvSpPr txBox="1"/>
          <p:nvPr/>
        </p:nvSpPr>
        <p:spPr>
          <a:xfrm>
            <a:off x="7772400" y="4663440"/>
            <a:ext cx="3657600" cy="1280160"/>
          </a:xfrm>
          <a:prstGeom prst="rect">
            <a:avLst/>
          </a:prstGeom>
          <a:noFill/>
          <a:ln/>
        </p:spPr>
        <p:txBody>
          <a:bodyPr wrap="square" lIns="0" tIns="0" rIns="0" bIns="0" rtlCol="0" anchor="t"/>
          <a:lstStyle/>
          <a:p>
            <a:pPr marL="0" indent="0">
              <a:buNone/>
            </a:pPr>
            <a:r>
              <a:rPr lang="sv-SE" altLang="en-US" sz="1700" dirty="0">
                <a:solidFill>
                  <a:srgbClr val="1A1A1A"/>
                </a:solidFill>
                <a:latin typeface="Roboto Condensed" pitchFamily="34" charset="0"/>
                <a:ea typeface="Roboto Condensed" pitchFamily="34" charset="-122"/>
                <a:cs typeface="Roboto Condensed" pitchFamily="34" charset="-120"/>
              </a:rPr>
              <a:t>Checklistan ger struktur, färgläggningen fångar den känsla för läget som är svår att formulera i ord.</a:t>
            </a:r>
            <a:endParaRPr lang="sv-SE"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15863</Words>
  <Application>Microsoft Office PowerPoint</Application>
  <PresentationFormat>Bredbild</PresentationFormat>
  <Paragraphs>885</Paragraphs>
  <Slides>37</Slides>
  <Notes>37</Notes>
  <HiddenSlides>7</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37</vt:i4>
      </vt:variant>
    </vt:vector>
  </HeadingPairs>
  <TitlesOfParts>
    <vt:vector size="41" baseType="lpstr">
      <vt:lpstr>Arial</vt:lpstr>
      <vt:lpstr>Georgia</vt:lpstr>
      <vt:lpstr>Roboto Condensed</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Konflikt: att förstå och hantera konflikter i arbetslivet</dc:title>
  <dc:subject>PptxGenJS Presentation</dc:subject>
  <dc:creator>Patrik Löfgren</dc:creator>
  <cp:lastModifiedBy>Patrik Löfgren</cp:lastModifiedBy>
  <cp:revision>1</cp:revision>
  <dcterms:created xsi:type="dcterms:W3CDTF">2026-09-18T08:30:40Z</dcterms:created>
  <dcterms:modified xsi:type="dcterms:W3CDTF">2026-09-21T06:16:18Z</dcterms:modified>
</cp:coreProperties>
</file>